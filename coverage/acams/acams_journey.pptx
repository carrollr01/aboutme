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Relationship Id="rId7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handoutMasterIdLst>
    <p:handoutMasterId r:id="rId20"/>
  </p:handoutMasterIdLst>
  <p:sldIdLst>
    <p:sldId id="2147475994" r:id="rId5"/>
    <p:sldId id="2147476081" r:id="rId6"/>
    <p:sldId id="2147476082" r:id="rId7"/>
    <p:sldId id="2147476086" r:id="rId8"/>
    <p:sldId id="2147476087" r:id="rId9"/>
    <p:sldId id="2147476088" r:id="rId10"/>
    <p:sldId id="2147476089" r:id="rId11"/>
    <p:sldId id="2147476090" r:id="rId12"/>
    <p:sldId id="2147476091" r:id="rId13"/>
    <p:sldId id="2147476093" r:id="rId14"/>
    <p:sldId id="2147476096" r:id="rId15"/>
    <p:sldId id="2147476094" r:id="rId16"/>
    <p:sldId id="2147476095" r:id="rId17"/>
    <p:sldId id="2147476015" r:id="rId18"/>
    <p:sldId id="2147476097" r:id="rId25"/>
  </p:sldIdLst>
  <p:sldSz cx="12192000" cy="6858000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2071" userDrawn="1">
          <p15:clr>
            <a:srgbClr val="A4A3A4"/>
          </p15:clr>
        </p15:guide>
        <p15:guide id="5" pos="1912" userDrawn="1">
          <p15:clr>
            <a:srgbClr val="A4A3A4"/>
          </p15:clr>
        </p15:guide>
        <p15:guide id="6" pos="37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6D3"/>
    <a:srgbClr val="182444"/>
    <a:srgbClr val="FFFFFF"/>
    <a:srgbClr val="000000"/>
    <a:srgbClr val="061246"/>
    <a:srgbClr val="091B67"/>
    <a:srgbClr val="0C258E"/>
    <a:srgbClr val="0E2CAE"/>
    <a:srgbClr val="0D289B"/>
    <a:srgbClr val="1C44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7" autoAdjust="0"/>
    <p:restoredTop sz="97307" autoAdjust="0"/>
  </p:normalViewPr>
  <p:slideViewPr>
    <p:cSldViewPr snapToGrid="0">
      <p:cViewPr varScale="1">
        <p:scale>
          <a:sx n="106" d="100"/>
          <a:sy n="106" d="100"/>
        </p:scale>
        <p:origin x="966" y="102"/>
      </p:cViewPr>
      <p:guideLst>
        <p:guide pos="3840"/>
        <p:guide orient="horz" pos="2160"/>
        <p:guide pos="2071"/>
        <p:guide pos="1912"/>
        <p:guide pos="3795"/>
      </p:guideLst>
    </p:cSldViewPr>
  </p:slideViewPr>
  <p:outlineViewPr>
    <p:cViewPr>
      <p:scale>
        <a:sx n="33" d="100"/>
        <a:sy n="33" d="100"/>
      </p:scale>
      <p:origin x="0" y="-570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92"/>
    </p:cViewPr>
  </p:sorterViewPr>
  <p:notesViewPr>
    <p:cSldViewPr snapToGrid="0">
      <p:cViewPr varScale="1">
        <p:scale>
          <a:sx n="112" d="100"/>
          <a:sy n="112" d="100"/>
        </p:scale>
        <p:origin x="2352" y="96"/>
      </p:cViewPr>
      <p:guideLst/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82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CAB-47DA-B9D4-1C7DF58748AF}"/>
              </c:ext>
            </c:extLst>
          </c:dPt>
          <c:dPt>
            <c:idx val="1"/>
            <c:invertIfNegative val="1"/>
            <c:bubble3D val="0"/>
            <c:spPr>
              <a:solidFill>
                <a:srgbClr val="1236D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CAB-47DA-B9D4-1C7DF58748AF}"/>
              </c:ext>
            </c:extLst>
          </c:dPt>
          <c:dLbls>
            <c:dLbl>
              <c:idx val="0"/>
              <c:numFmt formatCode="0&quot;%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CAB-47DA-B9D4-1C7DF58748AF}"/>
                </c:ext>
              </c:extLst>
            </c:dLbl>
            <c:dLbl>
              <c:idx val="1"/>
              <c:numFmt formatCode="0.0&quot;x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CAB-47DA-B9D4-1C7DF58748A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CAB-47DA-B9D4-1C7DF58748A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82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965-4D9F-9090-95B2FE4A442B}"/>
              </c:ext>
            </c:extLst>
          </c:dPt>
          <c:dPt>
            <c:idx val="1"/>
            <c:invertIfNegative val="1"/>
            <c:bubble3D val="0"/>
            <c:spPr>
              <a:solidFill>
                <a:srgbClr val="1236D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9965-4D9F-9090-95B2FE4A442B}"/>
              </c:ext>
            </c:extLst>
          </c:dPt>
          <c:dLbls>
            <c:dLbl>
              <c:idx val="0"/>
              <c:numFmt formatCode="0&quot;%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965-4D9F-9090-95B2FE4A442B}"/>
                </c:ext>
              </c:extLst>
            </c:dLbl>
            <c:dLbl>
              <c:idx val="1"/>
              <c:numFmt formatCode="0.0&quot;x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965-4D9F-9090-95B2FE4A442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</c:v>
                </c:pt>
                <c:pt idx="1">
                  <c:v>10.199999999999999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965-4D9F-9090-95B2FE4A44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82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839-46BD-93E7-C230F01A6CF6}"/>
              </c:ext>
            </c:extLst>
          </c:dPt>
          <c:dPt>
            <c:idx val="1"/>
            <c:invertIfNegative val="1"/>
            <c:bubble3D val="0"/>
            <c:spPr>
              <a:solidFill>
                <a:srgbClr val="1236D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839-46BD-93E7-C230F01A6CF6}"/>
              </c:ext>
            </c:extLst>
          </c:dPt>
          <c:dLbls>
            <c:dLbl>
              <c:idx val="0"/>
              <c:numFmt formatCode="0&quot;%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839-46BD-93E7-C230F01A6CF6}"/>
                </c:ext>
              </c:extLst>
            </c:dLbl>
            <c:dLbl>
              <c:idx val="1"/>
              <c:numFmt formatCode="0.0&quot;x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839-46BD-93E7-C230F01A6CF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</c:v>
                </c:pt>
                <c:pt idx="1">
                  <c:v>10.8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39-46BD-93E7-C230F01A6CF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82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4FE-42A7-A88C-42EBFDAF5137}"/>
              </c:ext>
            </c:extLst>
          </c:dPt>
          <c:dPt>
            <c:idx val="1"/>
            <c:invertIfNegative val="1"/>
            <c:bubble3D val="0"/>
            <c:spPr>
              <a:solidFill>
                <a:srgbClr val="1236D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4FE-42A7-A88C-42EBFDAF5137}"/>
              </c:ext>
            </c:extLst>
          </c:dPt>
          <c:dLbls>
            <c:dLbl>
              <c:idx val="0"/>
              <c:numFmt formatCode="0&quot;%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4FE-42A7-A88C-42EBFDAF5137}"/>
                </c:ext>
              </c:extLst>
            </c:dLbl>
            <c:dLbl>
              <c:idx val="1"/>
              <c:numFmt formatCode="0.0&quot;x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4FE-42A7-A88C-42EBFDAF5137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</c:v>
                </c:pt>
                <c:pt idx="1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FE-42A7-A88C-42EBFDAF51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"/>
          <c:y val="0.04"/>
          <c:w val="0.62"/>
          <c:h val="0.9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2026E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18244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573-436A-A335-8EE71FFD05B2}"/>
              </c:ext>
            </c:extLst>
          </c:dPt>
          <c:dPt>
            <c:idx val="1"/>
            <c:invertIfNegative val="1"/>
            <c:bubble3D val="0"/>
            <c:spPr>
              <a:solidFill>
                <a:srgbClr val="1236D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573-436A-A335-8EE71FFD05B2}"/>
              </c:ext>
            </c:extLst>
          </c:dPt>
          <c:dLbls>
            <c:dLbl>
              <c:idx val="0"/>
              <c:numFmt formatCode="0&quot;%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573-436A-A335-8EE71FFD05B2}"/>
                </c:ext>
              </c:extLst>
            </c:dLbl>
            <c:dLbl>
              <c:idx val="1"/>
              <c:numFmt formatCode="0.0&quot;x&quot;" sourceLinked="0"/>
              <c:spPr>
                <a:ln>
                  <a:noFill/>
                </a:ln>
              </c:spPr>
              <c:txPr>
                <a:bodyPr wrap="none"/>
                <a:lstStyle/>
                <a:p>
                  <a:pPr>
                    <a:defRPr sz="800" b="1">
                      <a:solidFill>
                        <a:srgbClr val="182444"/>
                      </a:solidFill>
                      <a:latin typeface="Figtree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573-436A-A335-8EE71FFD05B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Rule of 40</c:v>
                </c:pt>
                <c:pt idx="1">
                  <c:v>EV / '26E Rev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48</c:v>
                </c:pt>
                <c:pt idx="1">
                  <c:v>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73-436A-A335-8EE71FFD05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9870551795934022"/>
          <c:w val="1"/>
          <c:h val="0.67637411809449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ThetaRay Revenue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5509353387707882E-18"/>
                  <c:y val="1.3134442848440637E-2"/>
                </c:manualLayout>
              </c:layout>
              <c:numFmt formatCode="&quot;$&quot;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0" tIns="0" rIns="0" bIns="0" anchor="ctr" anchorCtr="1">
                  <a:spAutoFit/>
                </a:bodyPr>
                <a:lstStyle/>
                <a:p>
                  <a:pPr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C-0E9F-42C0-BBDD-99ED54BB230F}"/>
                </c:ext>
              </c:extLst>
            </c:dLbl>
            <c:dLbl>
              <c:idx val="1"/>
              <c:layout>
                <c:manualLayout>
                  <c:x val="-2.0407482710166306E-17"/>
                  <c:y val="8.61739992715919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E9F-42C0-BBDD-99ED54BB230F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</c:v>
                </c:pt>
                <c:pt idx="1">
                  <c:v>23</c:v>
                </c:pt>
                <c:pt idx="2">
                  <c:v>31</c:v>
                </c:pt>
                <c:pt idx="3">
                  <c:v>35</c:v>
                </c:pt>
                <c:pt idx="4">
                  <c:v>40</c:v>
                </c:pt>
                <c:pt idx="5">
                  <c:v>55</c:v>
                </c:pt>
                <c:pt idx="6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9F-42C0-BBDD-99ED54BB23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NapierAI Revenue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3965988287456878E-2"/>
                </c:manualLayout>
              </c:layout>
              <c:numFmt formatCode="&quot;$&quot;#,##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overflow" horzOverflow="overflow" vert="horz" wrap="square" lIns="0" tIns="0" rIns="0" bIns="0" anchor="ctr" anchorCtr="1">
                  <a:spAutoFit/>
                </a:bodyPr>
                <a:lstStyle/>
                <a:p>
                  <a:pPr algn="ctr">
                    <a:defRPr sz="8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B-0E9F-42C0-BBDD-99ED54BB230F}"/>
                </c:ext>
              </c:extLst>
            </c:dLbl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 algn="ctr">
                  <a:defRPr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</c:v>
                </c:pt>
                <c:pt idx="1">
                  <c:v>25</c:v>
                </c:pt>
                <c:pt idx="2">
                  <c:v>28</c:v>
                </c:pt>
                <c:pt idx="3">
                  <c:v>35</c:v>
                </c:pt>
                <c:pt idx="4">
                  <c:v>45</c:v>
                </c:pt>
                <c:pt idx="5">
                  <c:v>55</c:v>
                </c:pt>
                <c:pt idx="6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9F-42C0-BBDD-99ED54BB230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ThetaRay + NapierAI Revenue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0" tIns="0" rIns="0" bIns="0" anchor="ctr" anchorCtr="1">
                <a:spAutoFit/>
              </a:bodyPr>
              <a:lstStyle/>
              <a:p>
                <a:pPr algn="ctr">
                  <a:defRPr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32</c:v>
                </c:pt>
                <c:pt idx="1">
                  <c:v>48</c:v>
                </c:pt>
                <c:pt idx="2">
                  <c:v>59</c:v>
                </c:pt>
                <c:pt idx="3">
                  <c:v>70</c:v>
                </c:pt>
                <c:pt idx="4">
                  <c:v>85</c:v>
                </c:pt>
                <c:pt idx="5">
                  <c:v>110</c:v>
                </c:pt>
                <c:pt idx="6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9F-42C0-BBDD-99ED54BB2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5"/>
        <c:axId val="1430981839"/>
        <c:axId val="1457318079"/>
      </c:barChart>
      <c:lineChart>
        <c:grouping val="standard"/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ThetaRay + NapierAI Revenue Growth</c:v>
                </c:pt>
              </c:strCache>
            </c:strRef>
          </c:tx>
          <c:spPr>
            <a:ln w="12700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1.6654992994798844E-2"/>
                  <c:y val="-4.17580387885928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E9F-42C0-BBDD-99ED54BB230F}"/>
                </c:ext>
              </c:extLst>
            </c:dLbl>
            <c:dLbl>
              <c:idx val="2"/>
              <c:layout>
                <c:manualLayout>
                  <c:x val="-2.9330025715345959E-2"/>
                  <c:y val="-9.24582957872009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E9F-42C0-BBDD-99ED54BB230F}"/>
                </c:ext>
              </c:extLst>
            </c:dLbl>
            <c:dLbl>
              <c:idx val="3"/>
              <c:layout>
                <c:manualLayout>
                  <c:x val="-6.2285110788768375E-2"/>
                  <c:y val="-0.11327829785280751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9F-42C0-BBDD-99ED54BB230F}"/>
                </c:ext>
              </c:extLst>
            </c:dLbl>
            <c:dLbl>
              <c:idx val="4"/>
              <c:layout>
                <c:manualLayout>
                  <c:x val="-6.7355123876987208E-2"/>
                  <c:y val="-9.245829578720099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E9F-42C0-BBDD-99ED54BB230F}"/>
                </c:ext>
              </c:extLst>
            </c:dLbl>
            <c:dLbl>
              <c:idx val="5"/>
              <c:layout>
                <c:manualLayout>
                  <c:x val="-6.7355123876987111E-2"/>
                  <c:y val="-8.551829509866555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E9F-42C0-BBDD-99ED54BB230F}"/>
                </c:ext>
              </c:extLst>
            </c:dLbl>
            <c:dLbl>
              <c:idx val="6"/>
              <c:layout>
                <c:manualLayout>
                  <c:x val="-5.8576016961788852E-2"/>
                  <c:y val="-9.245829578720106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E9F-42C0-BBDD-99ED54BB230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Sheet1!$E$2:$E$8</c:f>
              <c:numCache>
                <c:formatCode>0%</c:formatCode>
                <c:ptCount val="7"/>
                <c:pt idx="0">
                  <c:v>0.52</c:v>
                </c:pt>
                <c:pt idx="1">
                  <c:v>0.56000000000000005</c:v>
                </c:pt>
                <c:pt idx="2">
                  <c:v>0.22</c:v>
                </c:pt>
                <c:pt idx="3">
                  <c:v>0.22</c:v>
                </c:pt>
                <c:pt idx="4">
                  <c:v>0.22</c:v>
                </c:pt>
                <c:pt idx="5">
                  <c:v>0.28000000000000003</c:v>
                </c:pt>
                <c:pt idx="6">
                  <c:v>0.28000000000000003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0E9F-42C0-BBDD-99ED54BB2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9229167"/>
        <c:axId val="165443871"/>
      </c:lineChart>
      <c:catAx>
        <c:axId val="143098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>
                <a:lumMod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57318079"/>
        <c:crosses val="autoZero"/>
        <c:auto val="1"/>
        <c:lblAlgn val="ctr"/>
        <c:lblOffset val="100"/>
        <c:noMultiLvlLbl val="0"/>
      </c:catAx>
      <c:valAx>
        <c:axId val="1457318079"/>
        <c:scaling>
          <c:orientation val="minMax"/>
          <c:max val="20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981839"/>
        <c:crosses val="autoZero"/>
        <c:crossBetween val="between"/>
      </c:valAx>
      <c:valAx>
        <c:axId val="165443871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9229167"/>
        <c:crosses val="max"/>
        <c:crossBetween val="between"/>
      </c:valAx>
      <c:catAx>
        <c:axId val="7492291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544387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"/>
          <c:y val="4.5951547866059086E-3"/>
          <c:w val="0.73952330257596532"/>
          <c:h val="0.1163690572145678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06F317-25B2-4E77-84AA-6664B2DFDB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l">
              <a:defRPr sz="16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04EC94-938E-4A1A-8BDE-72113ADE84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301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r">
              <a:defRPr sz="1600"/>
            </a:lvl1pPr>
          </a:lstStyle>
          <a:p>
            <a:fld id="{4CBF9AE4-F522-4955-8173-B2589CE28356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4E0E4-0B4F-415E-9750-1EB5CB0A8E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l">
              <a:defRPr sz="16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E1F26-1724-484F-B0CA-5E67DACD17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301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r">
              <a:defRPr sz="1600"/>
            </a:lvl1pPr>
          </a:lstStyle>
          <a:p>
            <a:fld id="{5CA087C5-8FDD-4066-ABCA-C5E30975D1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748638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226" userDrawn="1">
          <p15:clr>
            <a:srgbClr val="F26B43"/>
          </p15:clr>
        </p15:guide>
        <p15:guide id="2" pos="2237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301" y="2"/>
            <a:ext cx="3076363" cy="513507"/>
          </a:xfrm>
          <a:prstGeom prst="rect">
            <a:avLst/>
          </a:prstGeom>
        </p:spPr>
        <p:txBody>
          <a:bodyPr vert="horz" lIns="127233" tIns="63618" rIns="127233" bIns="63618" rtlCol="0"/>
          <a:lstStyle>
            <a:lvl1pPr algn="r">
              <a:defRPr sz="1600"/>
            </a:lvl1pPr>
          </a:lstStyle>
          <a:p>
            <a:fld id="{85CA42A4-A8A8-4CAB-B578-84B89FD92E6E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81113"/>
            <a:ext cx="6137275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27233" tIns="63618" rIns="127233" bIns="6361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10"/>
            <a:ext cx="5679440" cy="4029879"/>
          </a:xfrm>
          <a:prstGeom prst="rect">
            <a:avLst/>
          </a:prstGeom>
        </p:spPr>
        <p:txBody>
          <a:bodyPr vert="horz" lIns="127233" tIns="63618" rIns="127233" bIns="6361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301" y="9721108"/>
            <a:ext cx="3076363" cy="513506"/>
          </a:xfrm>
          <a:prstGeom prst="rect">
            <a:avLst/>
          </a:prstGeom>
        </p:spPr>
        <p:txBody>
          <a:bodyPr vert="horz" lIns="127233" tIns="63618" rIns="127233" bIns="63618" rtlCol="0" anchor="b"/>
          <a:lstStyle>
            <a:lvl1pPr algn="r">
              <a:defRPr sz="1600"/>
            </a:lvl1pPr>
          </a:lstStyle>
          <a:p>
            <a:fld id="{EFCBE0BC-56BB-4A7F-815C-363EEFCD7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5020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6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8" Type="http://schemas.openxmlformats.org/officeDocument/2006/relationships/image" Target="../media/image8.jpeg"/><Relationship Id="rId9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6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8" Type="http://schemas.openxmlformats.org/officeDocument/2006/relationships/image" Target="../media/image8.jpeg"/><Relationship Id="rId9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tags" Target="../tags/tag13.xml"/><Relationship Id="rId3" Type="http://schemas.openxmlformats.org/officeDocument/2006/relationships/tags" Target="../tags/tag1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tags" Target="../tags/tag2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tags" Target="../tags/tag28.xml"/><Relationship Id="rId3" Type="http://schemas.openxmlformats.org/officeDocument/2006/relationships/tags" Target="../tags/tag29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7.emf"/><Relationship Id="rId7" Type="http://schemas.openxmlformats.org/officeDocument/2006/relationships/image" Target="../media/image8.jpeg"/><Relationship Id="rId8" Type="http://schemas.openxmlformats.org/officeDocument/2006/relationships/image" Target="../media/image9.png"/><Relationship Id="rId9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Relationship Id="rId3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12.svg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Relationship Id="rId6" Type="http://schemas.openxmlformats.org/officeDocument/2006/relationships/image" Target="../media/image13.svg"/><Relationship Id="rId7" Type="http://schemas.openxmlformats.org/officeDocument/2006/relationships/image" Target="../media/image14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Relationship Id="rId5" Type="http://schemas.openxmlformats.org/officeDocument/2006/relationships/image" Target="../media/image15.svg"/><Relationship Id="rId6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6F1EB17-2238-8A45-3C85-9F8BFA74BC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4961" y="1"/>
            <a:ext cx="11621181" cy="6858000"/>
            <a:chOff x="-221976" y="0"/>
            <a:chExt cx="17998225" cy="10621281"/>
          </a:xfrm>
        </p:grpSpPr>
        <p:sp>
          <p:nvSpPr>
            <p:cNvPr id="3" name="Graphic 5">
              <a:extLst>
                <a:ext uri="{FF2B5EF4-FFF2-40B4-BE49-F238E27FC236}">
                  <a16:creationId xmlns:a16="http://schemas.microsoft.com/office/drawing/2014/main" id="{4CBE6A4F-0F95-DC11-0205-33C17D0884FE}"/>
                </a:ext>
              </a:extLst>
            </p:cNvPr>
            <p:cNvSpPr/>
            <p:nvPr/>
          </p:nvSpPr>
          <p:spPr>
            <a:xfrm>
              <a:off x="2111245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Graphic 5">
              <a:extLst>
                <a:ext uri="{FF2B5EF4-FFF2-40B4-BE49-F238E27FC236}">
                  <a16:creationId xmlns:a16="http://schemas.microsoft.com/office/drawing/2014/main" id="{3BE72822-3FD2-1DE6-C32F-A1E8FAE00E15}"/>
                </a:ext>
              </a:extLst>
            </p:cNvPr>
            <p:cNvSpPr/>
            <p:nvPr userDrawn="1"/>
          </p:nvSpPr>
          <p:spPr>
            <a:xfrm>
              <a:off x="-2219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Graphic 5">
              <a:extLst>
                <a:ext uri="{FF2B5EF4-FFF2-40B4-BE49-F238E27FC236}">
                  <a16:creationId xmlns:a16="http://schemas.microsoft.com/office/drawing/2014/main" id="{D3DC63EE-5B1F-11FE-284D-F37663E022B4}"/>
                </a:ext>
              </a:extLst>
            </p:cNvPr>
            <p:cNvSpPr/>
            <p:nvPr userDrawn="1"/>
          </p:nvSpPr>
          <p:spPr>
            <a:xfrm>
              <a:off x="12226897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Graphic 5">
              <a:extLst>
                <a:ext uri="{FF2B5EF4-FFF2-40B4-BE49-F238E27FC236}">
                  <a16:creationId xmlns:a16="http://schemas.microsoft.com/office/drawing/2014/main" id="{11888382-E054-37DB-1F1A-F001284CEF10}"/>
                </a:ext>
              </a:extLst>
            </p:cNvPr>
            <p:cNvSpPr/>
            <p:nvPr userDrawn="1"/>
          </p:nvSpPr>
          <p:spPr>
            <a:xfrm>
              <a:off x="98936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6ECF8C82-9132-22AE-86D3-12546C588B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706" y="657551"/>
            <a:ext cx="2737672" cy="471488"/>
          </a:xfrm>
          <a:prstGeom prst="rect">
            <a:avLst/>
          </a:prstGeom>
        </p:spPr>
      </p:pic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F9A2629-6373-1DC1-6AF9-F48C936E5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12706" y="6463558"/>
            <a:ext cx="1946046" cy="177484"/>
          </a:xfrm>
        </p:spPr>
        <p:txBody>
          <a:bodyPr wrap="none" anchor="b" anchorCtr="0">
            <a:spAutoFit/>
          </a:bodyPr>
          <a:lstStyle>
            <a:lvl1pPr algn="l">
              <a:defRPr lang="en-GB" sz="1100" i="0" kern="1200" cap="none" spc="0" baseline="0" dirty="0">
                <a:solidFill>
                  <a:schemeClr val="bg1"/>
                </a:solidFill>
                <a:latin typeface="+mn-lt"/>
                <a:ea typeface="Inter ExtraBold" panose="02000503000000020004" pitchFamily="2" charset="0"/>
                <a:cs typeface="+mn-cs"/>
              </a:defRPr>
            </a:lvl1pPr>
            <a:lvl2pPr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</a:pPr>
            <a:r>
              <a:rPr lang="en-GB"/>
              <a:t>September </a:t>
            </a:r>
            <a:r>
              <a:rPr lang="en-GB" dirty="0"/>
              <a:t>2026 | Confidential</a:t>
            </a:r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56ED5B84-5243-529F-9022-4FDFB62BFB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42549" y="6430192"/>
            <a:ext cx="1427163" cy="2445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FB839F9-E5F9-71FF-53DD-B7FBB548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705" y="3787465"/>
            <a:ext cx="8140626" cy="626325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algn="l">
              <a:lnSpc>
                <a:spcPct val="90000"/>
              </a:lnSpc>
              <a:defRPr lang="en-US" sz="4400" b="1" i="0" kern="1200" cap="none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2DC89D-87B1-0093-50B4-BCF6C6F61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12705" y="4572168"/>
            <a:ext cx="8140626" cy="332399"/>
          </a:xfrm>
        </p:spPr>
        <p:txBody>
          <a:bodyPr wrap="square" bIns="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2400" b="0" i="0" cap="none" spc="5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ubik Light" pitchFamily="2" charset="-79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cover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63281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05B5A55-7606-44D9-9AB6-042B7D33A236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" name="Free-form: Shape 5">
            <a:extLst>
              <a:ext uri="{FF2B5EF4-FFF2-40B4-BE49-F238E27FC236}">
                <a16:creationId xmlns:a16="http://schemas.microsoft.com/office/drawing/2014/main" id="{315A6EFC-B22E-B1A1-BCE4-61DCBBE5D070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52175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0" name="Free-form: Shape 9">
            <a:extLst>
              <a:ext uri="{FF2B5EF4-FFF2-40B4-BE49-F238E27FC236}">
                <a16:creationId xmlns:a16="http://schemas.microsoft.com/office/drawing/2014/main" id="{74E6B039-3159-28E3-DEB0-F8F3179B12DA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5" name="Free-form: Shape 54">
            <a:extLst>
              <a:ext uri="{FF2B5EF4-FFF2-40B4-BE49-F238E27FC236}">
                <a16:creationId xmlns:a16="http://schemas.microsoft.com/office/drawing/2014/main" id="{79240E90-8748-8767-409F-B6412E2A321A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42888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7" name="Free-form: Shape 56">
            <a:extLst>
              <a:ext uri="{FF2B5EF4-FFF2-40B4-BE49-F238E27FC236}">
                <a16:creationId xmlns:a16="http://schemas.microsoft.com/office/drawing/2014/main" id="{094F11B8-41E6-5A96-B45D-8DB3C1423188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rgbClr val="061246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59" name="Free-form: Shape 58">
            <a:extLst>
              <a:ext uri="{FF2B5EF4-FFF2-40B4-BE49-F238E27FC236}">
                <a16:creationId xmlns:a16="http://schemas.microsoft.com/office/drawing/2014/main" id="{300EF1FE-0BFC-F87A-8167-C207132AAC3B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1C44EC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2" name="Free-form: Shape 61">
            <a:extLst>
              <a:ext uri="{FF2B5EF4-FFF2-40B4-BE49-F238E27FC236}">
                <a16:creationId xmlns:a16="http://schemas.microsoft.com/office/drawing/2014/main" id="{FDDE3447-BDD2-B72C-CA3E-FD906A9B26C8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264DF0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66" name="Free-form: Shape 65">
            <a:extLst>
              <a:ext uri="{FF2B5EF4-FFF2-40B4-BE49-F238E27FC236}">
                <a16:creationId xmlns:a16="http://schemas.microsoft.com/office/drawing/2014/main" id="{552AF628-4D41-89FE-6423-BCB0F7636B7B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91B67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E975CED-7FAA-8409-658D-A4B488EB0E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143" y="793190"/>
            <a:ext cx="2148962" cy="370099"/>
          </a:xfrm>
          <a:prstGeom prst="rect">
            <a:avLst/>
          </a:prstGeom>
        </p:spPr>
      </p:pic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F9A2629-6373-1DC1-6AF9-F48C936E5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4851" y="6357183"/>
            <a:ext cx="2189702" cy="195759"/>
          </a:xfrm>
        </p:spPr>
        <p:txBody>
          <a:bodyPr wrap="none">
            <a:spAutoFit/>
          </a:bodyPr>
          <a:lstStyle>
            <a:lvl1pPr algn="l">
              <a:defRPr lang="en-GB" sz="1200" i="0" kern="1200" cap="none" spc="0" baseline="0">
                <a:solidFill>
                  <a:schemeClr val="bg1"/>
                </a:solidFill>
                <a:latin typeface="+mn-lt"/>
                <a:ea typeface="Inter ExtraBold" panose="02000503000000020004" pitchFamily="2" charset="0"/>
                <a:cs typeface="+mn-cs"/>
              </a:defRPr>
            </a:lvl1pPr>
            <a:lvl2pPr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</a:pPr>
            <a:r>
              <a:rPr lang="en-GB"/>
              <a:t>September 2026 ·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B839F9-E5F9-71FF-53DD-B7FBB548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43" y="2925893"/>
            <a:ext cx="5092699" cy="609398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algn="l">
              <a:lnSpc>
                <a:spcPct val="90000"/>
              </a:lnSpc>
              <a:defRPr lang="en-US" sz="4400" b="1" i="0" kern="1200" cap="none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2DC89D-87B1-0093-50B4-BCF6C6F61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143" y="3674413"/>
            <a:ext cx="5092699" cy="276999"/>
          </a:xfrm>
        </p:spPr>
        <p:txBody>
          <a:bodyPr wrap="square" bIns="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2000" b="0" i="0" cap="none" spc="7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ubik Light" pitchFamily="2" charset="-79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cover subtitle style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70110BEA-D9FC-B4E1-3E77-52A0F099D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6332805"/>
            <a:ext cx="1427163" cy="244514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338888-7723-A257-6BD5-CC655C030B7C}"/>
              </a:ext>
            </a:extLst>
          </p:cNvPr>
          <p:cNvCxnSpPr>
            <a:cxnSpLocks/>
          </p:cNvCxnSpPr>
          <p:nvPr userDrawn="1"/>
        </p:nvCxnSpPr>
        <p:spPr>
          <a:xfrm>
            <a:off x="2097610" y="6332805"/>
            <a:ext cx="0" cy="244514"/>
          </a:xfrm>
          <a:prstGeom prst="line">
            <a:avLst/>
          </a:prstGeom>
          <a:ln w="635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0050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B45D9-1A1B-0107-4BBE-0731743577CF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5DE69FB0-9C6B-BD59-F5AF-5F16674EEC8C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B2A5A992-6D1F-05BA-FFBF-6A51B830C08E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5C8C720D-DCCF-69B6-0CC2-BED67D2746A7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DA45A43F-7341-FEFF-92BC-761BBAD5C9B7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0FD6F847-6CC9-E462-8653-FBE8F0A89A37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E061E299-6F8E-4AEE-BCFE-2C3FBF73ECA6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</p:sp>
      <p:sp>
        <p:nvSpPr>
          <p:cNvPr id="23" name="Free-form: Shape 22">
            <a:extLst>
              <a:ext uri="{FF2B5EF4-FFF2-40B4-BE49-F238E27FC236}">
                <a16:creationId xmlns:a16="http://schemas.microsoft.com/office/drawing/2014/main" id="{797FC203-0110-8BED-D791-131EFECE0B41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6350" cap="flat">
            <a:noFill/>
            <a:prstDash val="solid"/>
            <a:miter/>
          </a:ln>
        </p:spPr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2E975CED-7FAA-8409-658D-A4B488EB0E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143" y="793190"/>
            <a:ext cx="2148962" cy="370099"/>
          </a:xfrm>
          <a:prstGeom prst="rect">
            <a:avLst/>
          </a:prstGeom>
        </p:spPr>
      </p:pic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8F9A2629-6373-1DC1-6AF9-F48C936E5F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84851" y="6366939"/>
            <a:ext cx="2189702" cy="195759"/>
          </a:xfrm>
        </p:spPr>
        <p:txBody>
          <a:bodyPr wrap="none">
            <a:spAutoFit/>
          </a:bodyPr>
          <a:lstStyle>
            <a:lvl1pPr algn="l">
              <a:defRPr lang="en-GB" sz="1200" i="0" kern="1200" cap="none" spc="0" baseline="0">
                <a:solidFill>
                  <a:schemeClr val="bg1"/>
                </a:solidFill>
                <a:latin typeface="+mn-lt"/>
                <a:ea typeface="Inter ExtraBold" panose="02000503000000020004" pitchFamily="2" charset="0"/>
                <a:cs typeface="+mn-cs"/>
              </a:defRPr>
            </a:lvl1pPr>
            <a:lvl2pPr>
              <a:buNone/>
              <a:defRPr/>
            </a:lvl2pPr>
          </a:lstStyle>
          <a:p>
            <a:pPr marL="0" lv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</a:pPr>
            <a:r>
              <a:rPr lang="en-GB"/>
              <a:t>September 2026 · Confidential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B839F9-E5F9-71FF-53DD-B7FBB548B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143" y="2925893"/>
            <a:ext cx="5092699" cy="609398"/>
          </a:xfrm>
          <a:prstGeom prst="rect">
            <a:avLst/>
          </a:prstGeom>
        </p:spPr>
        <p:txBody>
          <a:bodyPr wrap="square" tIns="0" rIns="0" bIns="0" anchor="b" anchorCtr="0">
            <a:spAutoFit/>
          </a:bodyPr>
          <a:lstStyle>
            <a:lvl1pPr algn="l">
              <a:lnSpc>
                <a:spcPct val="90000"/>
              </a:lnSpc>
              <a:defRPr lang="en-US" sz="4400" b="1" i="0" kern="1200" cap="none" spc="5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362DC89D-87B1-0093-50B4-BCF6C6F61AE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143" y="3674413"/>
            <a:ext cx="5092699" cy="276999"/>
          </a:xfrm>
        </p:spPr>
        <p:txBody>
          <a:bodyPr wrap="square" bIns="0" anchor="t" anchorCtr="0">
            <a:spAutoFit/>
          </a:bodyPr>
          <a:lstStyle>
            <a:lvl1pPr marL="0" indent="0" algn="l">
              <a:lnSpc>
                <a:spcPct val="90000"/>
              </a:lnSpc>
              <a:buNone/>
              <a:defRPr sz="2000" b="0" i="0" cap="none" spc="70" baseline="0">
                <a:solidFill>
                  <a:schemeClr val="bg1"/>
                </a:solidFill>
                <a:latin typeface="+mn-lt"/>
                <a:ea typeface="Roboto Light" panose="02000000000000000000" pitchFamily="2" charset="0"/>
                <a:cs typeface="Rubik Light" pitchFamily="2" charset="-79"/>
              </a:defRPr>
            </a:lvl1pPr>
            <a:lvl2pPr marL="4952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0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58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764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71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669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cover subtitle style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70110BEA-D9FC-B4E1-3E77-52A0F099D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6342561"/>
            <a:ext cx="1427163" cy="244514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7338888-7723-A257-6BD5-CC655C030B7C}"/>
              </a:ext>
            </a:extLst>
          </p:cNvPr>
          <p:cNvCxnSpPr>
            <a:cxnSpLocks/>
          </p:cNvCxnSpPr>
          <p:nvPr userDrawn="1"/>
        </p:nvCxnSpPr>
        <p:spPr>
          <a:xfrm>
            <a:off x="2097610" y="6342561"/>
            <a:ext cx="0" cy="244514"/>
          </a:xfrm>
          <a:prstGeom prst="line">
            <a:avLst/>
          </a:prstGeom>
          <a:ln w="6350">
            <a:solidFill>
              <a:schemeClr val="accent3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974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9E9C236-C46B-95B2-E52F-91DD821BFA44}"/>
              </a:ext>
            </a:extLst>
          </p:cNvPr>
          <p:cNvSpPr/>
          <p:nvPr userDrawn="1"/>
        </p:nvSpPr>
        <p:spPr>
          <a:xfrm>
            <a:off x="0" y="0"/>
            <a:ext cx="405765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4" name="Graphic 5">
            <a:extLst>
              <a:ext uri="{FF2B5EF4-FFF2-40B4-BE49-F238E27FC236}">
                <a16:creationId xmlns:a16="http://schemas.microsoft.com/office/drawing/2014/main" id="{50E747D8-6E2F-09C9-0190-F26C84093AB3}"/>
              </a:ext>
            </a:extLst>
          </p:cNvPr>
          <p:cNvSpPr/>
          <p:nvPr/>
        </p:nvSpPr>
        <p:spPr>
          <a:xfrm>
            <a:off x="237410" y="1"/>
            <a:ext cx="3583132" cy="3425632"/>
          </a:xfrm>
          <a:custGeom>
            <a:avLst/>
            <a:gdLst>
              <a:gd name="csX0" fmla="*/ 4834192 w 7173310"/>
              <a:gd name="csY0" fmla="*/ 0 h 6858000"/>
              <a:gd name="csX1" fmla="*/ 0 w 7173310"/>
              <a:gd name="csY1" fmla="*/ 0 h 6858000"/>
              <a:gd name="csX2" fmla="*/ 2495062 w 7173310"/>
              <a:gd name="csY2" fmla="*/ 3429000 h 6858000"/>
              <a:gd name="csX3" fmla="*/ 0 w 7173310"/>
              <a:gd name="csY3" fmla="*/ 6858000 h 6858000"/>
              <a:gd name="csX4" fmla="*/ 4834192 w 7173310"/>
              <a:gd name="csY4" fmla="*/ 6858000 h 6858000"/>
              <a:gd name="csX5" fmla="*/ 7173310 w 7173310"/>
              <a:gd name="csY5" fmla="*/ 3429000 h 6858000"/>
              <a:gd name="csX6" fmla="*/ 4834192 w 7173310"/>
              <a:gd name="csY6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73310" h="6858000">
                <a:moveTo>
                  <a:pt x="4834192" y="0"/>
                </a:moveTo>
                <a:lnTo>
                  <a:pt x="0" y="0"/>
                </a:lnTo>
                <a:lnTo>
                  <a:pt x="2495062" y="3429000"/>
                </a:lnTo>
                <a:lnTo>
                  <a:pt x="0" y="6858000"/>
                </a:lnTo>
                <a:lnTo>
                  <a:pt x="4834192" y="6858000"/>
                </a:lnTo>
                <a:lnTo>
                  <a:pt x="7173310" y="3429000"/>
                </a:lnTo>
                <a:lnTo>
                  <a:pt x="4834192" y="0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0" name="Free-form: Shape 19">
            <a:extLst>
              <a:ext uri="{FF2B5EF4-FFF2-40B4-BE49-F238E27FC236}">
                <a16:creationId xmlns:a16="http://schemas.microsoft.com/office/drawing/2014/main" id="{D4553729-2C86-2E14-AD1B-AC5F3E8A92EF}"/>
              </a:ext>
            </a:extLst>
          </p:cNvPr>
          <p:cNvSpPr/>
          <p:nvPr userDrawn="1"/>
        </p:nvSpPr>
        <p:spPr>
          <a:xfrm>
            <a:off x="1" y="3432369"/>
            <a:ext cx="2314017" cy="3425632"/>
          </a:xfrm>
          <a:custGeom>
            <a:avLst/>
            <a:gdLst>
              <a:gd name="csX0" fmla="*/ 0 w 2314017"/>
              <a:gd name="csY0" fmla="*/ 0 h 3425632"/>
              <a:gd name="csX1" fmla="*/ 1145607 w 2314017"/>
              <a:gd name="csY1" fmla="*/ 0 h 3425632"/>
              <a:gd name="csX2" fmla="*/ 2314017 w 2314017"/>
              <a:gd name="csY2" fmla="*/ 1712816 h 3425632"/>
              <a:gd name="csX3" fmla="*/ 1145607 w 2314017"/>
              <a:gd name="csY3" fmla="*/ 3425632 h 3425632"/>
              <a:gd name="csX4" fmla="*/ 0 w 2314017"/>
              <a:gd name="csY4" fmla="*/ 3425632 h 34256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14017" h="3425632">
                <a:moveTo>
                  <a:pt x="0" y="0"/>
                </a:moveTo>
                <a:lnTo>
                  <a:pt x="1145607" y="0"/>
                </a:lnTo>
                <a:lnTo>
                  <a:pt x="2314017" y="1712816"/>
                </a:lnTo>
                <a:lnTo>
                  <a:pt x="1145607" y="3425632"/>
                </a:lnTo>
                <a:lnTo>
                  <a:pt x="0" y="3425632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A94A-042D-B659-743C-666A6EFDA54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5236" y="571500"/>
            <a:ext cx="3005364" cy="786369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/>
              <a:t>Click to edit Master title style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C652E5C-CBBC-9E15-3B76-6E1E8C1AEE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8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B669C79-159E-83CA-4E39-E6108E139218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31174A09-E40E-4F7D-63C0-8043E6A0BE4B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52175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0F710E9F-E39B-3A87-511D-2F9C45625609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1" name="Free-form: Shape 10">
            <a:extLst>
              <a:ext uri="{FF2B5EF4-FFF2-40B4-BE49-F238E27FC236}">
                <a16:creationId xmlns:a16="http://schemas.microsoft.com/office/drawing/2014/main" id="{4601277C-5C0F-0782-043A-9F78B4CE222B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42888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99C8CB42-190D-5310-09CD-8F351AB956C6}"/>
              </a:ext>
            </a:extLst>
          </p:cNvPr>
          <p:cNvSpPr/>
          <p:nvPr userDrawn="1"/>
        </p:nvSpPr>
        <p:spPr>
          <a:xfrm>
            <a:off x="5248410" y="787538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rgbClr val="061246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228C0900-8E7B-41CD-AE84-1A9BC2D7AAE3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1C44EC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A98DAAAC-DD35-5073-070F-B5F3C3EE1C82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264DF0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2" name="Free-form: Shape 21">
            <a:extLst>
              <a:ext uri="{FF2B5EF4-FFF2-40B4-BE49-F238E27FC236}">
                <a16:creationId xmlns:a16="http://schemas.microsoft.com/office/drawing/2014/main" id="{4E9B9E35-CC87-5705-38E2-ADACDC1AA663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91B67"/>
          </a:solidFill>
          <a:ln w="635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A94A-042D-B659-743C-666A6EFDA54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5236" y="787538"/>
            <a:ext cx="3005364" cy="786369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/>
              <a:t>Click to edit Master title style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C5F4DCA-98FC-096E-457D-74CB72B4F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7595" y="248696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8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C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169B85-B6EE-D165-9079-49DC7B879B23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8" name="Free-form: Shape 7">
            <a:extLst>
              <a:ext uri="{FF2B5EF4-FFF2-40B4-BE49-F238E27FC236}">
                <a16:creationId xmlns:a16="http://schemas.microsoft.com/office/drawing/2014/main" id="{F7B15200-A6E6-42AB-EE36-643CCB02E796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</p:sp>
      <p:sp>
        <p:nvSpPr>
          <p:cNvPr id="12" name="Free-form: Shape 11">
            <a:extLst>
              <a:ext uri="{FF2B5EF4-FFF2-40B4-BE49-F238E27FC236}">
                <a16:creationId xmlns:a16="http://schemas.microsoft.com/office/drawing/2014/main" id="{DE60A426-B0AA-DD6F-2545-170346C1D757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5" name="Free-form: Shape 14">
            <a:extLst>
              <a:ext uri="{FF2B5EF4-FFF2-40B4-BE49-F238E27FC236}">
                <a16:creationId xmlns:a16="http://schemas.microsoft.com/office/drawing/2014/main" id="{451A684F-B088-7537-21B9-B8A31ECE0F68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</p:sp>
      <p:sp>
        <p:nvSpPr>
          <p:cNvPr id="19" name="Free-form: Shape 18">
            <a:extLst>
              <a:ext uri="{FF2B5EF4-FFF2-40B4-BE49-F238E27FC236}">
                <a16:creationId xmlns:a16="http://schemas.microsoft.com/office/drawing/2014/main" id="{09870104-A32D-5630-8EA8-5C0049D53EB0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B4BC05B2-5DD8-3535-4FF6-4924D27A4829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</p:sp>
      <p:sp>
        <p:nvSpPr>
          <p:cNvPr id="25" name="Free-form: Shape 24">
            <a:extLst>
              <a:ext uri="{FF2B5EF4-FFF2-40B4-BE49-F238E27FC236}">
                <a16:creationId xmlns:a16="http://schemas.microsoft.com/office/drawing/2014/main" id="{DFCAA1B0-3EAD-70C5-CCD8-49DD0874D944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</p:sp>
      <p:sp>
        <p:nvSpPr>
          <p:cNvPr id="27" name="Free-form: Shape 26">
            <a:extLst>
              <a:ext uri="{FF2B5EF4-FFF2-40B4-BE49-F238E27FC236}">
                <a16:creationId xmlns:a16="http://schemas.microsoft.com/office/drawing/2014/main" id="{8F653755-F8DB-098A-1359-BD6AE95A2CEA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A7A94A-042D-B659-743C-666A6EFDA543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25236" y="787538"/>
            <a:ext cx="3005364" cy="786369"/>
          </a:xfrm>
          <a:prstGeom prst="rect">
            <a:avLst/>
          </a:prstGeom>
          <a:noFill/>
          <a:effectLst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GB" sz="280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en-GB"/>
              <a:t>Click to edit Master title style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8C5F4DCA-98FC-096E-457D-74CB72B4FF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97595" y="248696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589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Divid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95C83277-79BF-1921-23C9-193F0ED214C6}"/>
              </a:ext>
            </a:extLst>
          </p:cNvPr>
          <p:cNvSpPr/>
          <p:nvPr userDrawn="1"/>
        </p:nvSpPr>
        <p:spPr>
          <a:xfrm>
            <a:off x="507690" y="566057"/>
            <a:ext cx="11176622" cy="256830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75" name="Free-form: Shape 74">
            <a:extLst>
              <a:ext uri="{FF2B5EF4-FFF2-40B4-BE49-F238E27FC236}">
                <a16:creationId xmlns:a16="http://schemas.microsoft.com/office/drawing/2014/main" id="{E62E3F35-A74A-21E6-55F4-FE520E46C027}"/>
              </a:ext>
            </a:extLst>
          </p:cNvPr>
          <p:cNvSpPr/>
          <p:nvPr userDrawn="1"/>
        </p:nvSpPr>
        <p:spPr>
          <a:xfrm>
            <a:off x="0" y="3422570"/>
            <a:ext cx="12192000" cy="3435431"/>
          </a:xfrm>
          <a:custGeom>
            <a:avLst/>
            <a:gdLst>
              <a:gd name="csX0" fmla="*/ 0 w 12192000"/>
              <a:gd name="csY0" fmla="*/ 0 h 3435431"/>
              <a:gd name="csX1" fmla="*/ 12192000 w 12192000"/>
              <a:gd name="csY1" fmla="*/ 0 h 3435431"/>
              <a:gd name="csX2" fmla="*/ 12192000 w 12192000"/>
              <a:gd name="csY2" fmla="*/ 3435431 h 3435431"/>
              <a:gd name="csX3" fmla="*/ 0 w 12192000"/>
              <a:gd name="csY3" fmla="*/ 3435431 h 34354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435431">
                <a:moveTo>
                  <a:pt x="0" y="0"/>
                </a:moveTo>
                <a:lnTo>
                  <a:pt x="12192000" y="0"/>
                </a:lnTo>
                <a:lnTo>
                  <a:pt x="12192000" y="3435431"/>
                </a:lnTo>
                <a:lnTo>
                  <a:pt x="0" y="34354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76" name="Free-form: Shape 75">
            <a:extLst>
              <a:ext uri="{FF2B5EF4-FFF2-40B4-BE49-F238E27FC236}">
                <a16:creationId xmlns:a16="http://schemas.microsoft.com/office/drawing/2014/main" id="{48977216-3E84-49BD-C8B3-264911374538}"/>
              </a:ext>
            </a:extLst>
          </p:cNvPr>
          <p:cNvSpPr/>
          <p:nvPr userDrawn="1"/>
        </p:nvSpPr>
        <p:spPr>
          <a:xfrm>
            <a:off x="1136472" y="3422570"/>
            <a:ext cx="2395645" cy="994171"/>
          </a:xfrm>
          <a:custGeom>
            <a:avLst/>
            <a:gdLst>
              <a:gd name="csX0" fmla="*/ 723395 w 2395645"/>
              <a:gd name="csY0" fmla="*/ 0 h 994171"/>
              <a:gd name="csX1" fmla="*/ 2395645 w 2395645"/>
              <a:gd name="csY1" fmla="*/ 0 h 994171"/>
              <a:gd name="csX2" fmla="*/ 1717463 w 2395645"/>
              <a:gd name="csY2" fmla="*/ 994171 h 994171"/>
              <a:gd name="csX3" fmla="*/ 0 w 2395645"/>
              <a:gd name="csY3" fmla="*/ 994171 h 994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95645" h="994171">
                <a:moveTo>
                  <a:pt x="723395" y="0"/>
                </a:moveTo>
                <a:lnTo>
                  <a:pt x="2395645" y="0"/>
                </a:lnTo>
                <a:lnTo>
                  <a:pt x="1717463" y="994171"/>
                </a:lnTo>
                <a:lnTo>
                  <a:pt x="0" y="994171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47" name="Graphic 5">
            <a:extLst>
              <a:ext uri="{FF2B5EF4-FFF2-40B4-BE49-F238E27FC236}">
                <a16:creationId xmlns:a16="http://schemas.microsoft.com/office/drawing/2014/main" id="{036460B2-AD9F-CC5A-EA4D-369402BE31FA}"/>
              </a:ext>
            </a:extLst>
          </p:cNvPr>
          <p:cNvSpPr/>
          <p:nvPr userDrawn="1"/>
        </p:nvSpPr>
        <p:spPr>
          <a:xfrm>
            <a:off x="64961" y="4421531"/>
            <a:ext cx="2548491" cy="2436469"/>
          </a:xfrm>
          <a:custGeom>
            <a:avLst/>
            <a:gdLst>
              <a:gd name="csX0" fmla="*/ 4834192 w 7173310"/>
              <a:gd name="csY0" fmla="*/ 0 h 6858000"/>
              <a:gd name="csX1" fmla="*/ 0 w 7173310"/>
              <a:gd name="csY1" fmla="*/ 0 h 6858000"/>
              <a:gd name="csX2" fmla="*/ 2495062 w 7173310"/>
              <a:gd name="csY2" fmla="*/ 3429000 h 6858000"/>
              <a:gd name="csX3" fmla="*/ 0 w 7173310"/>
              <a:gd name="csY3" fmla="*/ 6858000 h 6858000"/>
              <a:gd name="csX4" fmla="*/ 4834192 w 7173310"/>
              <a:gd name="csY4" fmla="*/ 6858000 h 6858000"/>
              <a:gd name="csX5" fmla="*/ 7173310 w 7173310"/>
              <a:gd name="csY5" fmla="*/ 3429000 h 6858000"/>
              <a:gd name="csX6" fmla="*/ 4834192 w 7173310"/>
              <a:gd name="csY6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73310" h="6858000">
                <a:moveTo>
                  <a:pt x="4834192" y="0"/>
                </a:moveTo>
                <a:lnTo>
                  <a:pt x="0" y="0"/>
                </a:lnTo>
                <a:lnTo>
                  <a:pt x="2495062" y="3429000"/>
                </a:lnTo>
                <a:lnTo>
                  <a:pt x="0" y="6858000"/>
                </a:lnTo>
                <a:lnTo>
                  <a:pt x="4834192" y="6858000"/>
                </a:lnTo>
                <a:lnTo>
                  <a:pt x="7173310" y="3429000"/>
                </a:lnTo>
                <a:lnTo>
                  <a:pt x="4834192" y="0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79" name="Free-form: Shape 78">
            <a:extLst>
              <a:ext uri="{FF2B5EF4-FFF2-40B4-BE49-F238E27FC236}">
                <a16:creationId xmlns:a16="http://schemas.microsoft.com/office/drawing/2014/main" id="{F273A1E5-F9CC-8B9D-A449-71EFB4DDCFC3}"/>
              </a:ext>
            </a:extLst>
          </p:cNvPr>
          <p:cNvSpPr/>
          <p:nvPr userDrawn="1"/>
        </p:nvSpPr>
        <p:spPr>
          <a:xfrm>
            <a:off x="7846292" y="3422570"/>
            <a:ext cx="2395645" cy="994171"/>
          </a:xfrm>
          <a:custGeom>
            <a:avLst/>
            <a:gdLst>
              <a:gd name="csX0" fmla="*/ 723395 w 2395645"/>
              <a:gd name="csY0" fmla="*/ 0 h 994171"/>
              <a:gd name="csX1" fmla="*/ 2395645 w 2395645"/>
              <a:gd name="csY1" fmla="*/ 0 h 994171"/>
              <a:gd name="csX2" fmla="*/ 1717463 w 2395645"/>
              <a:gd name="csY2" fmla="*/ 994171 h 994171"/>
              <a:gd name="csX3" fmla="*/ 0 w 2395645"/>
              <a:gd name="csY3" fmla="*/ 994171 h 994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395645" h="994171">
                <a:moveTo>
                  <a:pt x="723395" y="0"/>
                </a:moveTo>
                <a:lnTo>
                  <a:pt x="2395645" y="0"/>
                </a:lnTo>
                <a:lnTo>
                  <a:pt x="1717463" y="994171"/>
                </a:lnTo>
                <a:lnTo>
                  <a:pt x="0" y="994171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en-GB"/>
          </a:p>
        </p:txBody>
      </p:sp>
      <p:sp>
        <p:nvSpPr>
          <p:cNvPr id="49" name="Graphic 5">
            <a:extLst>
              <a:ext uri="{FF2B5EF4-FFF2-40B4-BE49-F238E27FC236}">
                <a16:creationId xmlns:a16="http://schemas.microsoft.com/office/drawing/2014/main" id="{A51C7DD1-8E19-2094-B8CE-5007093B5F41}"/>
              </a:ext>
            </a:extLst>
          </p:cNvPr>
          <p:cNvSpPr/>
          <p:nvPr userDrawn="1"/>
        </p:nvSpPr>
        <p:spPr>
          <a:xfrm>
            <a:off x="6774782" y="4421531"/>
            <a:ext cx="2548491" cy="2436469"/>
          </a:xfrm>
          <a:custGeom>
            <a:avLst/>
            <a:gdLst>
              <a:gd name="csX0" fmla="*/ 4834192 w 7173310"/>
              <a:gd name="csY0" fmla="*/ 0 h 6858000"/>
              <a:gd name="csX1" fmla="*/ 0 w 7173310"/>
              <a:gd name="csY1" fmla="*/ 0 h 6858000"/>
              <a:gd name="csX2" fmla="*/ 2495062 w 7173310"/>
              <a:gd name="csY2" fmla="*/ 3429000 h 6858000"/>
              <a:gd name="csX3" fmla="*/ 0 w 7173310"/>
              <a:gd name="csY3" fmla="*/ 6858000 h 6858000"/>
              <a:gd name="csX4" fmla="*/ 4834192 w 7173310"/>
              <a:gd name="csY4" fmla="*/ 6858000 h 6858000"/>
              <a:gd name="csX5" fmla="*/ 7173310 w 7173310"/>
              <a:gd name="csY5" fmla="*/ 3429000 h 6858000"/>
              <a:gd name="csX6" fmla="*/ 4834192 w 7173310"/>
              <a:gd name="csY6" fmla="*/ 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7173310" h="6858000">
                <a:moveTo>
                  <a:pt x="4834192" y="0"/>
                </a:moveTo>
                <a:lnTo>
                  <a:pt x="0" y="0"/>
                </a:lnTo>
                <a:lnTo>
                  <a:pt x="2495062" y="3429000"/>
                </a:lnTo>
                <a:lnTo>
                  <a:pt x="0" y="6858000"/>
                </a:lnTo>
                <a:lnTo>
                  <a:pt x="4834192" y="6858000"/>
                </a:lnTo>
                <a:lnTo>
                  <a:pt x="7173310" y="3429000"/>
                </a:lnTo>
                <a:lnTo>
                  <a:pt x="4834192" y="0"/>
                </a:lnTo>
                <a:close/>
              </a:path>
            </a:pathLst>
          </a:custGeom>
          <a:gradFill>
            <a:gsLst>
              <a:gs pos="36000">
                <a:srgbClr val="013CC7"/>
              </a:gs>
              <a:gs pos="100000">
                <a:srgbClr val="2C5EEF"/>
              </a:gs>
            </a:gsLst>
            <a:lin ang="0" scaled="1"/>
          </a:gradFill>
          <a:ln w="11260" cap="flat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0BC267C9-2F26-04E2-1359-EBCEC6FD20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61003" y="5983716"/>
            <a:ext cx="1785208" cy="307453"/>
          </a:xfrm>
          <a:prstGeom prst="rect">
            <a:avLst/>
          </a:prstGeom>
        </p:spPr>
      </p:pic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 userDrawn="1"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2D69F00C-BE6C-92F5-5CD2-6E6B474DCCC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333499" y="1371475"/>
            <a:ext cx="9845701" cy="44319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AD67DCB-0EC2-4B5F-BDA0-0E0BA4F9A42D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78073" y="2649589"/>
            <a:ext cx="7301128" cy="249299"/>
          </a:xfrm>
        </p:spPr>
        <p:txBody>
          <a:bodyPr wrap="square" anchor="t" anchorCtr="0">
            <a:spAutoFit/>
          </a:bodyPr>
          <a:lstStyle>
            <a:lvl1pPr marL="0" indent="0">
              <a:lnSpc>
                <a:spcPct val="90000"/>
              </a:lnSpc>
              <a:buNone/>
              <a:defRPr sz="18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6B4FD12-BB1C-41B9-DC83-EBFBDBD83587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00289" y="5516007"/>
            <a:ext cx="968214" cy="967957"/>
          </a:xfrm>
        </p:spPr>
        <p:txBody>
          <a:bodyPr wrap="none">
            <a:sp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sp>
        <p:nvSpPr>
          <p:cNvPr id="84" name="Free-form: Shape 83">
            <a:extLst>
              <a:ext uri="{FF2B5EF4-FFF2-40B4-BE49-F238E27FC236}">
                <a16:creationId xmlns:a16="http://schemas.microsoft.com/office/drawing/2014/main" id="{107D44C8-EC71-612B-0E20-E8F7798812A1}"/>
              </a:ext>
            </a:extLst>
          </p:cNvPr>
          <p:cNvSpPr/>
          <p:nvPr userDrawn="1"/>
        </p:nvSpPr>
        <p:spPr>
          <a:xfrm flipV="1">
            <a:off x="1012801" y="1027148"/>
            <a:ext cx="2865272" cy="2107216"/>
          </a:xfrm>
          <a:custGeom>
            <a:avLst/>
            <a:gdLst>
              <a:gd name="csX0" fmla="*/ 255505 w 2865272"/>
              <a:gd name="csY0" fmla="*/ 2107216 h 2107216"/>
              <a:gd name="csX1" fmla="*/ 2865272 w 2865272"/>
              <a:gd name="csY1" fmla="*/ 2107216 h 2107216"/>
              <a:gd name="csX2" fmla="*/ 2744475 w 2865272"/>
              <a:gd name="csY2" fmla="*/ 0 h 2107216"/>
              <a:gd name="csX3" fmla="*/ 2507736 w 2865272"/>
              <a:gd name="csY3" fmla="*/ 0 h 2107216"/>
              <a:gd name="csX4" fmla="*/ 2507736 w 2865272"/>
              <a:gd name="csY4" fmla="*/ 689194 h 2107216"/>
              <a:gd name="csX5" fmla="*/ 2505403 w 2865272"/>
              <a:gd name="csY5" fmla="*/ 726039 h 2107216"/>
              <a:gd name="csX6" fmla="*/ 2498608 w 2865272"/>
              <a:gd name="csY6" fmla="*/ 761380 h 2107216"/>
              <a:gd name="csX7" fmla="*/ 2487657 w 2865272"/>
              <a:gd name="csY7" fmla="*/ 794889 h 2107216"/>
              <a:gd name="csX8" fmla="*/ 2472852 w 2865272"/>
              <a:gd name="csY8" fmla="*/ 826245 h 2107216"/>
              <a:gd name="csX9" fmla="*/ 2454498 w 2865272"/>
              <a:gd name="csY9" fmla="*/ 855122 h 2107216"/>
              <a:gd name="csX10" fmla="*/ 2432901 w 2865272"/>
              <a:gd name="csY10" fmla="*/ 881200 h 2107216"/>
              <a:gd name="csX11" fmla="*/ 2408363 w 2865272"/>
              <a:gd name="csY11" fmla="*/ 904152 h 2107216"/>
              <a:gd name="csX12" fmla="*/ 2381189 w 2865272"/>
              <a:gd name="csY12" fmla="*/ 923658 h 2107216"/>
              <a:gd name="csX13" fmla="*/ 2351685 w 2865272"/>
              <a:gd name="csY13" fmla="*/ 939392 h 2107216"/>
              <a:gd name="csX14" fmla="*/ 2320154 w 2865272"/>
              <a:gd name="csY14" fmla="*/ 951030 h 2107216"/>
              <a:gd name="csX15" fmla="*/ 2286901 w 2865272"/>
              <a:gd name="csY15" fmla="*/ 958251 h 2107216"/>
              <a:gd name="csX16" fmla="*/ 2252230 w 2865272"/>
              <a:gd name="csY16" fmla="*/ 960730 h 2107216"/>
              <a:gd name="csX17" fmla="*/ 255505 w 2865272"/>
              <a:gd name="csY17" fmla="*/ 960730 h 2107216"/>
              <a:gd name="csX18" fmla="*/ 220834 w 2865272"/>
              <a:gd name="csY18" fmla="*/ 963208 h 2107216"/>
              <a:gd name="csX19" fmla="*/ 187581 w 2865272"/>
              <a:gd name="csY19" fmla="*/ 970429 h 2107216"/>
              <a:gd name="csX20" fmla="*/ 156050 w 2865272"/>
              <a:gd name="csY20" fmla="*/ 982068 h 2107216"/>
              <a:gd name="csX21" fmla="*/ 126546 w 2865272"/>
              <a:gd name="csY21" fmla="*/ 997801 h 2107216"/>
              <a:gd name="csX22" fmla="*/ 99372 w 2865272"/>
              <a:gd name="csY22" fmla="*/ 1017307 h 2107216"/>
              <a:gd name="csX23" fmla="*/ 74834 w 2865272"/>
              <a:gd name="csY23" fmla="*/ 1040259 h 2107216"/>
              <a:gd name="csX24" fmla="*/ 53237 w 2865272"/>
              <a:gd name="csY24" fmla="*/ 1066336 h 2107216"/>
              <a:gd name="csX25" fmla="*/ 34883 w 2865272"/>
              <a:gd name="csY25" fmla="*/ 1095215 h 2107216"/>
              <a:gd name="csX26" fmla="*/ 20078 w 2865272"/>
              <a:gd name="csY26" fmla="*/ 1126570 h 2107216"/>
              <a:gd name="csX27" fmla="*/ 9126 w 2865272"/>
              <a:gd name="csY27" fmla="*/ 1160079 h 2107216"/>
              <a:gd name="csX28" fmla="*/ 2332 w 2865272"/>
              <a:gd name="csY28" fmla="*/ 1195419 h 2107216"/>
              <a:gd name="csX29" fmla="*/ 0 w 2865272"/>
              <a:gd name="csY29" fmla="*/ 1232266 h 2107216"/>
              <a:gd name="csX30" fmla="*/ 0 w 2865272"/>
              <a:gd name="csY30" fmla="*/ 1835680 h 2107216"/>
              <a:gd name="csX31" fmla="*/ 2332 w 2865272"/>
              <a:gd name="csY31" fmla="*/ 1872526 h 2107216"/>
              <a:gd name="csX32" fmla="*/ 9126 w 2865272"/>
              <a:gd name="csY32" fmla="*/ 1907866 h 2107216"/>
              <a:gd name="csX33" fmla="*/ 20078 w 2865272"/>
              <a:gd name="csY33" fmla="*/ 1941375 h 2107216"/>
              <a:gd name="csX34" fmla="*/ 34883 w 2865272"/>
              <a:gd name="csY34" fmla="*/ 1972730 h 2107216"/>
              <a:gd name="csX35" fmla="*/ 53237 w 2865272"/>
              <a:gd name="csY35" fmla="*/ 2001608 h 2107216"/>
              <a:gd name="csX36" fmla="*/ 74834 w 2865272"/>
              <a:gd name="csY36" fmla="*/ 2027685 h 2107216"/>
              <a:gd name="csX37" fmla="*/ 99372 w 2865272"/>
              <a:gd name="csY37" fmla="*/ 2050638 h 2107216"/>
              <a:gd name="csX38" fmla="*/ 126546 w 2865272"/>
              <a:gd name="csY38" fmla="*/ 2070144 h 2107216"/>
              <a:gd name="csX39" fmla="*/ 156050 w 2865272"/>
              <a:gd name="csY39" fmla="*/ 2085878 h 2107216"/>
              <a:gd name="csX40" fmla="*/ 187581 w 2865272"/>
              <a:gd name="csY40" fmla="*/ 2097516 h 2107216"/>
              <a:gd name="csX41" fmla="*/ 220834 w 2865272"/>
              <a:gd name="csY41" fmla="*/ 2104737 h 2107216"/>
              <a:gd name="csX0" fmla="*/ 255505 w 2865272"/>
              <a:gd name="csY0" fmla="*/ 2107216 h 2107216"/>
              <a:gd name="csX1" fmla="*/ 2865272 w 2865272"/>
              <a:gd name="csY1" fmla="*/ 2107216 h 2107216"/>
              <a:gd name="csX2" fmla="*/ 2809899 w 2865272"/>
              <a:gd name="csY2" fmla="*/ 1051564 h 2107216"/>
              <a:gd name="csX3" fmla="*/ 2744475 w 2865272"/>
              <a:gd name="csY3" fmla="*/ 0 h 2107216"/>
              <a:gd name="csX4" fmla="*/ 2507736 w 2865272"/>
              <a:gd name="csY4" fmla="*/ 0 h 2107216"/>
              <a:gd name="csX5" fmla="*/ 2507736 w 2865272"/>
              <a:gd name="csY5" fmla="*/ 689194 h 2107216"/>
              <a:gd name="csX6" fmla="*/ 2505403 w 2865272"/>
              <a:gd name="csY6" fmla="*/ 726039 h 2107216"/>
              <a:gd name="csX7" fmla="*/ 2498608 w 2865272"/>
              <a:gd name="csY7" fmla="*/ 761380 h 2107216"/>
              <a:gd name="csX8" fmla="*/ 2487657 w 2865272"/>
              <a:gd name="csY8" fmla="*/ 794889 h 2107216"/>
              <a:gd name="csX9" fmla="*/ 2472852 w 2865272"/>
              <a:gd name="csY9" fmla="*/ 826245 h 2107216"/>
              <a:gd name="csX10" fmla="*/ 2454498 w 2865272"/>
              <a:gd name="csY10" fmla="*/ 855122 h 2107216"/>
              <a:gd name="csX11" fmla="*/ 2432901 w 2865272"/>
              <a:gd name="csY11" fmla="*/ 881200 h 2107216"/>
              <a:gd name="csX12" fmla="*/ 2408363 w 2865272"/>
              <a:gd name="csY12" fmla="*/ 904152 h 2107216"/>
              <a:gd name="csX13" fmla="*/ 2381189 w 2865272"/>
              <a:gd name="csY13" fmla="*/ 923658 h 2107216"/>
              <a:gd name="csX14" fmla="*/ 2351685 w 2865272"/>
              <a:gd name="csY14" fmla="*/ 939392 h 2107216"/>
              <a:gd name="csX15" fmla="*/ 2320154 w 2865272"/>
              <a:gd name="csY15" fmla="*/ 951030 h 2107216"/>
              <a:gd name="csX16" fmla="*/ 2286901 w 2865272"/>
              <a:gd name="csY16" fmla="*/ 958251 h 2107216"/>
              <a:gd name="csX17" fmla="*/ 2252230 w 2865272"/>
              <a:gd name="csY17" fmla="*/ 960730 h 2107216"/>
              <a:gd name="csX18" fmla="*/ 255505 w 2865272"/>
              <a:gd name="csY18" fmla="*/ 960730 h 2107216"/>
              <a:gd name="csX19" fmla="*/ 220834 w 2865272"/>
              <a:gd name="csY19" fmla="*/ 963208 h 2107216"/>
              <a:gd name="csX20" fmla="*/ 187581 w 2865272"/>
              <a:gd name="csY20" fmla="*/ 970429 h 2107216"/>
              <a:gd name="csX21" fmla="*/ 156050 w 2865272"/>
              <a:gd name="csY21" fmla="*/ 982068 h 2107216"/>
              <a:gd name="csX22" fmla="*/ 126546 w 2865272"/>
              <a:gd name="csY22" fmla="*/ 997801 h 2107216"/>
              <a:gd name="csX23" fmla="*/ 99372 w 2865272"/>
              <a:gd name="csY23" fmla="*/ 1017307 h 2107216"/>
              <a:gd name="csX24" fmla="*/ 74834 w 2865272"/>
              <a:gd name="csY24" fmla="*/ 1040259 h 2107216"/>
              <a:gd name="csX25" fmla="*/ 53237 w 2865272"/>
              <a:gd name="csY25" fmla="*/ 1066336 h 2107216"/>
              <a:gd name="csX26" fmla="*/ 34883 w 2865272"/>
              <a:gd name="csY26" fmla="*/ 1095215 h 2107216"/>
              <a:gd name="csX27" fmla="*/ 20078 w 2865272"/>
              <a:gd name="csY27" fmla="*/ 1126570 h 2107216"/>
              <a:gd name="csX28" fmla="*/ 9126 w 2865272"/>
              <a:gd name="csY28" fmla="*/ 1160079 h 2107216"/>
              <a:gd name="csX29" fmla="*/ 2332 w 2865272"/>
              <a:gd name="csY29" fmla="*/ 1195419 h 2107216"/>
              <a:gd name="csX30" fmla="*/ 0 w 2865272"/>
              <a:gd name="csY30" fmla="*/ 1232266 h 2107216"/>
              <a:gd name="csX31" fmla="*/ 0 w 2865272"/>
              <a:gd name="csY31" fmla="*/ 1835680 h 2107216"/>
              <a:gd name="csX32" fmla="*/ 2332 w 2865272"/>
              <a:gd name="csY32" fmla="*/ 1872526 h 2107216"/>
              <a:gd name="csX33" fmla="*/ 9126 w 2865272"/>
              <a:gd name="csY33" fmla="*/ 1907866 h 2107216"/>
              <a:gd name="csX34" fmla="*/ 20078 w 2865272"/>
              <a:gd name="csY34" fmla="*/ 1941375 h 2107216"/>
              <a:gd name="csX35" fmla="*/ 34883 w 2865272"/>
              <a:gd name="csY35" fmla="*/ 1972730 h 2107216"/>
              <a:gd name="csX36" fmla="*/ 53237 w 2865272"/>
              <a:gd name="csY36" fmla="*/ 2001608 h 2107216"/>
              <a:gd name="csX37" fmla="*/ 74834 w 2865272"/>
              <a:gd name="csY37" fmla="*/ 2027685 h 2107216"/>
              <a:gd name="csX38" fmla="*/ 99372 w 2865272"/>
              <a:gd name="csY38" fmla="*/ 2050638 h 2107216"/>
              <a:gd name="csX39" fmla="*/ 126546 w 2865272"/>
              <a:gd name="csY39" fmla="*/ 2070144 h 2107216"/>
              <a:gd name="csX40" fmla="*/ 156050 w 2865272"/>
              <a:gd name="csY40" fmla="*/ 2085878 h 2107216"/>
              <a:gd name="csX41" fmla="*/ 187581 w 2865272"/>
              <a:gd name="csY41" fmla="*/ 2097516 h 2107216"/>
              <a:gd name="csX42" fmla="*/ 220834 w 2865272"/>
              <a:gd name="csY42" fmla="*/ 2104737 h 2107216"/>
              <a:gd name="csX43" fmla="*/ 255505 w 2865272"/>
              <a:gd name="csY43" fmla="*/ 2107216 h 2107216"/>
              <a:gd name="csX0" fmla="*/ 2809899 w 2901339"/>
              <a:gd name="csY0" fmla="*/ 1051564 h 2107216"/>
              <a:gd name="csX1" fmla="*/ 2744475 w 2901339"/>
              <a:gd name="csY1" fmla="*/ 0 h 2107216"/>
              <a:gd name="csX2" fmla="*/ 2507736 w 2901339"/>
              <a:gd name="csY2" fmla="*/ 0 h 2107216"/>
              <a:gd name="csX3" fmla="*/ 2507736 w 2901339"/>
              <a:gd name="csY3" fmla="*/ 689194 h 2107216"/>
              <a:gd name="csX4" fmla="*/ 2505403 w 2901339"/>
              <a:gd name="csY4" fmla="*/ 726039 h 2107216"/>
              <a:gd name="csX5" fmla="*/ 2498608 w 2901339"/>
              <a:gd name="csY5" fmla="*/ 761380 h 2107216"/>
              <a:gd name="csX6" fmla="*/ 2487657 w 2901339"/>
              <a:gd name="csY6" fmla="*/ 794889 h 2107216"/>
              <a:gd name="csX7" fmla="*/ 2472852 w 2901339"/>
              <a:gd name="csY7" fmla="*/ 826245 h 2107216"/>
              <a:gd name="csX8" fmla="*/ 2454498 w 2901339"/>
              <a:gd name="csY8" fmla="*/ 855122 h 2107216"/>
              <a:gd name="csX9" fmla="*/ 2432901 w 2901339"/>
              <a:gd name="csY9" fmla="*/ 881200 h 2107216"/>
              <a:gd name="csX10" fmla="*/ 2408363 w 2901339"/>
              <a:gd name="csY10" fmla="*/ 904152 h 2107216"/>
              <a:gd name="csX11" fmla="*/ 2381189 w 2901339"/>
              <a:gd name="csY11" fmla="*/ 923658 h 2107216"/>
              <a:gd name="csX12" fmla="*/ 2351685 w 2901339"/>
              <a:gd name="csY12" fmla="*/ 939392 h 2107216"/>
              <a:gd name="csX13" fmla="*/ 2320154 w 2901339"/>
              <a:gd name="csY13" fmla="*/ 951030 h 2107216"/>
              <a:gd name="csX14" fmla="*/ 2286901 w 2901339"/>
              <a:gd name="csY14" fmla="*/ 958251 h 2107216"/>
              <a:gd name="csX15" fmla="*/ 2252230 w 2901339"/>
              <a:gd name="csY15" fmla="*/ 960730 h 2107216"/>
              <a:gd name="csX16" fmla="*/ 255505 w 2901339"/>
              <a:gd name="csY16" fmla="*/ 960730 h 2107216"/>
              <a:gd name="csX17" fmla="*/ 220834 w 2901339"/>
              <a:gd name="csY17" fmla="*/ 963208 h 2107216"/>
              <a:gd name="csX18" fmla="*/ 187581 w 2901339"/>
              <a:gd name="csY18" fmla="*/ 970429 h 2107216"/>
              <a:gd name="csX19" fmla="*/ 156050 w 2901339"/>
              <a:gd name="csY19" fmla="*/ 982068 h 2107216"/>
              <a:gd name="csX20" fmla="*/ 126546 w 2901339"/>
              <a:gd name="csY20" fmla="*/ 997801 h 2107216"/>
              <a:gd name="csX21" fmla="*/ 99372 w 2901339"/>
              <a:gd name="csY21" fmla="*/ 1017307 h 2107216"/>
              <a:gd name="csX22" fmla="*/ 74834 w 2901339"/>
              <a:gd name="csY22" fmla="*/ 1040259 h 2107216"/>
              <a:gd name="csX23" fmla="*/ 53237 w 2901339"/>
              <a:gd name="csY23" fmla="*/ 1066336 h 2107216"/>
              <a:gd name="csX24" fmla="*/ 34883 w 2901339"/>
              <a:gd name="csY24" fmla="*/ 1095215 h 2107216"/>
              <a:gd name="csX25" fmla="*/ 20078 w 2901339"/>
              <a:gd name="csY25" fmla="*/ 1126570 h 2107216"/>
              <a:gd name="csX26" fmla="*/ 9126 w 2901339"/>
              <a:gd name="csY26" fmla="*/ 1160079 h 2107216"/>
              <a:gd name="csX27" fmla="*/ 2332 w 2901339"/>
              <a:gd name="csY27" fmla="*/ 1195419 h 2107216"/>
              <a:gd name="csX28" fmla="*/ 0 w 2901339"/>
              <a:gd name="csY28" fmla="*/ 1232266 h 2107216"/>
              <a:gd name="csX29" fmla="*/ 0 w 2901339"/>
              <a:gd name="csY29" fmla="*/ 1835680 h 2107216"/>
              <a:gd name="csX30" fmla="*/ 2332 w 2901339"/>
              <a:gd name="csY30" fmla="*/ 1872526 h 2107216"/>
              <a:gd name="csX31" fmla="*/ 9126 w 2901339"/>
              <a:gd name="csY31" fmla="*/ 1907866 h 2107216"/>
              <a:gd name="csX32" fmla="*/ 20078 w 2901339"/>
              <a:gd name="csY32" fmla="*/ 1941375 h 2107216"/>
              <a:gd name="csX33" fmla="*/ 34883 w 2901339"/>
              <a:gd name="csY33" fmla="*/ 1972730 h 2107216"/>
              <a:gd name="csX34" fmla="*/ 53237 w 2901339"/>
              <a:gd name="csY34" fmla="*/ 2001608 h 2107216"/>
              <a:gd name="csX35" fmla="*/ 74834 w 2901339"/>
              <a:gd name="csY35" fmla="*/ 2027685 h 2107216"/>
              <a:gd name="csX36" fmla="*/ 99372 w 2901339"/>
              <a:gd name="csY36" fmla="*/ 2050638 h 2107216"/>
              <a:gd name="csX37" fmla="*/ 126546 w 2901339"/>
              <a:gd name="csY37" fmla="*/ 2070144 h 2107216"/>
              <a:gd name="csX38" fmla="*/ 156050 w 2901339"/>
              <a:gd name="csY38" fmla="*/ 2085878 h 2107216"/>
              <a:gd name="csX39" fmla="*/ 187581 w 2901339"/>
              <a:gd name="csY39" fmla="*/ 2097516 h 2107216"/>
              <a:gd name="csX40" fmla="*/ 220834 w 2901339"/>
              <a:gd name="csY40" fmla="*/ 2104737 h 2107216"/>
              <a:gd name="csX41" fmla="*/ 255505 w 2901339"/>
              <a:gd name="csY41" fmla="*/ 2107216 h 2107216"/>
              <a:gd name="csX42" fmla="*/ 2865272 w 2901339"/>
              <a:gd name="csY42" fmla="*/ 2107216 h 2107216"/>
              <a:gd name="csX43" fmla="*/ 2901339 w 2901339"/>
              <a:gd name="csY43" fmla="*/ 1143004 h 2107216"/>
              <a:gd name="csX0" fmla="*/ 2744475 w 2901339"/>
              <a:gd name="csY0" fmla="*/ 0 h 2107216"/>
              <a:gd name="csX1" fmla="*/ 2507736 w 2901339"/>
              <a:gd name="csY1" fmla="*/ 0 h 2107216"/>
              <a:gd name="csX2" fmla="*/ 2507736 w 2901339"/>
              <a:gd name="csY2" fmla="*/ 689194 h 2107216"/>
              <a:gd name="csX3" fmla="*/ 2505403 w 2901339"/>
              <a:gd name="csY3" fmla="*/ 726039 h 2107216"/>
              <a:gd name="csX4" fmla="*/ 2498608 w 2901339"/>
              <a:gd name="csY4" fmla="*/ 761380 h 2107216"/>
              <a:gd name="csX5" fmla="*/ 2487657 w 2901339"/>
              <a:gd name="csY5" fmla="*/ 794889 h 2107216"/>
              <a:gd name="csX6" fmla="*/ 2472852 w 2901339"/>
              <a:gd name="csY6" fmla="*/ 826245 h 2107216"/>
              <a:gd name="csX7" fmla="*/ 2454498 w 2901339"/>
              <a:gd name="csY7" fmla="*/ 855122 h 2107216"/>
              <a:gd name="csX8" fmla="*/ 2432901 w 2901339"/>
              <a:gd name="csY8" fmla="*/ 881200 h 2107216"/>
              <a:gd name="csX9" fmla="*/ 2408363 w 2901339"/>
              <a:gd name="csY9" fmla="*/ 904152 h 2107216"/>
              <a:gd name="csX10" fmla="*/ 2381189 w 2901339"/>
              <a:gd name="csY10" fmla="*/ 923658 h 2107216"/>
              <a:gd name="csX11" fmla="*/ 2351685 w 2901339"/>
              <a:gd name="csY11" fmla="*/ 939392 h 2107216"/>
              <a:gd name="csX12" fmla="*/ 2320154 w 2901339"/>
              <a:gd name="csY12" fmla="*/ 951030 h 2107216"/>
              <a:gd name="csX13" fmla="*/ 2286901 w 2901339"/>
              <a:gd name="csY13" fmla="*/ 958251 h 2107216"/>
              <a:gd name="csX14" fmla="*/ 2252230 w 2901339"/>
              <a:gd name="csY14" fmla="*/ 960730 h 2107216"/>
              <a:gd name="csX15" fmla="*/ 255505 w 2901339"/>
              <a:gd name="csY15" fmla="*/ 960730 h 2107216"/>
              <a:gd name="csX16" fmla="*/ 220834 w 2901339"/>
              <a:gd name="csY16" fmla="*/ 963208 h 2107216"/>
              <a:gd name="csX17" fmla="*/ 187581 w 2901339"/>
              <a:gd name="csY17" fmla="*/ 970429 h 2107216"/>
              <a:gd name="csX18" fmla="*/ 156050 w 2901339"/>
              <a:gd name="csY18" fmla="*/ 982068 h 2107216"/>
              <a:gd name="csX19" fmla="*/ 126546 w 2901339"/>
              <a:gd name="csY19" fmla="*/ 997801 h 2107216"/>
              <a:gd name="csX20" fmla="*/ 99372 w 2901339"/>
              <a:gd name="csY20" fmla="*/ 1017307 h 2107216"/>
              <a:gd name="csX21" fmla="*/ 74834 w 2901339"/>
              <a:gd name="csY21" fmla="*/ 1040259 h 2107216"/>
              <a:gd name="csX22" fmla="*/ 53237 w 2901339"/>
              <a:gd name="csY22" fmla="*/ 1066336 h 2107216"/>
              <a:gd name="csX23" fmla="*/ 34883 w 2901339"/>
              <a:gd name="csY23" fmla="*/ 1095215 h 2107216"/>
              <a:gd name="csX24" fmla="*/ 20078 w 2901339"/>
              <a:gd name="csY24" fmla="*/ 1126570 h 2107216"/>
              <a:gd name="csX25" fmla="*/ 9126 w 2901339"/>
              <a:gd name="csY25" fmla="*/ 1160079 h 2107216"/>
              <a:gd name="csX26" fmla="*/ 2332 w 2901339"/>
              <a:gd name="csY26" fmla="*/ 1195419 h 2107216"/>
              <a:gd name="csX27" fmla="*/ 0 w 2901339"/>
              <a:gd name="csY27" fmla="*/ 1232266 h 2107216"/>
              <a:gd name="csX28" fmla="*/ 0 w 2901339"/>
              <a:gd name="csY28" fmla="*/ 1835680 h 2107216"/>
              <a:gd name="csX29" fmla="*/ 2332 w 2901339"/>
              <a:gd name="csY29" fmla="*/ 1872526 h 2107216"/>
              <a:gd name="csX30" fmla="*/ 9126 w 2901339"/>
              <a:gd name="csY30" fmla="*/ 1907866 h 2107216"/>
              <a:gd name="csX31" fmla="*/ 20078 w 2901339"/>
              <a:gd name="csY31" fmla="*/ 1941375 h 2107216"/>
              <a:gd name="csX32" fmla="*/ 34883 w 2901339"/>
              <a:gd name="csY32" fmla="*/ 1972730 h 2107216"/>
              <a:gd name="csX33" fmla="*/ 53237 w 2901339"/>
              <a:gd name="csY33" fmla="*/ 2001608 h 2107216"/>
              <a:gd name="csX34" fmla="*/ 74834 w 2901339"/>
              <a:gd name="csY34" fmla="*/ 2027685 h 2107216"/>
              <a:gd name="csX35" fmla="*/ 99372 w 2901339"/>
              <a:gd name="csY35" fmla="*/ 2050638 h 2107216"/>
              <a:gd name="csX36" fmla="*/ 126546 w 2901339"/>
              <a:gd name="csY36" fmla="*/ 2070144 h 2107216"/>
              <a:gd name="csX37" fmla="*/ 156050 w 2901339"/>
              <a:gd name="csY37" fmla="*/ 2085878 h 2107216"/>
              <a:gd name="csX38" fmla="*/ 187581 w 2901339"/>
              <a:gd name="csY38" fmla="*/ 2097516 h 2107216"/>
              <a:gd name="csX39" fmla="*/ 220834 w 2901339"/>
              <a:gd name="csY39" fmla="*/ 2104737 h 2107216"/>
              <a:gd name="csX40" fmla="*/ 255505 w 2901339"/>
              <a:gd name="csY40" fmla="*/ 2107216 h 2107216"/>
              <a:gd name="csX41" fmla="*/ 2865272 w 2901339"/>
              <a:gd name="csY41" fmla="*/ 2107216 h 2107216"/>
              <a:gd name="csX42" fmla="*/ 2901339 w 2901339"/>
              <a:gd name="csY42" fmla="*/ 1143004 h 2107216"/>
              <a:gd name="csX0" fmla="*/ 2744475 w 2865272"/>
              <a:gd name="csY0" fmla="*/ 0 h 2107216"/>
              <a:gd name="csX1" fmla="*/ 2507736 w 2865272"/>
              <a:gd name="csY1" fmla="*/ 0 h 2107216"/>
              <a:gd name="csX2" fmla="*/ 2507736 w 2865272"/>
              <a:gd name="csY2" fmla="*/ 689194 h 2107216"/>
              <a:gd name="csX3" fmla="*/ 2505403 w 2865272"/>
              <a:gd name="csY3" fmla="*/ 726039 h 2107216"/>
              <a:gd name="csX4" fmla="*/ 2498608 w 2865272"/>
              <a:gd name="csY4" fmla="*/ 761380 h 2107216"/>
              <a:gd name="csX5" fmla="*/ 2487657 w 2865272"/>
              <a:gd name="csY5" fmla="*/ 794889 h 2107216"/>
              <a:gd name="csX6" fmla="*/ 2472852 w 2865272"/>
              <a:gd name="csY6" fmla="*/ 826245 h 2107216"/>
              <a:gd name="csX7" fmla="*/ 2454498 w 2865272"/>
              <a:gd name="csY7" fmla="*/ 855122 h 2107216"/>
              <a:gd name="csX8" fmla="*/ 2432901 w 2865272"/>
              <a:gd name="csY8" fmla="*/ 881200 h 2107216"/>
              <a:gd name="csX9" fmla="*/ 2408363 w 2865272"/>
              <a:gd name="csY9" fmla="*/ 904152 h 2107216"/>
              <a:gd name="csX10" fmla="*/ 2381189 w 2865272"/>
              <a:gd name="csY10" fmla="*/ 923658 h 2107216"/>
              <a:gd name="csX11" fmla="*/ 2351685 w 2865272"/>
              <a:gd name="csY11" fmla="*/ 939392 h 2107216"/>
              <a:gd name="csX12" fmla="*/ 2320154 w 2865272"/>
              <a:gd name="csY12" fmla="*/ 951030 h 2107216"/>
              <a:gd name="csX13" fmla="*/ 2286901 w 2865272"/>
              <a:gd name="csY13" fmla="*/ 958251 h 2107216"/>
              <a:gd name="csX14" fmla="*/ 2252230 w 2865272"/>
              <a:gd name="csY14" fmla="*/ 960730 h 2107216"/>
              <a:gd name="csX15" fmla="*/ 255505 w 2865272"/>
              <a:gd name="csY15" fmla="*/ 960730 h 2107216"/>
              <a:gd name="csX16" fmla="*/ 220834 w 2865272"/>
              <a:gd name="csY16" fmla="*/ 963208 h 2107216"/>
              <a:gd name="csX17" fmla="*/ 187581 w 2865272"/>
              <a:gd name="csY17" fmla="*/ 970429 h 2107216"/>
              <a:gd name="csX18" fmla="*/ 156050 w 2865272"/>
              <a:gd name="csY18" fmla="*/ 982068 h 2107216"/>
              <a:gd name="csX19" fmla="*/ 126546 w 2865272"/>
              <a:gd name="csY19" fmla="*/ 997801 h 2107216"/>
              <a:gd name="csX20" fmla="*/ 99372 w 2865272"/>
              <a:gd name="csY20" fmla="*/ 1017307 h 2107216"/>
              <a:gd name="csX21" fmla="*/ 74834 w 2865272"/>
              <a:gd name="csY21" fmla="*/ 1040259 h 2107216"/>
              <a:gd name="csX22" fmla="*/ 53237 w 2865272"/>
              <a:gd name="csY22" fmla="*/ 1066336 h 2107216"/>
              <a:gd name="csX23" fmla="*/ 34883 w 2865272"/>
              <a:gd name="csY23" fmla="*/ 1095215 h 2107216"/>
              <a:gd name="csX24" fmla="*/ 20078 w 2865272"/>
              <a:gd name="csY24" fmla="*/ 1126570 h 2107216"/>
              <a:gd name="csX25" fmla="*/ 9126 w 2865272"/>
              <a:gd name="csY25" fmla="*/ 1160079 h 2107216"/>
              <a:gd name="csX26" fmla="*/ 2332 w 2865272"/>
              <a:gd name="csY26" fmla="*/ 1195419 h 2107216"/>
              <a:gd name="csX27" fmla="*/ 0 w 2865272"/>
              <a:gd name="csY27" fmla="*/ 1232266 h 2107216"/>
              <a:gd name="csX28" fmla="*/ 0 w 2865272"/>
              <a:gd name="csY28" fmla="*/ 1835680 h 2107216"/>
              <a:gd name="csX29" fmla="*/ 2332 w 2865272"/>
              <a:gd name="csY29" fmla="*/ 1872526 h 2107216"/>
              <a:gd name="csX30" fmla="*/ 9126 w 2865272"/>
              <a:gd name="csY30" fmla="*/ 1907866 h 2107216"/>
              <a:gd name="csX31" fmla="*/ 20078 w 2865272"/>
              <a:gd name="csY31" fmla="*/ 1941375 h 2107216"/>
              <a:gd name="csX32" fmla="*/ 34883 w 2865272"/>
              <a:gd name="csY32" fmla="*/ 1972730 h 2107216"/>
              <a:gd name="csX33" fmla="*/ 53237 w 2865272"/>
              <a:gd name="csY33" fmla="*/ 2001608 h 2107216"/>
              <a:gd name="csX34" fmla="*/ 74834 w 2865272"/>
              <a:gd name="csY34" fmla="*/ 2027685 h 2107216"/>
              <a:gd name="csX35" fmla="*/ 99372 w 2865272"/>
              <a:gd name="csY35" fmla="*/ 2050638 h 2107216"/>
              <a:gd name="csX36" fmla="*/ 126546 w 2865272"/>
              <a:gd name="csY36" fmla="*/ 2070144 h 2107216"/>
              <a:gd name="csX37" fmla="*/ 156050 w 2865272"/>
              <a:gd name="csY37" fmla="*/ 2085878 h 2107216"/>
              <a:gd name="csX38" fmla="*/ 187581 w 2865272"/>
              <a:gd name="csY38" fmla="*/ 2097516 h 2107216"/>
              <a:gd name="csX39" fmla="*/ 220834 w 2865272"/>
              <a:gd name="csY39" fmla="*/ 2104737 h 2107216"/>
              <a:gd name="csX40" fmla="*/ 255505 w 2865272"/>
              <a:gd name="csY40" fmla="*/ 2107216 h 2107216"/>
              <a:gd name="csX41" fmla="*/ 2865272 w 2865272"/>
              <a:gd name="csY41" fmla="*/ 2107216 h 2107216"/>
              <a:gd name="csX0" fmla="*/ 2507736 w 2865272"/>
              <a:gd name="csY0" fmla="*/ 0 h 2107216"/>
              <a:gd name="csX1" fmla="*/ 2507736 w 2865272"/>
              <a:gd name="csY1" fmla="*/ 689194 h 2107216"/>
              <a:gd name="csX2" fmla="*/ 2505403 w 2865272"/>
              <a:gd name="csY2" fmla="*/ 726039 h 2107216"/>
              <a:gd name="csX3" fmla="*/ 2498608 w 2865272"/>
              <a:gd name="csY3" fmla="*/ 761380 h 2107216"/>
              <a:gd name="csX4" fmla="*/ 2487657 w 2865272"/>
              <a:gd name="csY4" fmla="*/ 794889 h 2107216"/>
              <a:gd name="csX5" fmla="*/ 2472852 w 2865272"/>
              <a:gd name="csY5" fmla="*/ 826245 h 2107216"/>
              <a:gd name="csX6" fmla="*/ 2454498 w 2865272"/>
              <a:gd name="csY6" fmla="*/ 855122 h 2107216"/>
              <a:gd name="csX7" fmla="*/ 2432901 w 2865272"/>
              <a:gd name="csY7" fmla="*/ 881200 h 2107216"/>
              <a:gd name="csX8" fmla="*/ 2408363 w 2865272"/>
              <a:gd name="csY8" fmla="*/ 904152 h 2107216"/>
              <a:gd name="csX9" fmla="*/ 2381189 w 2865272"/>
              <a:gd name="csY9" fmla="*/ 923658 h 2107216"/>
              <a:gd name="csX10" fmla="*/ 2351685 w 2865272"/>
              <a:gd name="csY10" fmla="*/ 939392 h 2107216"/>
              <a:gd name="csX11" fmla="*/ 2320154 w 2865272"/>
              <a:gd name="csY11" fmla="*/ 951030 h 2107216"/>
              <a:gd name="csX12" fmla="*/ 2286901 w 2865272"/>
              <a:gd name="csY12" fmla="*/ 958251 h 2107216"/>
              <a:gd name="csX13" fmla="*/ 2252230 w 2865272"/>
              <a:gd name="csY13" fmla="*/ 960730 h 2107216"/>
              <a:gd name="csX14" fmla="*/ 255505 w 2865272"/>
              <a:gd name="csY14" fmla="*/ 960730 h 2107216"/>
              <a:gd name="csX15" fmla="*/ 220834 w 2865272"/>
              <a:gd name="csY15" fmla="*/ 963208 h 2107216"/>
              <a:gd name="csX16" fmla="*/ 187581 w 2865272"/>
              <a:gd name="csY16" fmla="*/ 970429 h 2107216"/>
              <a:gd name="csX17" fmla="*/ 156050 w 2865272"/>
              <a:gd name="csY17" fmla="*/ 982068 h 2107216"/>
              <a:gd name="csX18" fmla="*/ 126546 w 2865272"/>
              <a:gd name="csY18" fmla="*/ 997801 h 2107216"/>
              <a:gd name="csX19" fmla="*/ 99372 w 2865272"/>
              <a:gd name="csY19" fmla="*/ 1017307 h 2107216"/>
              <a:gd name="csX20" fmla="*/ 74834 w 2865272"/>
              <a:gd name="csY20" fmla="*/ 1040259 h 2107216"/>
              <a:gd name="csX21" fmla="*/ 53237 w 2865272"/>
              <a:gd name="csY21" fmla="*/ 1066336 h 2107216"/>
              <a:gd name="csX22" fmla="*/ 34883 w 2865272"/>
              <a:gd name="csY22" fmla="*/ 1095215 h 2107216"/>
              <a:gd name="csX23" fmla="*/ 20078 w 2865272"/>
              <a:gd name="csY23" fmla="*/ 1126570 h 2107216"/>
              <a:gd name="csX24" fmla="*/ 9126 w 2865272"/>
              <a:gd name="csY24" fmla="*/ 1160079 h 2107216"/>
              <a:gd name="csX25" fmla="*/ 2332 w 2865272"/>
              <a:gd name="csY25" fmla="*/ 1195419 h 2107216"/>
              <a:gd name="csX26" fmla="*/ 0 w 2865272"/>
              <a:gd name="csY26" fmla="*/ 1232266 h 2107216"/>
              <a:gd name="csX27" fmla="*/ 0 w 2865272"/>
              <a:gd name="csY27" fmla="*/ 1835680 h 2107216"/>
              <a:gd name="csX28" fmla="*/ 2332 w 2865272"/>
              <a:gd name="csY28" fmla="*/ 1872526 h 2107216"/>
              <a:gd name="csX29" fmla="*/ 9126 w 2865272"/>
              <a:gd name="csY29" fmla="*/ 1907866 h 2107216"/>
              <a:gd name="csX30" fmla="*/ 20078 w 2865272"/>
              <a:gd name="csY30" fmla="*/ 1941375 h 2107216"/>
              <a:gd name="csX31" fmla="*/ 34883 w 2865272"/>
              <a:gd name="csY31" fmla="*/ 1972730 h 2107216"/>
              <a:gd name="csX32" fmla="*/ 53237 w 2865272"/>
              <a:gd name="csY32" fmla="*/ 2001608 h 2107216"/>
              <a:gd name="csX33" fmla="*/ 74834 w 2865272"/>
              <a:gd name="csY33" fmla="*/ 2027685 h 2107216"/>
              <a:gd name="csX34" fmla="*/ 99372 w 2865272"/>
              <a:gd name="csY34" fmla="*/ 2050638 h 2107216"/>
              <a:gd name="csX35" fmla="*/ 126546 w 2865272"/>
              <a:gd name="csY35" fmla="*/ 2070144 h 2107216"/>
              <a:gd name="csX36" fmla="*/ 156050 w 2865272"/>
              <a:gd name="csY36" fmla="*/ 2085878 h 2107216"/>
              <a:gd name="csX37" fmla="*/ 187581 w 2865272"/>
              <a:gd name="csY37" fmla="*/ 2097516 h 2107216"/>
              <a:gd name="csX38" fmla="*/ 220834 w 2865272"/>
              <a:gd name="csY38" fmla="*/ 2104737 h 2107216"/>
              <a:gd name="csX39" fmla="*/ 255505 w 2865272"/>
              <a:gd name="csY39" fmla="*/ 2107216 h 2107216"/>
              <a:gd name="csX40" fmla="*/ 2865272 w 2865272"/>
              <a:gd name="csY40" fmla="*/ 2107216 h 21072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2865272" h="2107216">
                <a:moveTo>
                  <a:pt x="2507736" y="0"/>
                </a:moveTo>
                <a:lnTo>
                  <a:pt x="2507736" y="689194"/>
                </a:lnTo>
                <a:lnTo>
                  <a:pt x="2505403" y="726039"/>
                </a:lnTo>
                <a:lnTo>
                  <a:pt x="2498608" y="761380"/>
                </a:lnTo>
                <a:lnTo>
                  <a:pt x="2487657" y="794889"/>
                </a:lnTo>
                <a:lnTo>
                  <a:pt x="2472852" y="826245"/>
                </a:lnTo>
                <a:lnTo>
                  <a:pt x="2454498" y="855122"/>
                </a:lnTo>
                <a:lnTo>
                  <a:pt x="2432901" y="881200"/>
                </a:lnTo>
                <a:lnTo>
                  <a:pt x="2408363" y="904152"/>
                </a:lnTo>
                <a:lnTo>
                  <a:pt x="2381189" y="923658"/>
                </a:lnTo>
                <a:lnTo>
                  <a:pt x="2351685" y="939392"/>
                </a:lnTo>
                <a:lnTo>
                  <a:pt x="2320154" y="951030"/>
                </a:lnTo>
                <a:lnTo>
                  <a:pt x="2286901" y="958251"/>
                </a:lnTo>
                <a:lnTo>
                  <a:pt x="2252230" y="960730"/>
                </a:lnTo>
                <a:lnTo>
                  <a:pt x="255505" y="960730"/>
                </a:lnTo>
                <a:lnTo>
                  <a:pt x="220834" y="963208"/>
                </a:lnTo>
                <a:lnTo>
                  <a:pt x="187581" y="970429"/>
                </a:lnTo>
                <a:lnTo>
                  <a:pt x="156050" y="982068"/>
                </a:lnTo>
                <a:lnTo>
                  <a:pt x="126546" y="997801"/>
                </a:lnTo>
                <a:lnTo>
                  <a:pt x="99372" y="1017307"/>
                </a:lnTo>
                <a:lnTo>
                  <a:pt x="74834" y="1040259"/>
                </a:lnTo>
                <a:lnTo>
                  <a:pt x="53237" y="1066336"/>
                </a:lnTo>
                <a:lnTo>
                  <a:pt x="34883" y="1095215"/>
                </a:lnTo>
                <a:lnTo>
                  <a:pt x="20078" y="1126570"/>
                </a:lnTo>
                <a:lnTo>
                  <a:pt x="9126" y="1160079"/>
                </a:lnTo>
                <a:lnTo>
                  <a:pt x="2332" y="1195419"/>
                </a:lnTo>
                <a:lnTo>
                  <a:pt x="0" y="1232266"/>
                </a:lnTo>
                <a:lnTo>
                  <a:pt x="0" y="1835680"/>
                </a:lnTo>
                <a:lnTo>
                  <a:pt x="2332" y="1872526"/>
                </a:lnTo>
                <a:lnTo>
                  <a:pt x="9126" y="1907866"/>
                </a:lnTo>
                <a:lnTo>
                  <a:pt x="20078" y="1941375"/>
                </a:lnTo>
                <a:lnTo>
                  <a:pt x="34883" y="1972730"/>
                </a:lnTo>
                <a:lnTo>
                  <a:pt x="53237" y="2001608"/>
                </a:lnTo>
                <a:lnTo>
                  <a:pt x="74834" y="2027685"/>
                </a:lnTo>
                <a:lnTo>
                  <a:pt x="99372" y="2050638"/>
                </a:lnTo>
                <a:lnTo>
                  <a:pt x="126546" y="2070144"/>
                </a:lnTo>
                <a:lnTo>
                  <a:pt x="156050" y="2085878"/>
                </a:lnTo>
                <a:lnTo>
                  <a:pt x="187581" y="2097516"/>
                </a:lnTo>
                <a:lnTo>
                  <a:pt x="220834" y="2104737"/>
                </a:lnTo>
                <a:lnTo>
                  <a:pt x="255505" y="2107216"/>
                </a:lnTo>
                <a:lnTo>
                  <a:pt x="2865272" y="2107216"/>
                </a:lnTo>
              </a:path>
            </a:pathLst>
          </a:custGeom>
          <a:ln w="12700">
            <a:solidFill>
              <a:schemeClr val="accent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380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818E963-3F2E-7491-85DA-05AF70E0F5C0}"/>
              </a:ext>
            </a:extLst>
          </p:cNvPr>
          <p:cNvSpPr/>
          <p:nvPr userDrawn="1"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21" name="Free-form: Shape 20">
            <a:extLst>
              <a:ext uri="{FF2B5EF4-FFF2-40B4-BE49-F238E27FC236}">
                <a16:creationId xmlns:a16="http://schemas.microsoft.com/office/drawing/2014/main" id="{AD12ADDB-3C1B-6E3E-2DE1-5A4DD0715FD8}"/>
              </a:ext>
            </a:extLst>
          </p:cNvPr>
          <p:cNvSpPr/>
          <p:nvPr userDrawn="1"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24" name="Free-form: Shape 23">
            <a:extLst>
              <a:ext uri="{FF2B5EF4-FFF2-40B4-BE49-F238E27FC236}">
                <a16:creationId xmlns:a16="http://schemas.microsoft.com/office/drawing/2014/main" id="{DFD96E11-8BC5-A5DF-DD53-B85244FEAE4B}"/>
              </a:ext>
            </a:extLst>
          </p:cNvPr>
          <p:cNvSpPr/>
          <p:nvPr userDrawn="1"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26" name="Free-form: Shape 25">
            <a:extLst>
              <a:ext uri="{FF2B5EF4-FFF2-40B4-BE49-F238E27FC236}">
                <a16:creationId xmlns:a16="http://schemas.microsoft.com/office/drawing/2014/main" id="{FE486EFD-BB89-B39B-5926-5F7E6F99F3EF}"/>
              </a:ext>
            </a:extLst>
          </p:cNvPr>
          <p:cNvSpPr/>
          <p:nvPr userDrawn="1"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28" name="Free-form: Shape 27">
            <a:extLst>
              <a:ext uri="{FF2B5EF4-FFF2-40B4-BE49-F238E27FC236}">
                <a16:creationId xmlns:a16="http://schemas.microsoft.com/office/drawing/2014/main" id="{13D55F9A-61DB-0997-A6F7-C472E3B9EB7A}"/>
              </a:ext>
            </a:extLst>
          </p:cNvPr>
          <p:cNvSpPr/>
          <p:nvPr userDrawn="1"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</p:sp>
      <p:sp>
        <p:nvSpPr>
          <p:cNvPr id="30" name="Free-form: Shape 29">
            <a:extLst>
              <a:ext uri="{FF2B5EF4-FFF2-40B4-BE49-F238E27FC236}">
                <a16:creationId xmlns:a16="http://schemas.microsoft.com/office/drawing/2014/main" id="{D856D65C-301A-A2E5-6419-1DC588CD730D}"/>
              </a:ext>
            </a:extLst>
          </p:cNvPr>
          <p:cNvSpPr/>
          <p:nvPr userDrawn="1"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32" name="Free-form: Shape 31">
            <a:extLst>
              <a:ext uri="{FF2B5EF4-FFF2-40B4-BE49-F238E27FC236}">
                <a16:creationId xmlns:a16="http://schemas.microsoft.com/office/drawing/2014/main" id="{5A497FAA-7013-F2A9-9946-08DBE2586146}"/>
              </a:ext>
            </a:extLst>
          </p:cNvPr>
          <p:cNvSpPr/>
          <p:nvPr userDrawn="1"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34" name="Free-form: Shape 33">
            <a:extLst>
              <a:ext uri="{FF2B5EF4-FFF2-40B4-BE49-F238E27FC236}">
                <a16:creationId xmlns:a16="http://schemas.microsoft.com/office/drawing/2014/main" id="{45B0F719-2F21-57A5-133F-18C6874482F9}"/>
              </a:ext>
            </a:extLst>
          </p:cNvPr>
          <p:cNvSpPr/>
          <p:nvPr userDrawn="1"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E8051554-A5B9-18FD-35A8-5E5EE9DD0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 userDrawn="1"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656013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90928F7-ECEB-840C-1592-0CD7B42B67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34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0FB980F-5DAF-FF8A-ADE8-B11764D4D8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DA7848E-635E-087B-03A6-10F8ADEEBE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46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5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5704076-DFF0-8DDE-B108-CEBFDF8E6D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830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6"/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F1B33CB-D9BB-BBA1-AF10-03D16F68C4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926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E1A64D7-4A28-8BB1-9C23-07BFCDAD2B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03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hapter Divid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C747012-D77F-DB69-316B-EF29B37B379E}"/>
              </a:ext>
            </a:extLst>
          </p:cNvPr>
          <p:cNvSpPr/>
          <p:nvPr/>
        </p:nvSpPr>
        <p:spPr>
          <a:xfrm>
            <a:off x="0" y="0"/>
            <a:ext cx="12193200" cy="6858651"/>
          </a:xfrm>
          <a:prstGeom prst="rect">
            <a:avLst/>
          </a:prstGeom>
          <a:solidFill>
            <a:schemeClr val="accent2"/>
          </a:solidFill>
          <a:ln w="6350" cap="flat">
            <a:noFill/>
            <a:prstDash val="solid"/>
            <a:miter/>
          </a:ln>
        </p:spPr>
      </p:sp>
      <p:sp>
        <p:nvSpPr>
          <p:cNvPr id="7" name="Free-form: Shape 6">
            <a:extLst>
              <a:ext uri="{FF2B5EF4-FFF2-40B4-BE49-F238E27FC236}">
                <a16:creationId xmlns:a16="http://schemas.microsoft.com/office/drawing/2014/main" id="{C99AA4A6-3328-0E08-974A-A735D306FCD5}"/>
              </a:ext>
            </a:extLst>
          </p:cNvPr>
          <p:cNvSpPr/>
          <p:nvPr/>
        </p:nvSpPr>
        <p:spPr>
          <a:xfrm>
            <a:off x="7083867" y="3429325"/>
            <a:ext cx="3671042" cy="2636008"/>
          </a:xfrm>
          <a:custGeom>
            <a:avLst/>
            <a:gdLst>
              <a:gd name="csX0" fmla="*/ 3671043 w 3671042"/>
              <a:gd name="csY0" fmla="*/ 0 h 2636008"/>
              <a:gd name="csX1" fmla="*/ 2060461 w 3671042"/>
              <a:gd name="csY1" fmla="*/ 2313017 h 2636008"/>
              <a:gd name="csX2" fmla="*/ 1837808 w 3671042"/>
              <a:gd name="csY2" fmla="*/ 2632706 h 2636008"/>
              <a:gd name="csX3" fmla="*/ 1835521 w 3671042"/>
              <a:gd name="csY3" fmla="*/ 2636009 h 2636008"/>
              <a:gd name="csX4" fmla="*/ 0 w 3671042"/>
              <a:gd name="csY4" fmla="*/ 0 h 2636008"/>
              <a:gd name="csX5" fmla="*/ 3671043 w 3671042"/>
              <a:gd name="csY5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671042" h="2636008">
                <a:moveTo>
                  <a:pt x="3671043" y="0"/>
                </a:moveTo>
                <a:lnTo>
                  <a:pt x="2060461" y="2313017"/>
                </a:lnTo>
                <a:lnTo>
                  <a:pt x="1837808" y="2632706"/>
                </a:lnTo>
                <a:lnTo>
                  <a:pt x="1835521" y="2636009"/>
                </a:lnTo>
                <a:lnTo>
                  <a:pt x="0" y="0"/>
                </a:lnTo>
                <a:lnTo>
                  <a:pt x="3671043" y="0"/>
                </a:lnTo>
                <a:close/>
              </a:path>
            </a:pathLst>
          </a:custGeom>
          <a:solidFill>
            <a:srgbClr val="0C7C87"/>
          </a:solidFill>
          <a:ln w="6350" cap="flat">
            <a:noFill/>
            <a:prstDash val="solid"/>
            <a:miter/>
          </a:ln>
        </p:spPr>
      </p:sp>
      <p:sp>
        <p:nvSpPr>
          <p:cNvPr id="9" name="Free-form: Shape 8">
            <a:extLst>
              <a:ext uri="{FF2B5EF4-FFF2-40B4-BE49-F238E27FC236}">
                <a16:creationId xmlns:a16="http://schemas.microsoft.com/office/drawing/2014/main" id="{B3DAF965-6C19-736B-EDC5-44FF730B4E79}"/>
              </a:ext>
            </a:extLst>
          </p:cNvPr>
          <p:cNvSpPr/>
          <p:nvPr/>
        </p:nvSpPr>
        <p:spPr>
          <a:xfrm>
            <a:off x="8919389" y="6062031"/>
            <a:ext cx="4635" cy="3302"/>
          </a:xfrm>
          <a:custGeom>
            <a:avLst/>
            <a:gdLst>
              <a:gd name="csX0" fmla="*/ 4636 w 4635"/>
              <a:gd name="csY0" fmla="*/ 3302 h 3302"/>
              <a:gd name="csX1" fmla="*/ 0 w 4635"/>
              <a:gd name="csY1" fmla="*/ 3302 h 3302"/>
              <a:gd name="csX2" fmla="*/ 2286 w 4635"/>
              <a:gd name="csY2" fmla="*/ 0 h 3302"/>
              <a:gd name="csX3" fmla="*/ 4636 w 4635"/>
              <a:gd name="csY3" fmla="*/ 3302 h 33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35" h="3302">
                <a:moveTo>
                  <a:pt x="4636" y="3302"/>
                </a:moveTo>
                <a:lnTo>
                  <a:pt x="0" y="3302"/>
                </a:lnTo>
                <a:lnTo>
                  <a:pt x="2286" y="0"/>
                </a:lnTo>
                <a:lnTo>
                  <a:pt x="4636" y="3302"/>
                </a:lnTo>
                <a:close/>
              </a:path>
            </a:pathLst>
          </a:custGeom>
          <a:noFill/>
          <a:ln w="6350" cap="flat">
            <a:solidFill>
              <a:srgbClr val="FF5B00"/>
            </a:solidFill>
            <a:prstDash val="solid"/>
            <a:miter/>
          </a:ln>
        </p:spPr>
      </p:sp>
      <p:sp>
        <p:nvSpPr>
          <p:cNvPr id="13" name="Free-form: Shape 12">
            <a:extLst>
              <a:ext uri="{FF2B5EF4-FFF2-40B4-BE49-F238E27FC236}">
                <a16:creationId xmlns:a16="http://schemas.microsoft.com/office/drawing/2014/main" id="{8C83DC9E-CE27-7B8F-433C-9D1910749464}"/>
              </a:ext>
            </a:extLst>
          </p:cNvPr>
          <p:cNvSpPr/>
          <p:nvPr/>
        </p:nvSpPr>
        <p:spPr>
          <a:xfrm>
            <a:off x="5248410" y="6065334"/>
            <a:ext cx="4231929" cy="798969"/>
          </a:xfrm>
          <a:custGeom>
            <a:avLst/>
            <a:gdLst>
              <a:gd name="csX0" fmla="*/ 4231929 w 4231929"/>
              <a:gd name="csY0" fmla="*/ 798969 h 798969"/>
              <a:gd name="csX1" fmla="*/ 556251 w 4231929"/>
              <a:gd name="csY1" fmla="*/ 798969 h 798969"/>
              <a:gd name="csX2" fmla="*/ 0 w 4231929"/>
              <a:gd name="csY2" fmla="*/ 127 h 798969"/>
              <a:gd name="csX3" fmla="*/ 3670979 w 4231929"/>
              <a:gd name="csY3" fmla="*/ 127 h 798969"/>
              <a:gd name="csX4" fmla="*/ 3670979 w 4231929"/>
              <a:gd name="csY4" fmla="*/ 0 h 798969"/>
              <a:gd name="csX5" fmla="*/ 3675615 w 4231929"/>
              <a:gd name="csY5" fmla="*/ 0 h 798969"/>
              <a:gd name="csX6" fmla="*/ 4231929 w 4231929"/>
              <a:gd name="csY6" fmla="*/ 798969 h 7989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231929" h="798969">
                <a:moveTo>
                  <a:pt x="4231929" y="798969"/>
                </a:moveTo>
                <a:lnTo>
                  <a:pt x="556251" y="798969"/>
                </a:lnTo>
                <a:lnTo>
                  <a:pt x="0" y="127"/>
                </a:lnTo>
                <a:lnTo>
                  <a:pt x="3670979" y="127"/>
                </a:lnTo>
                <a:lnTo>
                  <a:pt x="3670979" y="0"/>
                </a:lnTo>
                <a:lnTo>
                  <a:pt x="3675615" y="0"/>
                </a:lnTo>
                <a:lnTo>
                  <a:pt x="4231929" y="798969"/>
                </a:lnTo>
                <a:close/>
              </a:path>
            </a:pathLst>
          </a:custGeom>
          <a:solidFill>
            <a:srgbClr val="0A9197"/>
          </a:solidFill>
          <a:ln w="6350" cap="flat">
            <a:noFill/>
            <a:prstDash val="solid"/>
            <a:miter/>
          </a:ln>
        </p:spPr>
      </p:sp>
      <p:sp>
        <p:nvSpPr>
          <p:cNvPr id="14" name="Free-form: Shape 13">
            <a:extLst>
              <a:ext uri="{FF2B5EF4-FFF2-40B4-BE49-F238E27FC236}">
                <a16:creationId xmlns:a16="http://schemas.microsoft.com/office/drawing/2014/main" id="{C473325A-19C1-6EAF-23CF-0F3CFAEE345A}"/>
              </a:ext>
            </a:extLst>
          </p:cNvPr>
          <p:cNvSpPr/>
          <p:nvPr/>
        </p:nvSpPr>
        <p:spPr>
          <a:xfrm>
            <a:off x="5248410" y="793190"/>
            <a:ext cx="3670978" cy="2636008"/>
          </a:xfrm>
          <a:custGeom>
            <a:avLst/>
            <a:gdLst>
              <a:gd name="csX0" fmla="*/ 1835457 w 3670978"/>
              <a:gd name="csY0" fmla="*/ 2636008 h 2636008"/>
              <a:gd name="csX1" fmla="*/ 0 w 3670978"/>
              <a:gd name="csY1" fmla="*/ 0 h 2636008"/>
              <a:gd name="csX2" fmla="*/ 3670979 w 3670978"/>
              <a:gd name="csY2" fmla="*/ 0 h 2636008"/>
              <a:gd name="csX3" fmla="*/ 1835457 w 3670978"/>
              <a:gd name="csY3" fmla="*/ 2636008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2636008"/>
                </a:moveTo>
                <a:lnTo>
                  <a:pt x="0" y="0"/>
                </a:lnTo>
                <a:lnTo>
                  <a:pt x="3670979" y="0"/>
                </a:lnTo>
                <a:lnTo>
                  <a:pt x="1835457" y="2636008"/>
                </a:lnTo>
                <a:close/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 w="6350" cap="flat">
            <a:noFill/>
            <a:prstDash val="solid"/>
            <a:miter/>
          </a:ln>
        </p:spPr>
      </p:sp>
      <p:sp>
        <p:nvSpPr>
          <p:cNvPr id="16" name="Free-form: Shape 15">
            <a:extLst>
              <a:ext uri="{FF2B5EF4-FFF2-40B4-BE49-F238E27FC236}">
                <a16:creationId xmlns:a16="http://schemas.microsoft.com/office/drawing/2014/main" id="{325C6309-67BD-A463-C44C-DCE2DB520666}"/>
              </a:ext>
            </a:extLst>
          </p:cNvPr>
          <p:cNvSpPr/>
          <p:nvPr/>
        </p:nvSpPr>
        <p:spPr>
          <a:xfrm>
            <a:off x="7083867" y="793190"/>
            <a:ext cx="3671042" cy="2636008"/>
          </a:xfrm>
          <a:custGeom>
            <a:avLst/>
            <a:gdLst>
              <a:gd name="csX0" fmla="*/ 1835521 w 3671042"/>
              <a:gd name="csY0" fmla="*/ 0 h 2636008"/>
              <a:gd name="csX1" fmla="*/ 3671043 w 3671042"/>
              <a:gd name="csY1" fmla="*/ 2636008 h 2636008"/>
              <a:gd name="csX2" fmla="*/ 0 w 3671042"/>
              <a:gd name="csY2" fmla="*/ 2636008 h 2636008"/>
              <a:gd name="csX3" fmla="*/ 1835521 w 3671042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1042" h="2636008">
                <a:moveTo>
                  <a:pt x="1835521" y="0"/>
                </a:moveTo>
                <a:lnTo>
                  <a:pt x="3671043" y="2636008"/>
                </a:lnTo>
                <a:lnTo>
                  <a:pt x="0" y="2636008"/>
                </a:lnTo>
                <a:lnTo>
                  <a:pt x="1835521" y="0"/>
                </a:lnTo>
                <a:close/>
              </a:path>
            </a:pathLst>
          </a:custGeom>
          <a:solidFill>
            <a:srgbClr val="06BDB8"/>
          </a:solidFill>
          <a:ln w="6350" cap="flat">
            <a:noFill/>
            <a:prstDash val="solid"/>
            <a:miter/>
          </a:ln>
        </p:spPr>
      </p:sp>
      <p:sp>
        <p:nvSpPr>
          <p:cNvPr id="17" name="Free-form: Shape 16">
            <a:extLst>
              <a:ext uri="{FF2B5EF4-FFF2-40B4-BE49-F238E27FC236}">
                <a16:creationId xmlns:a16="http://schemas.microsoft.com/office/drawing/2014/main" id="{1F54EF0C-6112-FB6F-8919-E9B3A0C734BD}"/>
              </a:ext>
            </a:extLst>
          </p:cNvPr>
          <p:cNvSpPr/>
          <p:nvPr/>
        </p:nvSpPr>
        <p:spPr>
          <a:xfrm>
            <a:off x="8921675" y="3429325"/>
            <a:ext cx="3271524" cy="3434977"/>
          </a:xfrm>
          <a:custGeom>
            <a:avLst/>
            <a:gdLst>
              <a:gd name="csX0" fmla="*/ 3271525 w 3271524"/>
              <a:gd name="csY0" fmla="*/ 2065597 h 3434977"/>
              <a:gd name="csX1" fmla="*/ 3271525 w 3271524"/>
              <a:gd name="csY1" fmla="*/ 3434978 h 3434977"/>
              <a:gd name="csX2" fmla="*/ 558664 w 3271524"/>
              <a:gd name="csY2" fmla="*/ 3434978 h 3434977"/>
              <a:gd name="csX3" fmla="*/ 2350 w 3271524"/>
              <a:gd name="csY3" fmla="*/ 2636009 h 3434977"/>
              <a:gd name="csX4" fmla="*/ 0 w 3271524"/>
              <a:gd name="csY4" fmla="*/ 2632706 h 3434977"/>
              <a:gd name="csX5" fmla="*/ 222653 w 3271524"/>
              <a:gd name="csY5" fmla="*/ 2313017 h 3434977"/>
              <a:gd name="csX6" fmla="*/ 1833235 w 3271524"/>
              <a:gd name="csY6" fmla="*/ 0 h 3434977"/>
              <a:gd name="csX7" fmla="*/ 3271525 w 3271524"/>
              <a:gd name="csY7" fmla="*/ 2065597 h 34349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271524" h="3434977">
                <a:moveTo>
                  <a:pt x="3271525" y="2065597"/>
                </a:moveTo>
                <a:lnTo>
                  <a:pt x="3271525" y="3434978"/>
                </a:lnTo>
                <a:lnTo>
                  <a:pt x="558664" y="3434978"/>
                </a:lnTo>
                <a:lnTo>
                  <a:pt x="2350" y="2636009"/>
                </a:lnTo>
                <a:lnTo>
                  <a:pt x="0" y="2632706"/>
                </a:lnTo>
                <a:lnTo>
                  <a:pt x="222653" y="2313017"/>
                </a:lnTo>
                <a:lnTo>
                  <a:pt x="1833235" y="0"/>
                </a:lnTo>
                <a:lnTo>
                  <a:pt x="3271525" y="2065597"/>
                </a:lnTo>
                <a:close/>
              </a:path>
            </a:pathLst>
          </a:custGeom>
          <a:solidFill>
            <a:srgbClr val="05D6D0"/>
          </a:solidFill>
          <a:ln w="6350" cap="flat">
            <a:noFill/>
            <a:prstDash val="solid"/>
            <a:miter/>
          </a:ln>
        </p:spPr>
      </p:sp>
      <p:sp>
        <p:nvSpPr>
          <p:cNvPr id="18" name="Free-form: Shape 17">
            <a:extLst>
              <a:ext uri="{FF2B5EF4-FFF2-40B4-BE49-F238E27FC236}">
                <a16:creationId xmlns:a16="http://schemas.microsoft.com/office/drawing/2014/main" id="{EFCB2320-288E-74B1-0DB5-EF00F038B591}"/>
              </a:ext>
            </a:extLst>
          </p:cNvPr>
          <p:cNvSpPr/>
          <p:nvPr/>
        </p:nvSpPr>
        <p:spPr>
          <a:xfrm>
            <a:off x="5248410" y="3429325"/>
            <a:ext cx="3670978" cy="2636008"/>
          </a:xfrm>
          <a:custGeom>
            <a:avLst/>
            <a:gdLst>
              <a:gd name="csX0" fmla="*/ 1835457 w 3670978"/>
              <a:gd name="csY0" fmla="*/ 0 h 2636008"/>
              <a:gd name="csX1" fmla="*/ 3670979 w 3670978"/>
              <a:gd name="csY1" fmla="*/ 2636009 h 2636008"/>
              <a:gd name="csX2" fmla="*/ 0 w 3670978"/>
              <a:gd name="csY2" fmla="*/ 2636009 h 2636008"/>
              <a:gd name="csX3" fmla="*/ 1835457 w 3670978"/>
              <a:gd name="csY3" fmla="*/ 0 h 26360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670978" h="2636008">
                <a:moveTo>
                  <a:pt x="1835457" y="0"/>
                </a:moveTo>
                <a:lnTo>
                  <a:pt x="3670979" y="2636009"/>
                </a:lnTo>
                <a:lnTo>
                  <a:pt x="0" y="2636009"/>
                </a:lnTo>
                <a:lnTo>
                  <a:pt x="1835457" y="0"/>
                </a:lnTo>
                <a:close/>
              </a:path>
            </a:pathLst>
          </a:custGeom>
          <a:solidFill>
            <a:srgbClr val="0F5066"/>
          </a:solidFill>
          <a:ln w="6350" cap="flat">
            <a:noFill/>
            <a:prstDash val="solid"/>
            <a:miter/>
          </a:ln>
        </p:spPr>
      </p:sp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51582104"/>
              </p:ext>
            </p:extLst>
          </p:nvPr>
        </p:nvGraphicFramePr>
        <p:xfrm>
          <a:off x="2118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18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211667" cy="1587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</a:pPr>
            <a:endParaRPr lang="en-US" sz="3200" b="1" i="0" baseline="0">
              <a:solidFill>
                <a:schemeClr val="tx1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2" name="Rectangle 21" hidden="1"/>
          <p:cNvSpPr/>
          <p:nvPr/>
        </p:nvSpPr>
        <p:spPr>
          <a:xfrm>
            <a:off x="1" y="0"/>
            <a:ext cx="12192000" cy="4449198"/>
          </a:xfrm>
          <a:prstGeom prst="rect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2000">
                <a:srgbClr val="96321A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hidden="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874" y="6505258"/>
            <a:ext cx="1781463" cy="190183"/>
          </a:xfrm>
          <a:prstGeom prst="rect">
            <a:avLst/>
          </a:prstGeom>
        </p:spPr>
      </p:pic>
      <p:pic>
        <p:nvPicPr>
          <p:cNvPr id="6" name="Picture 5" hidden="1"/>
          <p:cNvPicPr>
            <a:picLocks noChangeAspect="1"/>
          </p:cNvPicPr>
          <p:nvPr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5553D6B-1AB3-F9E6-B10E-2D8E39D44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143" y="2884202"/>
            <a:ext cx="6028357" cy="443198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lang="en-US" sz="3200" b="1" i="0" kern="1200" cap="none" spc="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Chapter Title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8A0A9B-5545-F46C-F38D-A0118D2F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77" y="3496390"/>
            <a:ext cx="6029185" cy="358816"/>
          </a:xfrm>
        </p:spPr>
        <p:txBody>
          <a:bodyPr wrap="square" anchor="b" anchorCtr="0">
            <a:spAutoFit/>
          </a:bodyPr>
          <a:lstStyle>
            <a:lvl1pPr marL="0" indent="0">
              <a:buNone/>
              <a:defRPr sz="22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DB2F15FF-5A23-96D8-804A-873FD8D157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80" y="1131200"/>
            <a:ext cx="968214" cy="967957"/>
          </a:xfrm>
        </p:spPr>
        <p:txBody>
          <a:bodyPr wrap="none" anchor="t">
            <a:spAutoFit/>
          </a:bodyPr>
          <a:lstStyle>
            <a:lvl1pPr algn="ctr">
              <a:defRPr sz="6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GB"/>
              <a:t>##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CEB5B44-7766-1F53-4D74-B1E42C4DDB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143" y="6062031"/>
            <a:ext cx="17145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7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0" userDrawn="1">
          <p15:clr>
            <a:srgbClr val="FBAE40"/>
          </p15:clr>
        </p15:guide>
        <p15:guide id="2" pos="512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08098-063D-1A53-38CF-CE43972ED8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AB611D-B404-64B9-9423-2684C2232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438740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2F1FE6-FECE-8121-4A23-E7CC15AE94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4FD5771-EB0D-852E-B39F-A7179714DA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4BE570B-1264-0008-B6A6-A243FFD57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3524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2F1FE6-FECE-8121-4A23-E7CC15AE94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0B0DB71-1C5A-DFF2-BA47-D30507B2C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445DC6B-9DD0-1307-2497-DE355B0533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957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033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orizontal Takeaway,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B2F1FE6-FECE-8121-4A23-E7CC15AE94E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D8786D8-C8B8-5209-F50C-A12B620BC0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4F0CCF4-5A13-8EDA-0483-BBFAD801F7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D9FB58-8912-C421-1250-CBCD91461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2816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8DC7EC-C8D2-5919-4273-1A83344275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BF0DD1-A60A-1BEB-0348-BD47204AC8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8C488E-B699-93CB-C56E-C84D2EAD9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102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F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CD6D34C-EC96-AAC1-3EF8-B6D32B47A8F2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A3B4AB4-6CBD-C40F-540C-765BE125D2BC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 amt="5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4804" y="3797300"/>
            <a:ext cx="3200690" cy="3060000"/>
          </a:xfrm>
          <a:prstGeom prst="rect">
            <a:avLst/>
          </a:prstGeom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7FF6C223-4734-173A-8ABF-0CA2D9CF9B40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B107C1-1B64-61CF-F19D-F8B368FEC3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3E0153-A1CF-BD07-18A3-6208D714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314CF48C-E178-2222-7C52-1A330F2403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957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4E504E7-2962-799A-07BB-1265715BD0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5162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115092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62D89-1EAF-274F-1A26-3C0FDB54534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C895-789E-3FBF-D31E-EB1DEC2F4CE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8D89B8-39C6-F738-0EA6-CF94D225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765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115092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FC895-789E-3FBF-D31E-EB1DEC2F4CE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28354-CAAA-7286-F81A-DBF0E64DA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45329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A2E94-10AA-986B-2008-2694FBBB16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344"/>
            <a:ext cx="115092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9F71D2B-03C4-61F6-77B3-DB6EF87234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E9D4F-EC42-547F-1E27-E705E3F306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E395D7-4D8F-B276-2292-7DA89B8888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E150E-D291-58DA-7F63-4A45272B4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04757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0A2E94-10AA-986B-2008-2694FBBB16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344"/>
            <a:ext cx="115092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E9D4F-EC42-547F-1E27-E705E3F306E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46504F-D9D6-519E-DD46-089E329EE8B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01F3A7-DF5C-E280-0381-FA02C001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46056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959039-5518-9319-AB53-6B43D688850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0753" y="1544195"/>
            <a:ext cx="81828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5FB507A-6FBE-9F84-7A90-60FCFE661E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60753" y="1302160"/>
            <a:ext cx="8182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09334-2B02-FCCE-77B9-4B3494084C9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D442F50-CD32-D1EB-4CFC-8BB82CA23D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752CC-4694-B4E3-F8B5-B5C0A50C4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053255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959039-5518-9319-AB53-6B43D688850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0753" y="1544195"/>
            <a:ext cx="81828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09334-2B02-FCCE-77B9-4B3494084C9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ABB9433-514F-0AAE-3C1C-680743A0795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1DC01-23F8-3EAD-1AE9-CC07E8D4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91817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F7648C6-C460-3568-1C66-EDF1D09ABC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15A2DD1-3298-7EC5-B80E-07C7391B96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74DC72-6298-ABA1-0BA5-5965FE40243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9153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B6A0555E-2EAA-7F27-4684-904A2D15C0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9153" y="1302160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197CF-54AB-3E7F-A4E0-5AE5327335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93BA7C-72DB-038D-2CF4-124CE919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53460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274DC72-6298-ABA1-0BA5-5965FE402435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9153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C197CF-54AB-3E7F-A4E0-5AE5327335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DA608-1189-F303-07A2-C047682390A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544195"/>
            <a:ext cx="55944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F702DB7-8C25-4BE2-432F-9192068B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654110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F61E58B-C8C7-CF39-7DD9-02CFA858599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344"/>
            <a:ext cx="55980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22F67CE-7992-8A73-FF31-C312AA72E4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5598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55E09C-EF34-8492-DD5B-D28AFB65B9C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5553" y="1744344"/>
            <a:ext cx="55980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15B7DF1A-CF12-8EB6-F0E7-2D9B69048CB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45553" y="1502308"/>
            <a:ext cx="5598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2953F-79E1-3479-1C8F-B248396CE9A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49C555-CC52-0635-C592-4C7F4B4987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7B967-4AA0-77CF-8460-56262653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6663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B55E09C-EF34-8492-DD5B-D28AFB65B9C1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45553" y="1744344"/>
            <a:ext cx="55980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22953F-79E1-3479-1C8F-B248396CE9A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32DCBA-4DC3-C935-5CFA-5D1346AC388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5E5F028-9EEE-FFB4-81C3-243E66DFF3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305" y="1744486"/>
            <a:ext cx="5594400" cy="4492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874F1D-C83F-60AA-2C0D-BE88076C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57178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48894-0AC4-8904-A2D6-5C8D402056D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0727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73EB8CE-456E-B3F8-5961-0C4BA3922C6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0727" y="1302160"/>
            <a:ext cx="392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299CE4-8771-100D-52BE-CC64D2D9D6B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7915953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816A5E1-5425-C024-10AF-32DBD07703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15953" y="1302160"/>
            <a:ext cx="392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28C46-19D9-26F1-DFDD-CD7BFC81E26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89BB96D-3C1C-F7B2-81CD-3B068F8313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A5D23E-910C-DFDD-DC3D-2DE92C93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405476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Vertical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1348894-0AC4-8904-A2D6-5C8D402056D9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0727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299CE4-8771-100D-52BE-CC64D2D9D6B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7915953" y="1544195"/>
            <a:ext cx="392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D28C46-19D9-26F1-DFDD-CD7BFC81E26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EBEA226-B6B8-29E1-F6C6-92191DC6B5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677DC-D7EC-522E-8CBE-A16CC63E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74883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4775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with Headings and fill_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5A33D0-4497-E7A3-EF86-03BA4B03D4FA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1DF875A-6384-BB89-2357-88FD76C48C2E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B252ED-B18A-0D9A-112C-C1C8954733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6475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with Headings and fill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5A33D0-4497-E7A3-EF86-03BA4B03D4FA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1DF875A-6384-BB89-2357-88FD76C48C2E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B252ED-B18A-0D9A-112C-C1C8954733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659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with Headings and fill_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45A33D0-4497-E7A3-EF86-03BA4B03D4FA}"/>
              </a:ext>
            </a:extLst>
          </p:cNvPr>
          <p:cNvSpPr/>
          <p:nvPr userDrawn="1"/>
        </p:nvSpPr>
        <p:spPr>
          <a:xfrm>
            <a:off x="0" y="3797300"/>
            <a:ext cx="12192000" cy="3060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GB" sz="1100" dirty="0" err="1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79A5043-ECA3-A0F4-B05E-ABAE6F3D26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302160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>
                <a:solidFill>
                  <a:schemeClr val="bg1"/>
                </a:solidFill>
              </a:defRPr>
            </a:lvl1pPr>
            <a:lvl2pPr>
              <a:defRPr lang="en-US">
                <a:solidFill>
                  <a:schemeClr val="bg1"/>
                </a:solidFill>
              </a:defRPr>
            </a:lvl2pPr>
            <a:lvl3pPr>
              <a:defRPr lang="en-US">
                <a:solidFill>
                  <a:schemeClr val="bg1"/>
                </a:solidFill>
              </a:defRPr>
            </a:lvl3pPr>
            <a:lvl4pPr>
              <a:defRPr lang="en-US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14643F06-07E6-7D12-4859-5251081736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3925253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12F4423-ED16-A3D3-4360-8172103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91DF875A-6384-BB89-2357-88FD76C48C2E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29B252ED-B18A-0D9A-112C-C1C8954733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948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0612FF-C6AB-91EC-04BA-17EF8AF2FA4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A5C3656-33ED-7579-4560-88AD5AD274D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4167287"/>
            <a:ext cx="1150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C2EEB-5853-30CB-D61B-DA74C07EAD3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B8D2B2-9443-F2F3-997B-719D74D3D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20554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9E5CC4-05BA-C570-B7D4-631D22BA03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DE6D62D-0DEE-FC90-4C20-B6C966F787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305" y="150230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470015-E872-C278-D131-DF550F64964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34305" y="4292714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5D6751D9-4691-87E7-4D77-9F9326601E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4305" y="4050678"/>
            <a:ext cx="1150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37995-B3ED-372E-333D-7135668833C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9FAA3F2-DB95-157B-4428-6045B70B99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73108-6523-94DF-523F-949A500F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015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orient="horz" pos="2341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9E5CC4-05BA-C570-B7D4-631D22BA03E8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A470015-E872-C278-D131-DF550F649643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34305" y="4289686"/>
            <a:ext cx="115092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37995-B3ED-372E-333D-7135668833C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D47FC1-100E-1331-F2C8-FC1FF1B47C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FDD46C-F62B-AA04-864F-EB5C97972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4181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orient="horz" pos="2341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5CD021-4B34-DC40-215A-00728708A4B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4926C34-A013-CA26-B601-91D4E1B58F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4353" y="130216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6A58-0964-E0C1-61EC-15BFA4A6476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7286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ADBCEA8-F829-9C6D-EDF9-D9B5F68DA48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4353" y="392197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6B3F5-B8D3-8264-8FED-E03123849A8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DF24061-94B8-3F64-2744-227EEEBD4B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B5FC0-FF52-0111-53AE-9B06F5CE8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5510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Horizontal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55CD021-4B34-DC40-215A-00728708A4B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CC6A58-0964-E0C1-61EC-15BFA4A6476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7286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6B3F5-B8D3-8264-8FED-E03123849A8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1018943-6A95-C199-4A49-E9715CB515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A83470-618B-1313-8BD6-45B7FDF4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78300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0C495-C67C-4719-1C4D-4CC22E6F62B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A376C56-7B5C-1D05-07AD-31B830A6684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61241F-19B0-DDAA-D172-F123B410DC6C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96129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63DBA04-C08A-58BD-F534-8ABE61A18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6129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91382E8-1426-AA68-08CA-B9ADD1BE821A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57953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58C6953-0141-10FA-CB13-E85842475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57953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1831F-3A28-81B3-AD0D-AAB88F7DC4D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EF9226-F229-BE01-B31F-D765E592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41460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30C495-C67C-4719-1C4D-4CC22E6F62BB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34305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61241F-19B0-DDAA-D172-F123B410DC6C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296129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91382E8-1426-AA68-08CA-B9ADD1BE821A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8257953" y="1544195"/>
            <a:ext cx="3585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1831F-3A28-81B3-AD0D-AAB88F7DC4D2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E1A01-94C8-D03A-D6AE-ECA7DDFB8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07795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F47CF9-FACA-63E9-2D5C-DDB2F72BC9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5CA8312-11D3-E54A-0B4C-1C128E11470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CBDEEB-7EBD-DD93-6EB2-A5625B77843C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296129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A1D2A72-B985-CE17-FA47-D96E3C5954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6129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18707-F18A-11A0-84F1-13902539C394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257953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E3198CA3-C97B-81E4-DD97-79FAD35B22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57953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2C33-6F6F-10F1-37A6-400E4C6E577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883C3B1-8C72-9784-26D9-B210CC22DC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536FC2-62D0-DC05-47F7-14C14DF93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423566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F47CF9-FACA-63E9-2D5C-DDB2F72BC917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4CBDEEB-7EBD-DD93-6EB2-A5625B77843C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4296129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218707-F18A-11A0-84F1-13902539C394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8257953" y="1744344"/>
            <a:ext cx="3585600" cy="449294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E2C33-6F6F-10F1-37A6-400E4C6E577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2F1A6-BC16-FD01-8646-489692BFFED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792745-4445-5B01-4DFC-2B72C885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29004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AF8C96-053E-64A4-F4DE-4893C314471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7277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B7BAC2D-786C-A1C2-177E-0F97009B0CE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7277" y="1302160"/>
            <a:ext cx="248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A1D73D1-14AD-1F19-361F-FB74D924FB3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511615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7958C35-467D-79E4-B8C1-9FFBF7B3192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11615" y="1302160"/>
            <a:ext cx="248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E4CE466-F3AB-A856-084A-FE42368C6A5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9355953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BF2783F-B18F-9B69-B26E-8569664ACB3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5953" y="1302160"/>
            <a:ext cx="2487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5E5C7-68D9-238A-D181-D128E44EE3A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780E32B-AC56-E3B4-72B9-2FBA55D6F4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4DAA98-C371-CA22-1A35-15CA1370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8718176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Horizontal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AF8C96-053E-64A4-F4DE-4893C3144710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7277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A1D73D1-14AD-1F19-361F-FB74D924FB35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6511615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E4CE466-F3AB-A856-084A-FE42368C6A5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9355953" y="1544195"/>
            <a:ext cx="2487600" cy="4693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F5E5C7-68D9-238A-D181-D128E44EE3A0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B1E084-D412-5C59-F783-09E91F44EF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2CB1E-8D7A-5DCF-E28C-747C75794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312418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9B2BAB-000E-85EC-B6CE-ED2FE4AD785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39E025-882E-BE03-FD75-B8E9F9646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305" y="1302160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2E2D0C-9531-20CC-63F7-26878E0081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52753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7092F51-8E51-728E-08DE-BE733430B7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52753" y="1302160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2B36B3E-1086-4C62-31A4-E4FFC3A20CDF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AAF0488-DAAB-D50D-5D46-29C93842665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305" y="3925253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FF9301-6010-917C-6366-1DEEC45CAD4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252753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1A13397-4F5A-2A39-F5B5-7221493ACCB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2753" y="3925253"/>
            <a:ext cx="55908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5ABE-F945-6ADC-E89F-B9BC36D923D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9EF2AD-EA07-8B20-891B-A7F8E4496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402025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79B2BAB-000E-85EC-B6CE-ED2FE4AD785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4305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2E2D0C-9531-20CC-63F7-26878E0081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6252753" y="1544194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2B36B3E-1086-4C62-31A4-E4FFC3A20CDF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6FF9301-6010-917C-6366-1DEEC45CAD4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252753" y="4167287"/>
            <a:ext cx="55908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5ABE-F945-6ADC-E89F-B9BC36D923D9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3EAE47-C804-F0CF-7AF8-B7353A1C9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0062195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Horizont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744853-A084-999E-E130-98C7D70B614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6A29AE4-4697-9F61-B09A-1883679BBB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305" y="150230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7780B-FCEF-F1AD-1CFA-1B142A25C13E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4305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D7C1A65E-FF19-A051-5E48-AEA6321B695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305" y="405067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05E6B9-37C1-7519-0124-D69DD6D75BD5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6249153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2C1184F-50E3-50A4-05C9-5FDEE25CF78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49153" y="150230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19AEF3-B71D-3FA6-329F-2B89764ECABF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49153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EB79E692-F871-011C-675C-1F21060B7F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49153" y="4050678"/>
            <a:ext cx="55944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7F5F3-8A82-2BE5-F6BA-9EF057F4E9A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38FD25A-0F1E-71C7-7291-9A2E2967BC1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663F7-2C06-F895-D678-CACB23A5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978266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Horizont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7744853-A084-999E-E130-98C7D70B614E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34305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E7780B-FCEF-F1AD-1CFA-1B142A25C13E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334305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405E6B9-37C1-7519-0124-D69DD6D75BD5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6249153" y="174434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619AEF3-B71D-3FA6-329F-2B89764ECABF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249153" y="4292714"/>
            <a:ext cx="55944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7F5F3-8A82-2BE5-F6BA-9EF057F4E9A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912D500-9683-935D-07D9-2B03C7598F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3923C0-0C68-64A6-4C48-3A1E153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48382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Vertical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AF2541-A3A5-C137-78CC-6E4C06DB5D3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3328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F3AA83A-6C3B-A823-5FA4-6D6E4F1D0D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63328" y="1302160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5D5A90-20A7-E265-474A-A0D749C25BE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919553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1A881CC-3E87-012E-A940-F0C724C495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9553" y="1302160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3EAECA7-F9CF-B8C0-EA13-0C9BE9FD77CB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663328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D8B1588-5D02-533C-8035-6D87FC9B4E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63328" y="3925253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3F787D-A49C-1989-CABE-91AED6811FA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7919553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9D1F952-50D9-F5D3-F0C3-93C85403ECE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19553" y="3925253"/>
            <a:ext cx="39240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D980C-2B60-750B-BD2C-5DB1B5C7358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70F77BA-1559-D1CB-E5C1-2759C536E52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2F0B79-A0DF-2C04-D2BA-B112B8CDB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985091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 Vertical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BAF2541-A3A5-C137-78CC-6E4C06DB5D3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663328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85D5A90-20A7-E265-474A-A0D749C25BE8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7919553" y="1544194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3EAECA7-F9CF-B8C0-EA13-0C9BE9FD77CB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663328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3F787D-A49C-1989-CABE-91AED6811FA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7919553" y="4167287"/>
            <a:ext cx="39240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D980C-2B60-750B-BD2C-5DB1B5C7358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79F12-9426-AA7E-FF21-3118E9C8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512BB6F-E83D-B045-D6A3-61D6C01492F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2725200" cy="19575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304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9E4F10-4A1C-8B7F-2D34-F6AFE368878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852F83DC-16F3-ABE5-8DB1-06B7BF0F51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4305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1CBD6C-E96D-84D4-C6FC-29B2F7D702F9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4296129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04410B0-6707-EFC6-69D2-E60083E20E8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6129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26DFA6-736B-785E-59ED-E048A9A57824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257953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45FAAB6-71D6-9986-45EC-2DF2972C70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57953" y="1302160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957B1F-B729-BF5A-34B4-F4217E7426B8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334305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F813A6A-1E16-307F-226C-7FC68BC03BE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305" y="3946852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95693F7-DD50-9AD4-8277-79E600895D74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544F9366-CCBB-4CE9-1BA5-B68C0353B73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96129" y="3946852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F94774F-E18D-24BB-D1A9-51C3A0F0FF2F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8F9990BF-88D4-2D74-3CFB-4B85B66861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57953" y="3946852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9B4B1-0EA7-3C82-6802-68107F6BF81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77B1BA-AA88-589E-4CE6-F1385541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31738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29E4F10-4A1C-8B7F-2D34-F6AFE368878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4305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1CBD6C-E96D-84D4-C6FC-29B2F7D702F9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4296129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A26DFA6-736B-785E-59ED-E048A9A57824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8257953" y="1544195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7957B1F-B729-BF5A-34B4-F4217E7426B8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334305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95693F7-DD50-9AD4-8277-79E600895D74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F94774F-E18D-24BB-D1A9-51C3A0F0FF2F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4188887"/>
            <a:ext cx="3585600" cy="2048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9B4B1-0EA7-3C82-6802-68107F6BF81F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9269B-C1C2-8FC2-088B-C36629B8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439980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&amp;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E96FA-E809-E838-2160-5BB67C75B881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34305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5951064-E313-F3D3-97FC-047FD4236A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305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54657-506A-4FBB-0521-F7BF9F6DF905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34305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17EA612-1181-05C6-77CB-E4F1CA3EC89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305" y="4045984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75550-86A6-CD9F-E004-D9BB7FEE728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296129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249D792-FDFD-F540-DB91-2C382FC1E62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96129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EE1A41-F666-67B6-EFBC-F6F41919C2B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8BB6D41-0C48-034D-08C7-6D61141349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96129" y="4045984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C25065F-9336-CCD6-C17A-7E1BE05AD92D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CF61FD6E-86C8-9940-6176-95E682BF05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57953" y="1502308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74DE65B-AB03-1BE4-A365-08D979FF113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257953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B9A016F-E5F4-30D2-4408-49EFD2DDFB3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257953" y="4045984"/>
            <a:ext cx="35856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A9044-15B8-4E9B-FE1E-07FE3423AD26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C6823E4-A454-4412-26F0-9DB6336C1B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296B9-41CE-DDCE-8634-0DF05DBC3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6668199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&amp; Takeaway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E96FA-E809-E838-2160-5BB67C75B881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334305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8354657-506A-4FBB-0521-F7BF9F6DF905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334305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75550-86A6-CD9F-E004-D9BB7FEE728E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4296129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EEE1A41-F666-67B6-EFBC-F6F41919C2BF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296129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C25065F-9336-CCD6-C17A-7E1BE05AD92D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257953" y="1744344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74DE65B-AB03-1BE4-A365-08D979FF113C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257953" y="4288020"/>
            <a:ext cx="3585600" cy="1947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A9044-15B8-4E9B-FE1E-07FE3423AD26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7855568-E1C9-9375-4DF9-3EAB806250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1150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7578B-342D-BA0C-EA24-64519A0AE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6954345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92DE5D-19B0-ACA7-0443-F800FBDEE6EA}"/>
              </a:ext>
            </a:extLst>
          </p:cNvPr>
          <p:cNvSpPr/>
          <p:nvPr userDrawn="1"/>
        </p:nvSpPr>
        <p:spPr>
          <a:xfrm>
            <a:off x="-2951" y="0"/>
            <a:ext cx="3340800" cy="6858000"/>
          </a:xfrm>
          <a:prstGeom prst="rect">
            <a:avLst/>
          </a:prstGeom>
          <a:solidFill>
            <a:schemeClr val="bg2"/>
          </a:solidFill>
          <a:ln w="1299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14FF485-A494-38A7-B982-4AB79741D71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34006C0-795F-671F-5528-A66CC7EABF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64353" y="130216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3D5E937-6D3C-2062-F59E-5C1E8415050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400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30F76DD3-EE02-1030-F1A8-CDAA128C11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64353" y="3921970"/>
            <a:ext cx="8179200" cy="177484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GB" sz="1100" b="1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GB"/>
              <a:t>Heading</a:t>
            </a:r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CD025-7EBC-8F7A-5941-C240C792778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664353" y="6492992"/>
            <a:ext cx="64620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C43B931-135F-8DD8-8B86-C761F53493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4353" y="807171"/>
            <a:ext cx="817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CB3CA7-E97F-6B11-475A-9498AF9EF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353" y="466547"/>
            <a:ext cx="81792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94511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_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692DE5D-19B0-ACA7-0443-F800FBDEE6EA}"/>
              </a:ext>
            </a:extLst>
          </p:cNvPr>
          <p:cNvSpPr/>
          <p:nvPr userDrawn="1"/>
        </p:nvSpPr>
        <p:spPr>
          <a:xfrm>
            <a:off x="-2951" y="0"/>
            <a:ext cx="3340800" cy="6858000"/>
          </a:xfrm>
          <a:prstGeom prst="rect">
            <a:avLst/>
          </a:prstGeom>
          <a:solidFill>
            <a:schemeClr val="bg2"/>
          </a:solidFill>
          <a:ln w="1299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14FF485-A494-38A7-B982-4AB79741D713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3664353" y="154419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3D5E937-6D3C-2062-F59E-5C1E8415050F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664353" y="4164004"/>
            <a:ext cx="8179200" cy="207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CD025-7EBC-8F7A-5941-C240C792778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664353" y="6492992"/>
            <a:ext cx="64620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157AF5-D437-7A9E-B8A1-B3EF19085D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4353" y="807171"/>
            <a:ext cx="81792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01CF2A-DBB9-E5C0-F2E9-5DAA43E3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4353" y="466547"/>
            <a:ext cx="81792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84918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Investment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4F37D6D-A8F1-0FE0-ED14-594AF967296A}"/>
              </a:ext>
            </a:extLst>
          </p:cNvPr>
          <p:cNvSpPr/>
          <p:nvPr userDrawn="1"/>
        </p:nvSpPr>
        <p:spPr>
          <a:xfrm>
            <a:off x="-2950" y="0"/>
            <a:ext cx="3047999" cy="6858000"/>
          </a:xfrm>
          <a:prstGeom prst="rect">
            <a:avLst/>
          </a:prstGeom>
          <a:solidFill>
            <a:schemeClr val="bg2"/>
          </a:solidFill>
          <a:ln w="1299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5DDE-D503-84F8-111C-1EC689AFDC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72753" y="6492992"/>
            <a:ext cx="67536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18DAF07-D2D1-C2B0-8FD9-68130334C5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753" y="807171"/>
            <a:ext cx="8481600" cy="1879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C00E5-331A-5545-D52C-B15442A7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53" y="466547"/>
            <a:ext cx="84816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92804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HS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4E5DDE-D503-84F8-111C-1EC689AFDCD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72753" y="6492992"/>
            <a:ext cx="6753600" cy="323165"/>
          </a:xfrm>
        </p:spPr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AC00E5-331A-5545-D52C-B15442A71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53" y="466547"/>
            <a:ext cx="8481600" cy="249299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5C9F1A4-02B5-C17B-971F-316B3C60773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3048000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14464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F0ECAB-9859-1FAA-BD33-E7DFDF223194}"/>
              </a:ext>
            </a:extLst>
          </p:cNvPr>
          <p:cNvSpPr/>
          <p:nvPr userDrawn="1"/>
        </p:nvSpPr>
        <p:spPr>
          <a:xfrm>
            <a:off x="0" y="0"/>
            <a:ext cx="12191999" cy="26898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58EE7CA-B862-D027-826B-C8C1C880FB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30712" y="0"/>
            <a:ext cx="2812841" cy="2689200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D4DDA4C-EA08-08B8-A0A9-320C565E58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72753" y="1792852"/>
            <a:ext cx="8470800" cy="290401"/>
          </a:xfrm>
          <a:prstGeom prst="roundRect">
            <a:avLst>
              <a:gd name="adj" fmla="val 0"/>
            </a:avLst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0" i="0" dirty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959039-5518-9319-AB53-6B43D688850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2753" y="2872052"/>
            <a:ext cx="8470800" cy="33652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062F16D-BFE8-497A-E95E-F8599A339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2753" y="1412452"/>
            <a:ext cx="8470800" cy="2492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74B5BA39-CF12-9071-B497-26EF2D74F1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72753" y="2200428"/>
            <a:ext cx="8470800" cy="221664"/>
          </a:xfrm>
          <a:prstGeom prst="roundRect">
            <a:avLst>
              <a:gd name="adj" fmla="val 0"/>
            </a:avLst>
          </a:prstGeo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cap="none" baseline="0" dirty="0">
                <a:solidFill>
                  <a:schemeClr val="accent2"/>
                </a:solidFill>
                <a:ea typeface="Inter ExtraBold" panose="02000503000000020004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13A25838-37E3-1476-C8E9-1F15C9B8D75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48447" y="608637"/>
            <a:ext cx="1816100" cy="1817687"/>
          </a:xfrm>
          <a:prstGeom prst="roundRect">
            <a:avLst>
              <a:gd name="adj" fmla="val 2244"/>
            </a:avLst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72B0F5-2079-E32C-9F59-A0B1547206C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453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C5D24225-9E1C-11FD-6670-E581F6283AE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02"/>
          <a:stretch>
            <a:fillRect/>
          </a:stretch>
        </p:blipFill>
        <p:spPr>
          <a:xfrm>
            <a:off x="0" y="0"/>
            <a:ext cx="12193199" cy="685800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797757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E58C9B86-B4D3-2E8B-9B33-F4F178F17538}"/>
              </a:ext>
            </a:extLst>
          </p:cNvPr>
          <p:cNvSpPr/>
          <p:nvPr userDrawn="1"/>
        </p:nvSpPr>
        <p:spPr>
          <a:xfrm>
            <a:off x="10190781" y="2129800"/>
            <a:ext cx="453650" cy="153888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Inter Medium" panose="02000503000000020004" pitchFamily="2" charset="0"/>
                <a:cs typeface="Poppins SemiBold" panose="02000000000000000000" pitchFamily="2" charset="0"/>
              </a:rPr>
              <a:t>HL.com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4DB11-C2C9-4F67-00EB-9C967CAD21CF}"/>
              </a:ext>
            </a:extLst>
          </p:cNvPr>
          <p:cNvSpPr/>
          <p:nvPr userDrawn="1"/>
        </p:nvSpPr>
        <p:spPr>
          <a:xfrm>
            <a:off x="9798697" y="1566147"/>
            <a:ext cx="1351332" cy="15388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Restructuring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3853DC-5D26-C56C-50D3-ED1BA3AEB334}"/>
              </a:ext>
            </a:extLst>
          </p:cNvPr>
          <p:cNvSpPr/>
          <p:nvPr userDrawn="1"/>
        </p:nvSpPr>
        <p:spPr>
          <a:xfrm>
            <a:off x="10007192" y="1847973"/>
            <a:ext cx="1861087" cy="15388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and Valuation Advisory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594D69-915E-3D0A-F0A5-A2FA28818E6F}"/>
              </a:ext>
            </a:extLst>
          </p:cNvPr>
          <p:cNvSpPr/>
          <p:nvPr userDrawn="1"/>
        </p:nvSpPr>
        <p:spPr>
          <a:xfrm>
            <a:off x="9603062" y="1284321"/>
            <a:ext cx="1099660" cy="153888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Corporate Finance 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9F0F2FEC-5ACC-1DFA-ECE8-6A9EADB9A7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3599" y="940383"/>
            <a:ext cx="1260736" cy="216000"/>
          </a:xfrm>
          <a:prstGeom prst="rect">
            <a:avLst/>
          </a:prstGeom>
        </p:spPr>
      </p:pic>
      <p:pic>
        <p:nvPicPr>
          <p:cNvPr id="76" name="Graphic 75">
            <a:extLst>
              <a:ext uri="{FF2B5EF4-FFF2-40B4-BE49-F238E27FC236}">
                <a16:creationId xmlns:a16="http://schemas.microsoft.com/office/drawing/2014/main" id="{695067AA-E37A-E351-4391-948A260D6B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4963" y="3186113"/>
            <a:ext cx="28289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07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Back 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8A313D43-C317-46E7-3E7B-EFD28272722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64961" y="1"/>
            <a:ext cx="11621181" cy="6858000"/>
            <a:chOff x="-221976" y="0"/>
            <a:chExt cx="17998225" cy="10621281"/>
          </a:xfrm>
        </p:grpSpPr>
        <p:sp>
          <p:nvSpPr>
            <p:cNvPr id="9" name="Graphic 5">
              <a:extLst>
                <a:ext uri="{FF2B5EF4-FFF2-40B4-BE49-F238E27FC236}">
                  <a16:creationId xmlns:a16="http://schemas.microsoft.com/office/drawing/2014/main" id="{168DD88F-6A6C-5718-496A-85663FD2327F}"/>
                </a:ext>
              </a:extLst>
            </p:cNvPr>
            <p:cNvSpPr/>
            <p:nvPr/>
          </p:nvSpPr>
          <p:spPr>
            <a:xfrm>
              <a:off x="2111245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Graphic 5">
              <a:extLst>
                <a:ext uri="{FF2B5EF4-FFF2-40B4-BE49-F238E27FC236}">
                  <a16:creationId xmlns:a16="http://schemas.microsoft.com/office/drawing/2014/main" id="{873546BC-3BA4-1E47-FE3D-E4F65E91FA8E}"/>
                </a:ext>
              </a:extLst>
            </p:cNvPr>
            <p:cNvSpPr/>
            <p:nvPr userDrawn="1"/>
          </p:nvSpPr>
          <p:spPr>
            <a:xfrm>
              <a:off x="-2219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Graphic 5">
              <a:extLst>
                <a:ext uri="{FF2B5EF4-FFF2-40B4-BE49-F238E27FC236}">
                  <a16:creationId xmlns:a16="http://schemas.microsoft.com/office/drawing/2014/main" id="{69B61CA3-7D0D-114E-6418-0CDD4B5DD206}"/>
                </a:ext>
              </a:extLst>
            </p:cNvPr>
            <p:cNvSpPr/>
            <p:nvPr userDrawn="1"/>
          </p:nvSpPr>
          <p:spPr>
            <a:xfrm>
              <a:off x="12226897" y="0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Graphic 5">
              <a:extLst>
                <a:ext uri="{FF2B5EF4-FFF2-40B4-BE49-F238E27FC236}">
                  <a16:creationId xmlns:a16="http://schemas.microsoft.com/office/drawing/2014/main" id="{085B683E-3C5A-62AA-49F0-CF30AAAEBE56}"/>
                </a:ext>
              </a:extLst>
            </p:cNvPr>
            <p:cNvSpPr/>
            <p:nvPr userDrawn="1"/>
          </p:nvSpPr>
          <p:spPr>
            <a:xfrm>
              <a:off x="9893676" y="5315856"/>
              <a:ext cx="5549352" cy="5305425"/>
            </a:xfrm>
            <a:custGeom>
              <a:avLst/>
              <a:gdLst>
                <a:gd name="csX0" fmla="*/ 4834192 w 7173310"/>
                <a:gd name="csY0" fmla="*/ 0 h 6858000"/>
                <a:gd name="csX1" fmla="*/ 0 w 7173310"/>
                <a:gd name="csY1" fmla="*/ 0 h 6858000"/>
                <a:gd name="csX2" fmla="*/ 2495062 w 7173310"/>
                <a:gd name="csY2" fmla="*/ 3429000 h 6858000"/>
                <a:gd name="csX3" fmla="*/ 0 w 7173310"/>
                <a:gd name="csY3" fmla="*/ 6858000 h 6858000"/>
                <a:gd name="csX4" fmla="*/ 4834192 w 7173310"/>
                <a:gd name="csY4" fmla="*/ 6858000 h 6858000"/>
                <a:gd name="csX5" fmla="*/ 7173310 w 7173310"/>
                <a:gd name="csY5" fmla="*/ 3429000 h 6858000"/>
                <a:gd name="csX6" fmla="*/ 4834192 w 7173310"/>
                <a:gd name="csY6" fmla="*/ 0 h 6858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7173310" h="6858000">
                  <a:moveTo>
                    <a:pt x="4834192" y="0"/>
                  </a:moveTo>
                  <a:lnTo>
                    <a:pt x="0" y="0"/>
                  </a:lnTo>
                  <a:lnTo>
                    <a:pt x="2495062" y="3429000"/>
                  </a:lnTo>
                  <a:lnTo>
                    <a:pt x="0" y="6858000"/>
                  </a:lnTo>
                  <a:lnTo>
                    <a:pt x="4834192" y="6858000"/>
                  </a:lnTo>
                  <a:lnTo>
                    <a:pt x="7173310" y="3429000"/>
                  </a:lnTo>
                  <a:lnTo>
                    <a:pt x="4834192" y="0"/>
                  </a:lnTo>
                  <a:close/>
                </a:path>
              </a:pathLst>
            </a:custGeom>
            <a:gradFill>
              <a:gsLst>
                <a:gs pos="36000">
                  <a:srgbClr val="013CC7"/>
                </a:gs>
                <a:gs pos="100000">
                  <a:srgbClr val="2C5EEF"/>
                </a:gs>
              </a:gsLst>
              <a:lin ang="0" scaled="1"/>
            </a:gradFill>
            <a:ln w="1126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7977573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0ABEB5C1-8689-54E4-D76E-FF729446F7E9}"/>
              </a:ext>
            </a:extLst>
          </p:cNvPr>
          <p:cNvSpPr/>
          <p:nvPr userDrawn="1"/>
        </p:nvSpPr>
        <p:spPr>
          <a:xfrm>
            <a:off x="5309035" y="6355916"/>
            <a:ext cx="1708801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Restructuring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6AC6DE-D2AA-D921-3404-B73AAA63CC17}"/>
              </a:ext>
            </a:extLst>
          </p:cNvPr>
          <p:cNvSpPr/>
          <p:nvPr userDrawn="1"/>
        </p:nvSpPr>
        <p:spPr>
          <a:xfrm>
            <a:off x="7949468" y="6355916"/>
            <a:ext cx="2260234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Financial and Valuation Advisory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AB33E1-410E-57F8-DD10-C7C602D290F8}"/>
              </a:ext>
            </a:extLst>
          </p:cNvPr>
          <p:cNvSpPr/>
          <p:nvPr userDrawn="1"/>
        </p:nvSpPr>
        <p:spPr>
          <a:xfrm>
            <a:off x="11095611" y="6355916"/>
            <a:ext cx="573875" cy="184666"/>
          </a:xfrm>
          <a:prstGeom prst="rect">
            <a:avLst/>
          </a:prstGeom>
        </p:spPr>
        <p:txBody>
          <a:bodyPr wrap="none" lIns="0" tIns="0" rIns="0" bIns="0" anchor="b" anchorCtr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HL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.com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9D70C4-4EAC-7669-6F32-D58FEA2CAC3B}"/>
              </a:ext>
            </a:extLst>
          </p:cNvPr>
          <p:cNvSpPr/>
          <p:nvPr userDrawn="1"/>
        </p:nvSpPr>
        <p:spPr>
          <a:xfrm>
            <a:off x="2984393" y="6355916"/>
            <a:ext cx="1393010" cy="184666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Inter Medium" panose="02000503000000020004" pitchFamily="2" charset="0"/>
                <a:cs typeface="Calibri" panose="020F0502020204030204" pitchFamily="34" charset="0"/>
              </a:rPr>
              <a:t>Corporate Finance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B57977A-E21F-F2B4-F137-CF0A670ACA6A}"/>
              </a:ext>
            </a:extLst>
          </p:cNvPr>
          <p:cNvSpPr>
            <a:spLocks/>
          </p:cNvSpPr>
          <p:nvPr userDrawn="1"/>
        </p:nvSpPr>
        <p:spPr>
          <a:xfrm>
            <a:off x="7460792" y="6425389"/>
            <a:ext cx="45720" cy="45720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CBC11A6-7D92-5C10-3755-D0AD003CC0A0}"/>
              </a:ext>
            </a:extLst>
          </p:cNvPr>
          <p:cNvSpPr>
            <a:spLocks/>
          </p:cNvSpPr>
          <p:nvPr userDrawn="1"/>
        </p:nvSpPr>
        <p:spPr>
          <a:xfrm>
            <a:off x="4820359" y="6425389"/>
            <a:ext cx="45720" cy="45720"/>
          </a:xfrm>
          <a:prstGeom prst="ellipse">
            <a:avLst/>
          </a:pr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GB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1865689-6700-F0A9-39AD-E5EF8D3118A4}"/>
              </a:ext>
            </a:extLst>
          </p:cNvPr>
          <p:cNvCxnSpPr>
            <a:cxnSpLocks/>
          </p:cNvCxnSpPr>
          <p:nvPr userDrawn="1"/>
        </p:nvCxnSpPr>
        <p:spPr>
          <a:xfrm>
            <a:off x="2541437" y="6322249"/>
            <a:ext cx="0" cy="252000"/>
          </a:xfrm>
          <a:prstGeom prst="line">
            <a:avLst/>
          </a:prstGeom>
          <a:ln w="635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9EA7C5-B5DA-0FEF-5E7C-414B1846E423}"/>
              </a:ext>
            </a:extLst>
          </p:cNvPr>
          <p:cNvCxnSpPr>
            <a:cxnSpLocks/>
          </p:cNvCxnSpPr>
          <p:nvPr userDrawn="1"/>
        </p:nvCxnSpPr>
        <p:spPr>
          <a:xfrm>
            <a:off x="10652658" y="6322249"/>
            <a:ext cx="0" cy="252000"/>
          </a:xfrm>
          <a:prstGeom prst="line">
            <a:avLst/>
          </a:prstGeom>
          <a:ln w="6350"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phic 9">
            <a:extLst>
              <a:ext uri="{FF2B5EF4-FFF2-40B4-BE49-F238E27FC236}">
                <a16:creationId xmlns:a16="http://schemas.microsoft.com/office/drawing/2014/main" id="{57EFB0F6-3BBA-EBC4-F2B2-A2055586FA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2563" y="6296180"/>
            <a:ext cx="1575918" cy="270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8FF19C36-3845-91DB-A0EE-28D51F0A0E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563" y="746451"/>
            <a:ext cx="2737672" cy="47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1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theme" Target="../theme/theme1.xml"/><Relationship Id="rId67" Type="http://schemas.openxmlformats.org/officeDocument/2006/relationships/tags" Target="../tags/tag1.xml"/><Relationship Id="rId68" Type="http://schemas.openxmlformats.org/officeDocument/2006/relationships/tags" Target="../tags/tag2.xml"/><Relationship Id="rId69" Type="http://schemas.openxmlformats.org/officeDocument/2006/relationships/oleObject" Target="../embeddings/oleObject1.bin"/><Relationship Id="rId70" Type="http://schemas.openxmlformats.org/officeDocument/2006/relationships/image" Target="../media/image1.emf"/><Relationship Id="rId71" Type="http://schemas.openxmlformats.org/officeDocument/2006/relationships/image" Target="../media/image2.svg"/><Relationship Id="rId72" Type="http://schemas.openxmlformats.org/officeDocument/2006/relationships/image" Target="../media/image3.svg"/><Relationship Id="rId73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67"/>
            </p:custDataLst>
            <p:extLst>
              <p:ext uri="{D42A27DB-BD31-4B8C-83A1-F6EECF244321}">
                <p14:modId xmlns:p14="http://schemas.microsoft.com/office/powerpoint/2010/main" val="327819485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9" imgW="270" imgH="270" progId="TCLayout.ActiveDocument.1">
                  <p:embed/>
                </p:oleObj>
              </mc:Choice>
              <mc:Fallback>
                <p:oleObj name="think-cell Slide" r:id="rId69" imgW="270" imgH="270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70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id" hidden="1"/>
          <p:cNvGrpSpPr/>
          <p:nvPr>
            <p:custDataLst>
              <p:tags r:id="rId68"/>
            </p:custDataLst>
          </p:nvPr>
        </p:nvGrpSpPr>
        <p:grpSpPr>
          <a:xfrm>
            <a:off x="-952967" y="-1858282"/>
            <a:ext cx="14097468" cy="10608018"/>
            <a:chOff x="-714726" y="-1858282"/>
            <a:chExt cx="10573101" cy="10608018"/>
          </a:xfrm>
        </p:grpSpPr>
        <p:sp>
          <p:nvSpPr>
            <p:cNvPr id="9" name="Line 5" hidden="1"/>
            <p:cNvSpPr>
              <a:spLocks noChangeShapeType="1"/>
            </p:cNvSpPr>
            <p:nvPr/>
          </p:nvSpPr>
          <p:spPr bwMode="auto">
            <a:xfrm>
              <a:off x="279062" y="1523284"/>
              <a:ext cx="8617756" cy="0"/>
            </a:xfrm>
            <a:prstGeom prst="line">
              <a:avLst/>
            </a:prstGeom>
            <a:noFill/>
            <a:ln w="11113" cap="flat">
              <a:solidFill>
                <a:srgbClr val="DCD5C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0" name="Line 7" hidden="1"/>
            <p:cNvSpPr>
              <a:spLocks noChangeShapeType="1"/>
            </p:cNvSpPr>
            <p:nvPr/>
          </p:nvSpPr>
          <p:spPr bwMode="auto">
            <a:xfrm flipH="1">
              <a:off x="-714726" y="50800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1" name="Line 8" hidden="1"/>
            <p:cNvSpPr>
              <a:spLocks noChangeShapeType="1"/>
            </p:cNvSpPr>
            <p:nvPr/>
          </p:nvSpPr>
          <p:spPr bwMode="auto">
            <a:xfrm flipH="1">
              <a:off x="-714726" y="76182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2" name="Line 9" hidden="1"/>
            <p:cNvSpPr>
              <a:spLocks noChangeShapeType="1"/>
            </p:cNvSpPr>
            <p:nvPr/>
          </p:nvSpPr>
          <p:spPr bwMode="auto">
            <a:xfrm flipH="1">
              <a:off x="-714726" y="101564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3" name="Line 10" hidden="1"/>
            <p:cNvSpPr>
              <a:spLocks noChangeShapeType="1"/>
            </p:cNvSpPr>
            <p:nvPr/>
          </p:nvSpPr>
          <p:spPr bwMode="auto">
            <a:xfrm flipH="1">
              <a:off x="-714726" y="126946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4" name="Line 11" hidden="1"/>
            <p:cNvSpPr>
              <a:spLocks noChangeShapeType="1"/>
            </p:cNvSpPr>
            <p:nvPr/>
          </p:nvSpPr>
          <p:spPr bwMode="auto">
            <a:xfrm flipH="1">
              <a:off x="-714726" y="152328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5" name="Line 12" hidden="1"/>
            <p:cNvSpPr>
              <a:spLocks noChangeShapeType="1"/>
            </p:cNvSpPr>
            <p:nvPr/>
          </p:nvSpPr>
          <p:spPr bwMode="auto">
            <a:xfrm flipH="1">
              <a:off x="-714726" y="177710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6" name="Line 13" hidden="1"/>
            <p:cNvSpPr>
              <a:spLocks noChangeShapeType="1"/>
            </p:cNvSpPr>
            <p:nvPr/>
          </p:nvSpPr>
          <p:spPr bwMode="auto">
            <a:xfrm flipH="1">
              <a:off x="-714726" y="20309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7" name="Line 14" hidden="1"/>
            <p:cNvSpPr>
              <a:spLocks noChangeShapeType="1"/>
            </p:cNvSpPr>
            <p:nvPr/>
          </p:nvSpPr>
          <p:spPr bwMode="auto">
            <a:xfrm flipH="1">
              <a:off x="-714726" y="253990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8" name="Line 15" hidden="1"/>
            <p:cNvSpPr>
              <a:spLocks noChangeShapeType="1"/>
            </p:cNvSpPr>
            <p:nvPr/>
          </p:nvSpPr>
          <p:spPr bwMode="auto">
            <a:xfrm flipH="1">
              <a:off x="-714726" y="279372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19" name="Line 16" hidden="1"/>
            <p:cNvSpPr>
              <a:spLocks noChangeShapeType="1"/>
            </p:cNvSpPr>
            <p:nvPr/>
          </p:nvSpPr>
          <p:spPr bwMode="auto">
            <a:xfrm flipH="1">
              <a:off x="-714726" y="304754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0" name="Line 17" hidden="1"/>
            <p:cNvSpPr>
              <a:spLocks noChangeShapeType="1"/>
            </p:cNvSpPr>
            <p:nvPr/>
          </p:nvSpPr>
          <p:spPr bwMode="auto">
            <a:xfrm flipH="1">
              <a:off x="-714726" y="330135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1" name="Line 18" hidden="1"/>
            <p:cNvSpPr>
              <a:spLocks noChangeShapeType="1"/>
            </p:cNvSpPr>
            <p:nvPr/>
          </p:nvSpPr>
          <p:spPr bwMode="auto">
            <a:xfrm flipH="1">
              <a:off x="-714726" y="3555178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2" name="Line 19" hidden="1"/>
            <p:cNvSpPr>
              <a:spLocks noChangeShapeType="1"/>
            </p:cNvSpPr>
            <p:nvPr/>
          </p:nvSpPr>
          <p:spPr bwMode="auto">
            <a:xfrm flipH="1">
              <a:off x="-714726" y="3808997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3" name="Line 20" hidden="1"/>
            <p:cNvSpPr>
              <a:spLocks noChangeShapeType="1"/>
            </p:cNvSpPr>
            <p:nvPr/>
          </p:nvSpPr>
          <p:spPr bwMode="auto">
            <a:xfrm flipH="1">
              <a:off x="-714726" y="4062816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4" name="Line 21" hidden="1"/>
            <p:cNvSpPr>
              <a:spLocks noChangeShapeType="1"/>
            </p:cNvSpPr>
            <p:nvPr/>
          </p:nvSpPr>
          <p:spPr bwMode="auto">
            <a:xfrm flipH="1">
              <a:off x="-714726" y="43166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5" name="Line 22" hidden="1"/>
            <p:cNvSpPr>
              <a:spLocks noChangeShapeType="1"/>
            </p:cNvSpPr>
            <p:nvPr/>
          </p:nvSpPr>
          <p:spPr bwMode="auto">
            <a:xfrm flipH="1">
              <a:off x="-714726" y="4825615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6" name="Line 23" hidden="1"/>
            <p:cNvSpPr>
              <a:spLocks noChangeShapeType="1"/>
            </p:cNvSpPr>
            <p:nvPr/>
          </p:nvSpPr>
          <p:spPr bwMode="auto">
            <a:xfrm flipH="1">
              <a:off x="-714726" y="5079434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7" name="Line 24" hidden="1"/>
            <p:cNvSpPr>
              <a:spLocks noChangeShapeType="1"/>
            </p:cNvSpPr>
            <p:nvPr/>
          </p:nvSpPr>
          <p:spPr bwMode="auto">
            <a:xfrm flipH="1">
              <a:off x="-714726" y="5333253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8" name="Line 25" hidden="1"/>
            <p:cNvSpPr>
              <a:spLocks noChangeShapeType="1"/>
            </p:cNvSpPr>
            <p:nvPr/>
          </p:nvSpPr>
          <p:spPr bwMode="auto">
            <a:xfrm flipH="1">
              <a:off x="-714726" y="5587072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29" name="Line 26" hidden="1"/>
            <p:cNvSpPr>
              <a:spLocks noChangeShapeType="1"/>
            </p:cNvSpPr>
            <p:nvPr/>
          </p:nvSpPr>
          <p:spPr bwMode="auto">
            <a:xfrm flipH="1">
              <a:off x="-714726" y="5840891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0" name="Line 27" hidden="1"/>
            <p:cNvSpPr>
              <a:spLocks noChangeShapeType="1"/>
            </p:cNvSpPr>
            <p:nvPr/>
          </p:nvSpPr>
          <p:spPr bwMode="auto">
            <a:xfrm flipH="1">
              <a:off x="-714726" y="6094710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1" name="Line 28" hidden="1"/>
            <p:cNvSpPr>
              <a:spLocks noChangeShapeType="1"/>
            </p:cNvSpPr>
            <p:nvPr/>
          </p:nvSpPr>
          <p:spPr bwMode="auto">
            <a:xfrm flipH="1">
              <a:off x="-714726" y="6348529"/>
              <a:ext cx="10573101" cy="0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2" name="Line 29" hidden="1"/>
            <p:cNvSpPr>
              <a:spLocks noChangeShapeType="1"/>
            </p:cNvSpPr>
            <p:nvPr/>
          </p:nvSpPr>
          <p:spPr bwMode="auto">
            <a:xfrm flipV="1">
              <a:off x="761184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3" name="Line 30" hidden="1"/>
            <p:cNvSpPr>
              <a:spLocks noChangeShapeType="1"/>
            </p:cNvSpPr>
            <p:nvPr/>
          </p:nvSpPr>
          <p:spPr bwMode="auto">
            <a:xfrm flipV="1">
              <a:off x="152398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4" name="Line 31" hidden="1"/>
            <p:cNvSpPr>
              <a:spLocks noChangeShapeType="1"/>
            </p:cNvSpPr>
            <p:nvPr/>
          </p:nvSpPr>
          <p:spPr bwMode="auto">
            <a:xfrm flipV="1">
              <a:off x="3048240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5" name="Line 32" hidden="1"/>
            <p:cNvSpPr>
              <a:spLocks noChangeShapeType="1"/>
            </p:cNvSpPr>
            <p:nvPr/>
          </p:nvSpPr>
          <p:spPr bwMode="auto">
            <a:xfrm flipV="1">
              <a:off x="380969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6" name="Line 33" hidden="1"/>
            <p:cNvSpPr>
              <a:spLocks noChangeShapeType="1"/>
            </p:cNvSpPr>
            <p:nvPr/>
          </p:nvSpPr>
          <p:spPr bwMode="auto">
            <a:xfrm flipV="1">
              <a:off x="5333953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7" name="Line 34" hidden="1"/>
            <p:cNvSpPr>
              <a:spLocks noChangeShapeType="1"/>
            </p:cNvSpPr>
            <p:nvPr/>
          </p:nvSpPr>
          <p:spPr bwMode="auto">
            <a:xfrm flipV="1">
              <a:off x="6095409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8" name="Line 35" hidden="1"/>
            <p:cNvSpPr>
              <a:spLocks noChangeShapeType="1"/>
            </p:cNvSpPr>
            <p:nvPr/>
          </p:nvSpPr>
          <p:spPr bwMode="auto">
            <a:xfrm flipV="1">
              <a:off x="7619666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39" name="Line 36" hidden="1"/>
            <p:cNvSpPr>
              <a:spLocks noChangeShapeType="1"/>
            </p:cNvSpPr>
            <p:nvPr/>
          </p:nvSpPr>
          <p:spPr bwMode="auto">
            <a:xfrm flipV="1">
              <a:off x="8382465" y="-1858282"/>
              <a:ext cx="0" cy="10608018"/>
            </a:xfrm>
            <a:prstGeom prst="line">
              <a:avLst/>
            </a:prstGeom>
            <a:noFill/>
            <a:ln w="15875" cap="flat">
              <a:solidFill>
                <a:srgbClr val="DCD5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0" name="Freeform 37" hidden="1"/>
            <p:cNvSpPr>
              <a:spLocks/>
            </p:cNvSpPr>
            <p:nvPr/>
          </p:nvSpPr>
          <p:spPr bwMode="auto">
            <a:xfrm>
              <a:off x="-273" y="2291455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1" name="Freeform 40" hidden="1"/>
            <p:cNvSpPr>
              <a:spLocks/>
            </p:cNvSpPr>
            <p:nvPr/>
          </p:nvSpPr>
          <p:spPr bwMode="auto">
            <a:xfrm>
              <a:off x="-273" y="4577168"/>
              <a:ext cx="9144195" cy="0"/>
            </a:xfrm>
            <a:custGeom>
              <a:avLst/>
              <a:gdLst>
                <a:gd name="T0" fmla="*/ 0 w 6809"/>
                <a:gd name="T1" fmla="*/ 6809 w 6809"/>
                <a:gd name="T2" fmla="*/ 0 w 680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6809">
                  <a:moveTo>
                    <a:pt x="0" y="0"/>
                  </a:moveTo>
                  <a:lnTo>
                    <a:pt x="680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2" name="Freeform 41" hidden="1"/>
            <p:cNvSpPr>
              <a:spLocks/>
            </p:cNvSpPr>
            <p:nvPr/>
          </p:nvSpPr>
          <p:spPr bwMode="auto">
            <a:xfrm>
              <a:off x="2280068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3" name="Freeform 43" hidden="1"/>
            <p:cNvSpPr>
              <a:spLocks/>
            </p:cNvSpPr>
            <p:nvPr/>
          </p:nvSpPr>
          <p:spPr bwMode="auto">
            <a:xfrm>
              <a:off x="4565781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4" name="Freeform 45" hidden="1"/>
            <p:cNvSpPr>
              <a:spLocks/>
            </p:cNvSpPr>
            <p:nvPr/>
          </p:nvSpPr>
          <p:spPr bwMode="auto">
            <a:xfrm>
              <a:off x="6851494" y="-973"/>
              <a:ext cx="0" cy="6858482"/>
            </a:xfrm>
            <a:custGeom>
              <a:avLst/>
              <a:gdLst>
                <a:gd name="T0" fmla="*/ 0 h 5107"/>
                <a:gd name="T1" fmla="*/ 5107 h 5107"/>
                <a:gd name="T2" fmla="*/ 0 h 5107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5107">
                  <a:moveTo>
                    <a:pt x="0" y="0"/>
                  </a:moveTo>
                  <a:lnTo>
                    <a:pt x="0" y="5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grpSp>
          <p:nvGrpSpPr>
            <p:cNvPr id="45" name="Group 44" hidden="1"/>
            <p:cNvGrpSpPr/>
            <p:nvPr/>
          </p:nvGrpSpPr>
          <p:grpSpPr>
            <a:xfrm>
              <a:off x="-257908" y="2291455"/>
              <a:ext cx="9703057" cy="2285713"/>
              <a:chOff x="-1435894" y="2293837"/>
              <a:chExt cx="11291583" cy="2285713"/>
            </a:xfrm>
          </p:grpSpPr>
          <p:sp>
            <p:nvSpPr>
              <p:cNvPr id="54" name="Line 38" hidden="1"/>
              <p:cNvSpPr>
                <a:spLocks noChangeShapeType="1"/>
              </p:cNvSpPr>
              <p:nvPr/>
            </p:nvSpPr>
            <p:spPr bwMode="auto">
              <a:xfrm>
                <a:off x="-1435894" y="2293837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55" name="Line 40" hidden="1"/>
              <p:cNvSpPr>
                <a:spLocks noChangeShapeType="1"/>
              </p:cNvSpPr>
              <p:nvPr/>
            </p:nvSpPr>
            <p:spPr bwMode="auto">
              <a:xfrm>
                <a:off x="-1435894" y="4579550"/>
                <a:ext cx="11291583" cy="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</p:grpSp>
        <p:grpSp>
          <p:nvGrpSpPr>
            <p:cNvPr id="46" name="Group 45" hidden="1"/>
            <p:cNvGrpSpPr/>
            <p:nvPr/>
          </p:nvGrpSpPr>
          <p:grpSpPr>
            <a:xfrm>
              <a:off x="2280068" y="-375658"/>
              <a:ext cx="4571426" cy="7722004"/>
              <a:chOff x="2280068" y="-1991539"/>
              <a:chExt cx="4571426" cy="10958530"/>
            </a:xfrm>
          </p:grpSpPr>
          <p:sp>
            <p:nvSpPr>
              <p:cNvPr id="51" name="Line 42" hidden="1"/>
              <p:cNvSpPr>
                <a:spLocks noChangeShapeType="1"/>
              </p:cNvSpPr>
              <p:nvPr/>
            </p:nvSpPr>
            <p:spPr bwMode="auto">
              <a:xfrm>
                <a:off x="2280068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52" name="Line 44" hidden="1"/>
              <p:cNvSpPr>
                <a:spLocks noChangeShapeType="1"/>
              </p:cNvSpPr>
              <p:nvPr/>
            </p:nvSpPr>
            <p:spPr bwMode="auto">
              <a:xfrm>
                <a:off x="4565781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  <p:sp>
            <p:nvSpPr>
              <p:cNvPr id="53" name="Line 46" hidden="1"/>
              <p:cNvSpPr>
                <a:spLocks noChangeShapeType="1"/>
              </p:cNvSpPr>
              <p:nvPr/>
            </p:nvSpPr>
            <p:spPr bwMode="auto">
              <a:xfrm>
                <a:off x="6851494" y="-1991539"/>
                <a:ext cx="0" cy="10958530"/>
              </a:xfrm>
              <a:prstGeom prst="line">
                <a:avLst/>
              </a:prstGeom>
              <a:noFill/>
              <a:ln w="15875" cap="flat">
                <a:solidFill>
                  <a:srgbClr val="FF00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1800" dirty="0"/>
              </a:p>
            </p:txBody>
          </p:sp>
        </p:grpSp>
        <p:sp>
          <p:nvSpPr>
            <p:cNvPr id="47" name="Rectangle 47" hidden="1"/>
            <p:cNvSpPr>
              <a:spLocks noChangeArrowheads="1"/>
            </p:cNvSpPr>
            <p:nvPr/>
          </p:nvSpPr>
          <p:spPr bwMode="auto">
            <a:xfrm>
              <a:off x="-274" y="-973"/>
              <a:ext cx="256032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8" name="Rectangle 48" hidden="1"/>
            <p:cNvSpPr>
              <a:spLocks noChangeArrowheads="1"/>
            </p:cNvSpPr>
            <p:nvPr/>
          </p:nvSpPr>
          <p:spPr bwMode="auto">
            <a:xfrm>
              <a:off x="8890103" y="-973"/>
              <a:ext cx="253819" cy="6858482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49" name="Rectangle 49" hidden="1"/>
            <p:cNvSpPr>
              <a:spLocks noChangeArrowheads="1"/>
            </p:cNvSpPr>
            <p:nvPr/>
          </p:nvSpPr>
          <p:spPr bwMode="auto">
            <a:xfrm>
              <a:off x="-273" y="-973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  <p:sp>
          <p:nvSpPr>
            <p:cNvPr id="50" name="Rectangle 50" hidden="1"/>
            <p:cNvSpPr>
              <a:spLocks noChangeArrowheads="1"/>
            </p:cNvSpPr>
            <p:nvPr/>
          </p:nvSpPr>
          <p:spPr bwMode="auto">
            <a:xfrm>
              <a:off x="-273" y="6603690"/>
              <a:ext cx="9144195" cy="253819"/>
            </a:xfrm>
            <a:prstGeom prst="rect">
              <a:avLst/>
            </a:prstGeom>
            <a:solidFill>
              <a:srgbClr val="8AC1D9">
                <a:alpha val="5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  <p:graphicFrame>
        <p:nvGraphicFramePr>
          <p:cNvPr id="56" name="Table 55" hidden="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456637"/>
              </p:ext>
            </p:extLst>
          </p:nvPr>
        </p:nvGraphicFramePr>
        <p:xfrm>
          <a:off x="336558" y="770376"/>
          <a:ext cx="11521421" cy="60995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33886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</a:tblGrid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54149"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400" dirty="0">
                        <a:ln>
                          <a:solidFill>
                            <a:srgbClr val="88B868"/>
                          </a:solidFill>
                        </a:ln>
                        <a:latin typeface="Arial" panose="020B0604020202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B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2" name="Text Placeholder 2">
            <a:extLst>
              <a:ext uri="{FF2B5EF4-FFF2-40B4-BE49-F238E27FC236}">
                <a16:creationId xmlns:a16="http://schemas.microsoft.com/office/drawing/2014/main" id="{F5BC4CAF-EE1B-51DA-932B-F4B17A3D599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34305" y="1544194"/>
            <a:ext cx="11509248" cy="46930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100" dirty="0"/>
          </a:p>
        </p:txBody>
      </p:sp>
      <p:sp>
        <p:nvSpPr>
          <p:cNvPr id="65" name="Slide Number Placeholder 2">
            <a:extLst>
              <a:ext uri="{FF2B5EF4-FFF2-40B4-BE49-F238E27FC236}">
                <a16:creationId xmlns:a16="http://schemas.microsoft.com/office/drawing/2014/main" id="{AC0864ED-54AD-1A6B-F239-DC257CFC13D0}"/>
              </a:ext>
            </a:extLst>
          </p:cNvPr>
          <p:cNvSpPr txBox="1">
            <a:spLocks/>
          </p:cNvSpPr>
          <p:nvPr userDrawn="1"/>
        </p:nvSpPr>
        <p:spPr>
          <a:xfrm>
            <a:off x="11843553" y="6607039"/>
            <a:ext cx="248412" cy="206337"/>
          </a:xfrm>
          <a:prstGeom prst="rect">
            <a:avLst/>
          </a:prstGeom>
          <a:noFill/>
        </p:spPr>
        <p:txBody>
          <a:bodyPr wrap="none" lIns="0" tIns="0" rIns="0" bIns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EC1B2D3E-9360-4758-8E0C-AE3313532335}" type="slidenum">
              <a:rPr lang="en-US" sz="900" smtClea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pPr algn="l"/>
              <a:t>‹#›</a:t>
            </a:fld>
            <a:endParaRPr lang="en-US" sz="900" dirty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5D2A17-0873-62EC-6FC9-07574E7B0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305" y="6492992"/>
            <a:ext cx="9793088" cy="323165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700" i="0">
                <a:solidFill>
                  <a:srgbClr val="7A7A7A"/>
                </a:solidFill>
              </a:defRPr>
            </a:lvl1pPr>
          </a:lstStyle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BE3ECA6B-DBC3-FCD6-2CD3-73ACD7D8D7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940794" y="6665227"/>
            <a:ext cx="769400" cy="108098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CE19D4C9-5C71-9CF9-5206-198046FBA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3714750" y="1047750"/>
            <a:ext cx="4762500" cy="4762500"/>
          </a:xfrm>
          <a:prstGeom prst="rect">
            <a:avLst/>
          </a:prstGeom>
        </p:spPr>
      </p:pic>
      <p:sp>
        <p:nvSpPr>
          <p:cNvPr id="62" name="Title Placeholder 61">
            <a:extLst>
              <a:ext uri="{FF2B5EF4-FFF2-40B4-BE49-F238E27FC236}">
                <a16:creationId xmlns:a16="http://schemas.microsoft.com/office/drawing/2014/main" id="{024AE7D7-9E18-ECCA-60F5-C84944CEC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66547"/>
            <a:ext cx="11509200" cy="249299"/>
          </a:xfrm>
          <a:prstGeom prst="rect">
            <a:avLst/>
          </a:prstGeom>
        </p:spPr>
        <p:txBody>
          <a:bodyPr vert="horz" lIns="0" tIns="0" rIns="828000" bIns="0" rtlCol="0" anchor="b" anchorCtr="0">
            <a:sp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D2E8E4-5F54-A7E2-F586-495A770A1B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1402372" y="240112"/>
            <a:ext cx="441790" cy="41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50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3880" r:id="rId2"/>
    <p:sldLayoutId id="2147484105" r:id="rId3"/>
    <p:sldLayoutId id="2147483864" r:id="rId4"/>
    <p:sldLayoutId id="2147484104" r:id="rId5"/>
    <p:sldLayoutId id="2147484106" r:id="rId6"/>
    <p:sldLayoutId id="2147484080" r:id="rId7"/>
    <p:sldLayoutId id="2147484051" r:id="rId8"/>
    <p:sldLayoutId id="2147484097" r:id="rId9"/>
    <p:sldLayoutId id="2147484098" r:id="rId10"/>
    <p:sldLayoutId id="2147484099" r:id="rId11"/>
    <p:sldLayoutId id="2147484100" r:id="rId12"/>
    <p:sldLayoutId id="2147484101" r:id="rId13"/>
    <p:sldLayoutId id="2147484102" r:id="rId14"/>
    <p:sldLayoutId id="2147484103" r:id="rId15"/>
    <p:sldLayoutId id="2147483799" r:id="rId16"/>
    <p:sldLayoutId id="2147483997" r:id="rId17"/>
    <p:sldLayoutId id="2147483696" r:id="rId18"/>
    <p:sldLayoutId id="2147483998" r:id="rId19"/>
    <p:sldLayoutId id="2147483711" r:id="rId20"/>
    <p:sldLayoutId id="2147483884" r:id="rId21"/>
    <p:sldLayoutId id="2147483667" r:id="rId22"/>
    <p:sldLayoutId id="2147483999" r:id="rId23"/>
    <p:sldLayoutId id="2147483668" r:id="rId24"/>
    <p:sldLayoutId id="2147484000" r:id="rId25"/>
    <p:sldLayoutId id="2147483669" r:id="rId26"/>
    <p:sldLayoutId id="2147484001" r:id="rId27"/>
    <p:sldLayoutId id="2147483670" r:id="rId28"/>
    <p:sldLayoutId id="2147484002" r:id="rId29"/>
    <p:sldLayoutId id="2147483671" r:id="rId30"/>
    <p:sldLayoutId id="2147484003" r:id="rId31"/>
    <p:sldLayoutId id="2147483672" r:id="rId32"/>
    <p:sldLayoutId id="2147484004" r:id="rId33"/>
    <p:sldLayoutId id="2147483673" r:id="rId34"/>
    <p:sldLayoutId id="2147484093" r:id="rId35"/>
    <p:sldLayoutId id="2147484095" r:id="rId36"/>
    <p:sldLayoutId id="2147484096" r:id="rId37"/>
    <p:sldLayoutId id="2147484005" r:id="rId38"/>
    <p:sldLayoutId id="2147483674" r:id="rId39"/>
    <p:sldLayoutId id="2147484006" r:id="rId40"/>
    <p:sldLayoutId id="2147483675" r:id="rId41"/>
    <p:sldLayoutId id="2147484007" r:id="rId42"/>
    <p:sldLayoutId id="2147483751" r:id="rId43"/>
    <p:sldLayoutId id="2147484008" r:id="rId44"/>
    <p:sldLayoutId id="2147483752" r:id="rId45"/>
    <p:sldLayoutId id="2147484009" r:id="rId46"/>
    <p:sldLayoutId id="2147483753" r:id="rId47"/>
    <p:sldLayoutId id="2147484010" r:id="rId48"/>
    <p:sldLayoutId id="2147483676" r:id="rId49"/>
    <p:sldLayoutId id="2147484011" r:id="rId50"/>
    <p:sldLayoutId id="2147483677" r:id="rId51"/>
    <p:sldLayoutId id="2147484012" r:id="rId52"/>
    <p:sldLayoutId id="2147483678" r:id="rId53"/>
    <p:sldLayoutId id="2147484013" r:id="rId54"/>
    <p:sldLayoutId id="2147483834" r:id="rId55"/>
    <p:sldLayoutId id="2147484014" r:id="rId56"/>
    <p:sldLayoutId id="2147483835" r:id="rId57"/>
    <p:sldLayoutId id="2147484015" r:id="rId58"/>
    <p:sldLayoutId id="2147483843" r:id="rId59"/>
    <p:sldLayoutId id="2147484016" r:id="rId60"/>
    <p:sldLayoutId id="2147483846" r:id="rId61"/>
    <p:sldLayoutId id="2147484092" r:id="rId62"/>
    <p:sldLayoutId id="2147483861" r:id="rId63"/>
    <p:sldLayoutId id="2147484079" r:id="rId64"/>
    <p:sldLayoutId id="2147484094" r:id="rId6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1800" b="1" i="0" kern="1200" cap="none" spc="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SzPct val="100000"/>
        <a:buFont typeface="Wingdings 2" panose="05020102010507070707" pitchFamily="18" charset="2"/>
        <a:buNone/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1pPr>
      <a:lvl2pPr marL="174625" indent="-17780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2pPr>
      <a:lvl3pPr marL="342900" indent="-17145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3pPr>
      <a:lvl4pPr marL="514350" indent="-17145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tabLst>
          <a:tab pos="400050" algn="l"/>
        </a:tabLst>
        <a:defRPr lang="en-US" sz="1100" kern="120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4pPr>
      <a:lvl5pPr marL="685800" indent="-171450" algn="l" defTabSz="914400" rtl="0" eaLnBrk="1" latinLnBrk="0" hangingPunct="1">
        <a:lnSpc>
          <a:spcPct val="112000"/>
        </a:lnSpc>
        <a:spcBef>
          <a:spcPts val="0"/>
        </a:spcBef>
        <a:spcAft>
          <a:spcPts val="600"/>
        </a:spcAft>
        <a:buClrTx/>
        <a:buSzPct val="100000"/>
        <a:buFont typeface="Symbol" panose="05050102010706020507" pitchFamily="18" charset="2"/>
        <a:buChar char=""/>
        <a:defRPr lang="en-US" sz="1100" kern="1200" baseline="0" dirty="0">
          <a:solidFill>
            <a:schemeClr val="tx1"/>
          </a:solidFill>
          <a:latin typeface="+mn-lt"/>
          <a:ea typeface="Gulim" panose="020B0600000101010101" pitchFamily="34" charset="-127"/>
          <a:cs typeface="+mn-cs"/>
        </a:defRPr>
      </a:lvl5pPr>
      <a:lvl6pPr marL="594360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3232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832104" indent="-1143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950976" indent="-112713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Tx/>
        <a:buSzPct val="100000"/>
        <a:buFont typeface="Wingdings 2" panose="05020102010507070707" pitchFamily="18" charset="2"/>
        <a:buChar char="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8" userDrawn="1">
          <p15:clr>
            <a:srgbClr val="F26B43"/>
          </p15:clr>
        </p15:guide>
        <p15:guide id="3" pos="3734" userDrawn="1">
          <p15:clr>
            <a:srgbClr val="F26B43"/>
          </p15:clr>
        </p15:guide>
        <p15:guide id="4" pos="3936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orient="horz" pos="3929" userDrawn="1">
          <p15:clr>
            <a:srgbClr val="F26B43"/>
          </p15:clr>
        </p15:guide>
        <p15:guide id="7" pos="211" userDrawn="1">
          <p15:clr>
            <a:srgbClr val="F26B43"/>
          </p15:clr>
        </p15:guide>
        <p15:guide id="8" pos="7458" userDrawn="1">
          <p15:clr>
            <a:srgbClr val="F26B43"/>
          </p15:clr>
        </p15:guide>
        <p15:guide id="12" orient="horz" pos="972" userDrawn="1">
          <p15:clr>
            <a:srgbClr val="F26B43"/>
          </p15:clr>
        </p15:guide>
        <p15:guide id="13" orient="horz" pos="2628" userDrawn="1">
          <p15:clr>
            <a:srgbClr val="F26B43"/>
          </p15:clr>
        </p15:guide>
        <p15:guide id="14" orient="horz" pos="2562" userDrawn="1">
          <p15:clr>
            <a:srgbClr val="F26B43"/>
          </p15:clr>
        </p15:guide>
        <p15:guide id="15" orient="horz" pos="2484" userDrawn="1">
          <p15:clr>
            <a:srgbClr val="F26B43"/>
          </p15:clr>
        </p15:guide>
        <p15:guide id="16" orient="horz" pos="954" userDrawn="1">
          <p15:clr>
            <a:srgbClr val="F26B43"/>
          </p15:clr>
        </p15:guide>
        <p15:guide id="17" orient="horz" pos="1098" userDrawn="1">
          <p15:clr>
            <a:srgbClr val="F26B43"/>
          </p15:clr>
        </p15:guide>
        <p15:guide id="18" orient="horz" pos="27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16.svg"/><Relationship Id="rId3" Type="http://schemas.openxmlformats.org/officeDocument/2006/relationships/image" Target="../media/image17.svg"/><Relationship Id="rId4" Type="http://schemas.openxmlformats.org/officeDocument/2006/relationships/image" Target="../media/image18.svg"/><Relationship Id="rId5" Type="http://schemas.openxmlformats.org/officeDocument/2006/relationships/image" Target="../media/image19.svg"/><Relationship Id="rId6" Type="http://schemas.openxmlformats.org/officeDocument/2006/relationships/image" Target="../media/image20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image" Target="../media/image21.svg"/><Relationship Id="rId3" Type="http://schemas.openxmlformats.org/officeDocument/2006/relationships/image" Target="../media/image22.svg"/><Relationship Id="rId4" Type="http://schemas.openxmlformats.org/officeDocument/2006/relationships/image" Target="../media/image23.svg"/><Relationship Id="rId5" Type="http://schemas.openxmlformats.org/officeDocument/2006/relationships/image" Target="../media/image2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Relationship Id="rId23" Type="http://schemas.openxmlformats.org/officeDocument/2006/relationships/image" Target="../media/image51.png"/><Relationship Id="rId24" Type="http://schemas.microsoft.com/office/2007/relationships/hdphoto" Target="../media/hdphoto1.wdp"/><Relationship Id="rId25" Type="http://schemas.openxmlformats.org/officeDocument/2006/relationships/image" Target="../media/image52.png"/><Relationship Id="rId26" Type="http://schemas.openxmlformats.org/officeDocument/2006/relationships/image" Target="../media/image53.png"/><Relationship Id="rId27" Type="http://schemas.openxmlformats.org/officeDocument/2006/relationships/image" Target="../media/image54.png"/><Relationship Id="rId28" Type="http://schemas.openxmlformats.org/officeDocument/2006/relationships/image" Target="../media/image55.png"/><Relationship Id="rId29" Type="http://schemas.openxmlformats.org/officeDocument/2006/relationships/image" Target="../media/image56.png"/><Relationship Id="rId30" Type="http://schemas.openxmlformats.org/officeDocument/2006/relationships/image" Target="../media/image57.png"/><Relationship Id="rId31" Type="http://schemas.openxmlformats.org/officeDocument/2006/relationships/image" Target="../media/image5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3.png"/><Relationship Id="rId3" Type="http://schemas.openxmlformats.org/officeDocument/2006/relationships/image" Target="../media/image52.png"/><Relationship Id="rId4" Type="http://schemas.openxmlformats.org/officeDocument/2006/relationships/image" Target="../media/image59.png"/><Relationship Id="rId5" Type="http://schemas.openxmlformats.org/officeDocument/2006/relationships/image" Target="../media/image31.png"/><Relationship Id="rId6" Type="http://schemas.openxmlformats.org/officeDocument/2006/relationships/image" Target="../media/image4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42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svg"/><Relationship Id="rId12" Type="http://schemas.openxmlformats.org/officeDocument/2006/relationships/image" Target="../media/image74.png"/><Relationship Id="rId13" Type="http://schemas.openxmlformats.org/officeDocument/2006/relationships/image" Target="../media/image75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49.xml"/><Relationship Id="rId3" Type="http://schemas.openxmlformats.org/officeDocument/2006/relationships/image" Target="../media/image76.svg"/><Relationship Id="rId4" Type="http://schemas.openxmlformats.org/officeDocument/2006/relationships/image" Target="../media/image77.svg"/><Relationship Id="rId5" Type="http://schemas.openxmlformats.org/officeDocument/2006/relationships/image" Target="../media/image78.svg"/><Relationship Id="rId6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7D69-66A9-74AE-3E75-A3FC3178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4CBDC4C-0B2D-04A5-1318-45334FE2C7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2706" y="6463558"/>
            <a:ext cx="1495602" cy="177484"/>
          </a:xfrm>
        </p:spPr>
        <p:txBody>
          <a:bodyPr>
            <a:spAutoFit/>
          </a:bodyPr>
          <a:lstStyle/>
          <a:p>
            <a:pPr lvl="0"/>
            <a:r>
              <a:rPr lang="en-GB" noProof="0" dirty="0"/>
              <a:t>July 2026 </a:t>
            </a:r>
            <a:r>
              <a:rPr lang="en-GB" noProof="0" dirty="0">
                <a:solidFill>
                  <a:schemeClr val="accent4"/>
                </a:solidFill>
              </a:rPr>
              <a:t>| </a:t>
            </a:r>
            <a:r>
              <a:rPr lang="en-GB" noProof="0" dirty="0"/>
              <a:t>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ED993-FA7C-6D47-9675-A202DC0EE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ACAMS Discussion Materials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8E8BC3-6908-CB34-9156-F9438FF04B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996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64036A-6520-0A6B-FB78-A6527BC2A6C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24A38B-130A-F18D-9DDE-6194554B9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Executive Summary</a:t>
            </a:r>
            <a:endParaRPr lang="en-GB" dirty="0"/>
          </a:p>
        </p:txBody>
      </p:sp>
      <p:graphicFrame>
        <p:nvGraphicFramePr>
          <p:cNvPr id="6" name="Table 7">
            <a:extLst>
              <a:ext uri="{FF2B5EF4-FFF2-40B4-BE49-F238E27FC236}">
                <a16:creationId xmlns:a16="http://schemas.microsoft.com/office/drawing/2014/main" id="{5FD74078-9476-D51E-354C-1360FC672A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017528"/>
              </p:ext>
            </p:extLst>
          </p:nvPr>
        </p:nvGraphicFramePr>
        <p:xfrm>
          <a:off x="334962" y="1314450"/>
          <a:ext cx="11509198" cy="4936872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3030538">
                  <a:extLst>
                    <a:ext uri="{9D8B030D-6E8A-4147-A177-3AD203B41FA5}">
                      <a16:colId xmlns:a16="http://schemas.microsoft.com/office/drawing/2014/main" val="30039273"/>
                    </a:ext>
                  </a:extLst>
                </a:gridCol>
                <a:gridCol w="4239330">
                  <a:extLst>
                    <a:ext uri="{9D8B030D-6E8A-4147-A177-3AD203B41FA5}">
                      <a16:colId xmlns:a16="http://schemas.microsoft.com/office/drawing/2014/main" val="21871704"/>
                    </a:ext>
                  </a:extLst>
                </a:gridCol>
                <a:gridCol w="4239330">
                  <a:extLst>
                    <a:ext uri="{9D8B030D-6E8A-4147-A177-3AD203B41FA5}">
                      <a16:colId xmlns:a16="http://schemas.microsoft.com/office/drawing/2014/main" val="3650630935"/>
                    </a:ext>
                  </a:extLst>
                </a:gridCol>
              </a:tblGrid>
              <a:tr h="315393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900" b="1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</a:rPr>
                        <a:t>Setting the Stage</a:t>
                      </a:r>
                    </a:p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GB" sz="900" b="1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Capitalizing on a Unique Market Opportunity 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 Financial Crime Compliance market, which is experiencing rapid consolidation, is a $30B+ industry, projected to grow 12%+ annually through 2030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Currently,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sub-scale competitors with single-point solution business models are experiencing reduced growth and profitability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driven by increasing competition and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evolving customer preferences for scaled, multi-solution platforms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has developed a multi-pronged strategy to build a best-in-class financial crime compliance platform well-positioned to capitalize on the market opportunity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05113"/>
                  </a:ext>
                </a:extLst>
              </a:tr>
              <a:tr h="315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ThetaRay’s</a:t>
                      </a: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Strategic Vision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Building a Scaled, Best-in-Class </a:t>
                      </a:r>
                      <a:b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Financial Crime Compliance Platform 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accent2"/>
                          </a:solidFill>
                          <a:latin typeface="+mj-lt"/>
                          <a:ea typeface="Gulim" panose="020B0600000101010101" pitchFamily="34" charset="-127"/>
                          <a:cs typeface="+mn-cs"/>
                        </a:rPr>
                        <a:t>Near Term: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Amend terms of existing debt facility issued by HSBC (in-progress)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Execute strategic shift in business strategy, which will enhance growth, expand margins, and improve free cash flow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Effectuate strategic combination with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endParaRPr lang="en-GB" altLang="pt-BR" sz="900" kern="1200" noProof="0" dirty="0">
                        <a:solidFill>
                          <a:schemeClr val="tx1"/>
                        </a:solidFill>
                        <a:latin typeface="+mn-lt"/>
                        <a:ea typeface="Noto Sans" panose="020B0502040504020204" pitchFamily="34" charset="0"/>
                        <a:cs typeface="Rubik Light" pitchFamily="2" charset="-79"/>
                      </a:endParaRP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altLang="pt-BR" sz="900" b="1" kern="1200" dirty="0">
                          <a:solidFill>
                            <a:schemeClr val="accent2"/>
                          </a:solidFill>
                          <a:latin typeface="+mj-lt"/>
                          <a:ea typeface="Gulim" panose="020B0600000101010101" pitchFamily="34" charset="-127"/>
                          <a:cs typeface="+mn-cs"/>
                        </a:rPr>
                        <a:t>Long Term: </a:t>
                      </a:r>
                    </a:p>
                    <a:p>
                      <a:pPr marL="167058" lvl="1" indent="-167058" algn="l" defTabSz="914395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Build close relationships with key financial sponsors and strategics</a:t>
                      </a:r>
                    </a:p>
                    <a:p>
                      <a:pPr marL="167058" lvl="1" indent="-167058" algn="l" defTabSz="914395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Scale </a:t>
                      </a:r>
                      <a:r>
                        <a:rPr lang="en-GB" altLang="pt-BR" sz="900" kern="120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to $100M+ ARR with consistent profitability and free cash flow generation</a:t>
                      </a:r>
                    </a:p>
                    <a:p>
                      <a:pPr marL="167058" lvl="1" indent="-167058" algn="l" defTabSz="914395" rtl="0" eaLnBrk="1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Font typeface="Wingdings" panose="05000000000000000000" pitchFamily="2" charset="2"/>
                        <a:buChar char=""/>
                      </a:pPr>
                      <a:r>
                        <a:rPr lang="en-GB" altLang="pt-BR" sz="900" kern="120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Exit via sale at a premium valuation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893541"/>
                  </a:ext>
                </a:extLst>
              </a:tr>
              <a:tr h="315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ThetaRay</a:t>
                      </a: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+ </a:t>
                      </a:r>
                      <a:r>
                        <a:rPr kumimoji="0" lang="en-GB" sz="9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NapierAI</a:t>
                      </a: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Strategic Rationale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Adding a Highly Complementary Financial Crime Compliance Asset 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is a high-growth, capital efficient, financial crime compliance workflow platform, backed by Marlin Equity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adds complementary strength to </a:t>
                      </a:r>
                      <a:r>
                        <a:rPr lang="en-GB" altLang="pt-BR" sz="900" b="1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especially Customer Screening, KYC/CDD, Alert Investigation, Case Management and Data Integration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 combination would result in a scaled financial crime platform with end-to-end capabilities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featuring increased diversification, stronger go-to-market, higher customer retention, and enhanced revenue quality with improved long-term profitability and free cash flow generation 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Differentiates from legacy leaders 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such as Actimize, and Oracle FSS,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through faster deployment, superior user experience, ease of configuration, stronger innovation agility, and lower total cost of solutions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Differentiates from challenger leaders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such as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Feedzai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and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Quantexa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, </a:t>
                      </a: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through broader platform capabilities, and greater diversification </a:t>
                      </a:r>
                      <a:endParaRPr lang="en-GB" sz="900" b="1" kern="1200" dirty="0">
                        <a:solidFill>
                          <a:schemeClr val="tx1"/>
                        </a:solidFill>
                        <a:latin typeface="+mn-lt"/>
                        <a:ea typeface="Noto Sans" panose="020B0502040504020204" pitchFamily="34" charset="0"/>
                        <a:cs typeface="Rubik Light" pitchFamily="2" charset="-79"/>
                      </a:endParaRP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521843"/>
                  </a:ext>
                </a:extLst>
              </a:tr>
              <a:tr h="3153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The Time to Act is Now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Pursuing a strategic combination with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in the near-term is logical given: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As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continues to outperform, Marlin is actively considering strategic alternatives to scale the business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First-mover advantage in a consolidating market is a durable differentiator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Increasing regulatory complexity is driving demand for integrated platforms, with the EU AML Regulation taking effect in January 2027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b="1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With complementary product portfolios and limited overlap, executing the combination now allows the combined business to establish market leadership and capture strategic advantages before competitors pursue similar consolidation strategies </a:t>
                      </a:r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8568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Next Steps</a:t>
                      </a:r>
                    </a:p>
                  </a:txBody>
                  <a:tcPr marL="792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Address transaction feasibility by understanding cap tables and preference stacks for each company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Align on messaging for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ThetaRay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and </a:t>
                      </a:r>
                      <a:r>
                        <a:rPr lang="en-GB" altLang="pt-BR" sz="900" kern="1200" noProof="0" dirty="0" err="1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NapierAI</a:t>
                      </a: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 combination </a:t>
                      </a:r>
                    </a:p>
                    <a:p>
                      <a:pPr marL="167058" marR="0" lvl="1" indent="-167058" algn="l" defTabSz="914395" rtl="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Wingdings" panose="05000000000000000000" pitchFamily="2" charset="2"/>
                        <a:buChar char=""/>
                        <a:tabLst/>
                        <a:defRPr/>
                      </a:pPr>
                      <a:r>
                        <a:rPr lang="en-GB" altLang="pt-BR" sz="900" kern="1200" noProof="0" dirty="0">
                          <a:solidFill>
                            <a:schemeClr val="tx1"/>
                          </a:solidFill>
                          <a:latin typeface="+mn-lt"/>
                          <a:ea typeface="Noto Sans" panose="020B0502040504020204" pitchFamily="34" charset="0"/>
                          <a:cs typeface="Rubik Light" pitchFamily="2" charset="-79"/>
                        </a:rPr>
                        <a:t>Engage Marlin Equity to discuss merits and mechanics of transaction </a:t>
                      </a:r>
                    </a:p>
                  </a:txBody>
                  <a:tcPr marL="36000" marR="36000" marT="36000" marB="3600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36000" marB="36000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40484"/>
                  </a:ext>
                </a:extLst>
              </a:tr>
            </a:tbl>
          </a:graphicData>
        </a:graphic>
      </p:graphicFrame>
      <p:pic>
        <p:nvPicPr>
          <p:cNvPr id="8" name="Graphic 7">
            <a:extLst>
              <a:ext uri="{FF2B5EF4-FFF2-40B4-BE49-F238E27FC236}">
                <a16:creationId xmlns:a16="http://schemas.microsoft.com/office/drawing/2014/main" id="{5F184009-AAAD-41DA-4AA0-EBDA355F3C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8852" y="3467886"/>
            <a:ext cx="630000" cy="630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D2D068A-DCBF-5C0C-A30D-B6A8D047D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852" y="2370484"/>
            <a:ext cx="630000" cy="630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A06B2AE-AB59-2111-FD34-57826F737D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52" y="1510880"/>
            <a:ext cx="540000" cy="57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9FBC393-9FF4-C5EA-D678-4FDF50844D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319" y="4654586"/>
            <a:ext cx="545066" cy="6120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EB34D001-611D-0552-7870-F7BCA3F968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7852" y="5584804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8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29C44-4C20-4890-C2C3-ABCC92F08B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305" y="1521164"/>
            <a:ext cx="2727547" cy="177484"/>
          </a:xfrm>
        </p:spPr>
        <p:txBody>
          <a:bodyPr/>
          <a:lstStyle/>
          <a:p>
            <a:r>
              <a:rPr lang="en-GB" dirty="0"/>
              <a:t>Key Growth Drivers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97E51-2C4A-500C-26D7-0958447C45E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7058" y="1521164"/>
            <a:ext cx="2727547" cy="177484"/>
          </a:xfrm>
        </p:spPr>
        <p:txBody>
          <a:bodyPr/>
          <a:lstStyle/>
          <a:p>
            <a:r>
              <a:rPr lang="en-GB" dirty="0"/>
              <a:t>AI as a Tailwind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A19A73C-E0FB-19D7-BCE5-DE9847CE6CF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03600" y="1521164"/>
            <a:ext cx="2727547" cy="177484"/>
          </a:xfrm>
        </p:spPr>
        <p:txBody>
          <a:bodyPr/>
          <a:lstStyle/>
          <a:p>
            <a:r>
              <a:rPr lang="en-GB" dirty="0"/>
              <a:t>An Attractive Market Opportunity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386185-30BD-C444-D870-E56A9EEDD9A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dirty="0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0B368C-9B2B-3B67-1B58-8E56B74025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305" y="807171"/>
            <a:ext cx="8640985" cy="187937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A837747-A666-3631-9EBF-93EEF8104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8640985" cy="498598"/>
          </a:xfrm>
        </p:spPr>
        <p:txBody>
          <a:bodyPr/>
          <a:lstStyle/>
          <a:p>
            <a:r>
              <a:rPr lang="en-GB" dirty="0"/>
              <a:t>The Financial Information Services Market Offers Significant Whitespace Supported by Secular Tailwinds</a:t>
            </a:r>
          </a:p>
        </p:txBody>
      </p:sp>
      <p:sp>
        <p:nvSpPr>
          <p:cNvPr id="11" name="Content Placeholder 1">
            <a:extLst>
              <a:ext uri="{FF2B5EF4-FFF2-40B4-BE49-F238E27FC236}">
                <a16:creationId xmlns:a16="http://schemas.microsoft.com/office/drawing/2014/main" id="{E10867FA-EBAA-24AA-05A1-7692B3A50A5E}"/>
              </a:ext>
            </a:extLst>
          </p:cNvPr>
          <p:cNvSpPr txBox="1">
            <a:spLocks/>
          </p:cNvSpPr>
          <p:nvPr/>
        </p:nvSpPr>
        <p:spPr>
          <a:xfrm>
            <a:off x="334257" y="1781570"/>
            <a:ext cx="2727547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1pPr>
            <a:lvl2pPr marL="174625" indent="-17780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2pPr>
            <a:lvl3pPr marL="3429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3pPr>
            <a:lvl4pPr marL="51435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lang="en-US" sz="1100" kern="120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4pPr>
            <a:lvl5pPr marL="6858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baseline="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5pPr>
            <a:lvl6pPr marL="594360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232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32104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50976" indent="-112713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900" dirty="0">
                <a:solidFill>
                  <a:srgbClr val="929292"/>
                </a:solidFill>
                <a:ea typeface="+mn-ea"/>
                <a:cs typeface="Aharoni" panose="02010803020104030203" pitchFamily="2" charset="-79"/>
              </a:rPr>
              <a:t>Regulation is accelerating to keep up with the complex and evolving landscape, presenting an opportunity for ACAMS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475D478-7141-90A3-C763-4608D0DB17A0}"/>
              </a:ext>
            </a:extLst>
          </p:cNvPr>
          <p:cNvSpPr txBox="1">
            <a:spLocks/>
          </p:cNvSpPr>
          <p:nvPr/>
        </p:nvSpPr>
        <p:spPr>
          <a:xfrm>
            <a:off x="3237010" y="1781570"/>
            <a:ext cx="2315789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  <a:lvl2pPr marL="174625" indent="-1778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2pPr>
            <a:lvl3pPr marL="3429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3pPr>
            <a:lvl4pPr marL="51435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sz="1100">
                <a:ea typeface="Gulim" panose="020B0600000101010101" pitchFamily="34" charset="-127"/>
              </a:defRPr>
            </a:lvl4pPr>
            <a:lvl5pPr marL="6858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 baseline="0">
                <a:ea typeface="Gulim" panose="020B0600000101010101" pitchFamily="34" charset="-127"/>
              </a:defRPr>
            </a:lvl5pPr>
            <a:lvl6pPr marL="594360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6pPr>
            <a:lvl7pPr marL="713232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7pPr>
            <a:lvl8pPr marL="832104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8pPr>
            <a:lvl9pPr marL="950976" indent="-112713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9pPr>
          </a:lstStyle>
          <a:p>
            <a:r>
              <a:rPr lang="en-GB" dirty="0"/>
              <a:t>AI creates more demand for ACAMS as the industry turns to expert guidance for handling the ever-changing environment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28D6D15-154B-D7A3-786D-194C4807F0CD}"/>
              </a:ext>
            </a:extLst>
          </p:cNvPr>
          <p:cNvSpPr txBox="1">
            <a:spLocks/>
          </p:cNvSpPr>
          <p:nvPr/>
        </p:nvSpPr>
        <p:spPr>
          <a:xfrm>
            <a:off x="6103552" y="1781570"/>
            <a:ext cx="2727547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  <a:lvl2pPr marL="174625" indent="-1778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2pPr>
            <a:lvl3pPr marL="3429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3pPr>
            <a:lvl4pPr marL="51435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sz="1100">
                <a:ea typeface="Gulim" panose="020B0600000101010101" pitchFamily="34" charset="-127"/>
              </a:defRPr>
            </a:lvl4pPr>
            <a:lvl5pPr marL="6858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 baseline="0">
                <a:ea typeface="Gulim" panose="020B0600000101010101" pitchFamily="34" charset="-127"/>
              </a:defRPr>
            </a:lvl5pPr>
            <a:lvl6pPr marL="594360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6pPr>
            <a:lvl7pPr marL="713232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7pPr>
            <a:lvl8pPr marL="832104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8pPr>
            <a:lvl9pPr marL="950976" indent="-112713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9pPr>
          </a:lstStyle>
          <a:p>
            <a:r>
              <a:rPr lang="en-GB" dirty="0"/>
              <a:t>$4B+ serviceable addressable market for banks and credit unions that could adopt a managed deposit platform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C9E910-2FFF-5B37-6203-20493E97FDEC}"/>
              </a:ext>
            </a:extLst>
          </p:cNvPr>
          <p:cNvSpPr/>
          <p:nvPr/>
        </p:nvSpPr>
        <p:spPr>
          <a:xfrm>
            <a:off x="334257" y="2420777"/>
            <a:ext cx="1059977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Broadening Regulation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97B106-8575-610A-6C42-FD1B92CF8D6A}"/>
              </a:ext>
            </a:extLst>
          </p:cNvPr>
          <p:cNvSpPr txBox="1"/>
          <p:nvPr/>
        </p:nvSpPr>
        <p:spPr>
          <a:xfrm>
            <a:off x="1394234" y="2420777"/>
            <a:ext cx="1619385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AML rules apply to an increasing list of industries like digital assets, investment advisers, real estate and more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BCAAC78-1813-2517-26B4-CBD47D9DB899}"/>
              </a:ext>
            </a:extLst>
          </p:cNvPr>
          <p:cNvSpPr/>
          <p:nvPr/>
        </p:nvSpPr>
        <p:spPr>
          <a:xfrm>
            <a:off x="334256" y="3309472"/>
            <a:ext cx="1065692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Intensifying Enforcement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0AEAF1-255A-C757-E2D6-39AABE8F48CE}"/>
              </a:ext>
            </a:extLst>
          </p:cNvPr>
          <p:cNvSpPr txBox="1">
            <a:spLocks/>
          </p:cNvSpPr>
          <p:nvPr/>
        </p:nvSpPr>
        <p:spPr>
          <a:xfrm>
            <a:off x="1394234" y="3309472"/>
            <a:ext cx="1619385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Zero-tolerance for non-compliance compels institutions to invest in compliance infrastructure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472771-5988-7856-BBC8-2FAA1C3B5BAA}"/>
              </a:ext>
            </a:extLst>
          </p:cNvPr>
          <p:cNvSpPr/>
          <p:nvPr/>
        </p:nvSpPr>
        <p:spPr>
          <a:xfrm>
            <a:off x="334256" y="4198167"/>
            <a:ext cx="1065692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EU Opportunity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39C4BC-DAF4-4CA1-165B-430F4C953819}"/>
              </a:ext>
            </a:extLst>
          </p:cNvPr>
          <p:cNvSpPr txBox="1">
            <a:spLocks/>
          </p:cNvSpPr>
          <p:nvPr/>
        </p:nvSpPr>
        <p:spPr>
          <a:xfrm>
            <a:off x="1394012" y="4198167"/>
            <a:ext cx="1641287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EU’s new Anti Money Laundering Authority launched in July 2025 and is pushing stricter adherence across Europe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B3D0E3-FFB9-05A8-ECAE-836719B572B6}"/>
              </a:ext>
            </a:extLst>
          </p:cNvPr>
          <p:cNvSpPr/>
          <p:nvPr/>
        </p:nvSpPr>
        <p:spPr>
          <a:xfrm>
            <a:off x="334257" y="5086863"/>
            <a:ext cx="1059977" cy="757887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82444"/>
            </a:solidFill>
            <a:prstDash val="solid"/>
          </a:ln>
          <a:effectLst/>
        </p:spPr>
        <p:txBody>
          <a:bodyPr lIns="108000" tIns="72000" rIns="108000" bIns="72000" anchor="ctr">
            <a:noAutofit/>
          </a:bodyPr>
          <a:lstStyle/>
          <a:p>
            <a:pPr>
              <a:spcAft>
                <a:spcPts val="200"/>
              </a:spcAft>
              <a:buClr>
                <a:srgbClr val="272727"/>
              </a:buClr>
              <a:buSzPct val="100000"/>
            </a:pPr>
            <a:r>
              <a:rPr lang="en-US" sz="1000" b="1" dirty="0">
                <a:solidFill>
                  <a:schemeClr val="bg1"/>
                </a:solidFill>
              </a:rPr>
              <a:t>Crime Expansion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E5A789-5E9D-CB9A-224B-9126A0983DF6}"/>
              </a:ext>
            </a:extLst>
          </p:cNvPr>
          <p:cNvSpPr txBox="1">
            <a:spLocks/>
          </p:cNvSpPr>
          <p:nvPr/>
        </p:nvSpPr>
        <p:spPr>
          <a:xfrm>
            <a:off x="1394012" y="5086863"/>
            <a:ext cx="1619385" cy="757887"/>
          </a:xfrm>
          <a:prstGeom prst="rect">
            <a:avLst/>
          </a:prstGeom>
          <a:solidFill>
            <a:schemeClr val="bg2"/>
          </a:solidFill>
          <a:ln>
            <a:solidFill>
              <a:srgbClr val="182444"/>
            </a:solidFill>
          </a:ln>
        </p:spPr>
        <p:txBody>
          <a:bodyPr vert="horz" wrap="square" lIns="182880" tIns="0" rIns="0" bIns="0" rtlCol="0" anchor="ctr">
            <a:no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Money laundering and crypto-linked illicit flows are hitting regulatory highs increasing AML demand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10720D-F5A8-7A76-C520-6C9EFBF00D24}"/>
              </a:ext>
            </a:extLst>
          </p:cNvPr>
          <p:cNvSpPr txBox="1">
            <a:spLocks/>
          </p:cNvSpPr>
          <p:nvPr/>
        </p:nvSpPr>
        <p:spPr>
          <a:xfrm>
            <a:off x="3771299" y="3805068"/>
            <a:ext cx="2102108" cy="4154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>
              <a:buSzPct val="100000"/>
              <a:defRPr sz="900">
                <a:ea typeface="Noto Sans" panose="020B0502040504020204" pitchFamily="34" charset="0"/>
                <a:cs typeface="Rubik Light" pitchFamily="2" charset="-79"/>
              </a:defRPr>
            </a:lvl1pPr>
          </a:lstStyle>
          <a:p>
            <a:r>
              <a:rPr lang="en-US" dirty="0"/>
              <a:t>Expansion opportunity as AI governance is becoming its own regulated obligation with new mandated training demand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E5DC34-11E4-C0EF-7270-ACEA0D81A893}"/>
              </a:ext>
            </a:extLst>
          </p:cNvPr>
          <p:cNvSpPr txBox="1">
            <a:spLocks/>
          </p:cNvSpPr>
          <p:nvPr/>
        </p:nvSpPr>
        <p:spPr>
          <a:xfrm>
            <a:off x="3771299" y="3145715"/>
            <a:ext cx="2102108" cy="4154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>
              <a:buSzPct val="100000"/>
              <a:defRPr sz="900">
                <a:ea typeface="Noto Sans" panose="020B0502040504020204" pitchFamily="34" charset="0"/>
                <a:cs typeface="Rubik Light" pitchFamily="2" charset="-79"/>
              </a:defRPr>
            </a:lvl1pPr>
          </a:lstStyle>
          <a:p>
            <a:r>
              <a:rPr lang="en-US" dirty="0"/>
              <a:t>New technology creates new skill gaps; people turn to ACAMS to find competency with new-age tech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EA6BF5-68B2-2AAA-E9B2-3ECCD432B51C}"/>
              </a:ext>
            </a:extLst>
          </p:cNvPr>
          <p:cNvSpPr txBox="1"/>
          <p:nvPr/>
        </p:nvSpPr>
        <p:spPr>
          <a:xfrm>
            <a:off x="3771299" y="2359619"/>
            <a:ext cx="2102108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buSzPct val="100000"/>
            </a:pPr>
            <a:r>
              <a:rPr lang="en-US" sz="900" dirty="0">
                <a:ea typeface="Noto Sans" panose="020B0502040504020204" pitchFamily="34" charset="0"/>
                <a:cs typeface="Rubik Light" pitchFamily="2" charset="-79"/>
              </a:rPr>
              <a:t>AI supercharges crime as criminals seek to exploit model capabilities with deepfake fraud, fake identities and phishing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D03F2C-C658-D548-1937-1CEA617F21C9}"/>
              </a:ext>
            </a:extLst>
          </p:cNvPr>
          <p:cNvSpPr txBox="1">
            <a:spLocks/>
          </p:cNvSpPr>
          <p:nvPr/>
        </p:nvSpPr>
        <p:spPr>
          <a:xfrm>
            <a:off x="3771299" y="4717910"/>
            <a:ext cx="2102108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>
              <a:buSzPct val="100000"/>
              <a:defRPr sz="900">
                <a:ea typeface="Noto Sans" panose="020B0502040504020204" pitchFamily="34" charset="0"/>
                <a:cs typeface="Rubik Light" pitchFamily="2" charset="-79"/>
              </a:defRPr>
            </a:lvl1pPr>
          </a:lstStyle>
          <a:p>
            <a:r>
              <a:rPr lang="en-US" dirty="0"/>
              <a:t>AI automates the repetitive alert review but increases demand for higher-value investigative and analytical skills, placing a higher incentive to master re</a:t>
            </a:r>
          </a:p>
        </p:txBody>
      </p:sp>
      <p:sp>
        <p:nvSpPr>
          <p:cNvPr id="113" name="Content Placeholder 5">
            <a:extLst>
              <a:ext uri="{FF2B5EF4-FFF2-40B4-BE49-F238E27FC236}">
                <a16:creationId xmlns:a16="http://schemas.microsoft.com/office/drawing/2014/main" id="{35230519-AB6E-4846-978C-E48F35AC769E}"/>
              </a:ext>
            </a:extLst>
          </p:cNvPr>
          <p:cNvSpPr txBox="1">
            <a:spLocks/>
          </p:cNvSpPr>
          <p:nvPr/>
        </p:nvSpPr>
        <p:spPr>
          <a:xfrm>
            <a:off x="6103552" y="5066061"/>
            <a:ext cx="2727547" cy="2305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  <a:lvl2pPr marL="174625" indent="-17780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2pPr>
            <a:lvl3pPr marL="3429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>
                <a:ea typeface="Gulim" panose="020B0600000101010101" pitchFamily="34" charset="-127"/>
              </a:defRPr>
            </a:lvl3pPr>
            <a:lvl4pPr marL="51435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sz="1100">
                <a:ea typeface="Gulim" panose="020B0600000101010101" pitchFamily="34" charset="-127"/>
              </a:defRPr>
            </a:lvl4pPr>
            <a:lvl5pPr marL="685800" indent="-171450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sz="1100" baseline="0">
                <a:ea typeface="Gulim" panose="020B0600000101010101" pitchFamily="34" charset="-127"/>
              </a:defRPr>
            </a:lvl5pPr>
            <a:lvl6pPr marL="594360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6pPr>
            <a:lvl7pPr marL="713232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7pPr>
            <a:lvl8pPr marL="832104" indent="-1143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baseline="0"/>
            </a:lvl8pPr>
            <a:lvl9pPr marL="950976" indent="-112713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/>
            </a:lvl9pPr>
          </a:lstStyle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SzTx/>
              <a:buFont typeface="Wingdings" panose="05000000000000000000" pitchFamily="2" charset="2"/>
              <a:buChar char=""/>
              <a:defRPr/>
            </a:pPr>
            <a:r>
              <a:rPr lang="en-GB" sz="900" dirty="0">
                <a:ea typeface="Noto Sans" panose="020B0502040504020204" pitchFamily="34" charset="0"/>
                <a:cs typeface="Rubik Light" pitchFamily="2" charset="-79"/>
              </a:rPr>
              <a:t>Vended market is expected to grow at 15% through 2031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SzTx/>
              <a:buFont typeface="Wingdings" panose="05000000000000000000" pitchFamily="2" charset="2"/>
              <a:buChar char=""/>
              <a:defRPr/>
            </a:pPr>
            <a:r>
              <a:rPr lang="en-GB" sz="900" dirty="0">
                <a:ea typeface="Noto Sans" panose="020B0502040504020204" pitchFamily="34" charset="0"/>
                <a:cs typeface="Rubik Light" pitchFamily="2" charset="-79"/>
              </a:rPr>
              <a:t>Allied Solutions distributor network presents $500M </a:t>
            </a:r>
            <a:r>
              <a:rPr lang="en-GB" sz="900" dirty="0" err="1">
                <a:ea typeface="Noto Sans" panose="020B0502040504020204" pitchFamily="34" charset="0"/>
                <a:cs typeface="Rubik Light" pitchFamily="2" charset="-79"/>
              </a:rPr>
              <a:t>SureLock</a:t>
            </a:r>
            <a:r>
              <a:rPr lang="en-GB" sz="900" dirty="0">
                <a:ea typeface="Noto Sans" panose="020B0502040504020204" pitchFamily="34" charset="0"/>
                <a:cs typeface="Rubik Light" pitchFamily="2" charset="-79"/>
              </a:rPr>
              <a:t> upsell opportunity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551625D-4A10-BD88-5B1D-6FC9C61E4F0C}"/>
              </a:ext>
            </a:extLst>
          </p:cNvPr>
          <p:cNvGrpSpPr/>
          <p:nvPr/>
        </p:nvGrpSpPr>
        <p:grpSpPr>
          <a:xfrm>
            <a:off x="6282894" y="2439938"/>
            <a:ext cx="2368863" cy="2373118"/>
            <a:chOff x="3491896" y="2702965"/>
            <a:chExt cx="1673352" cy="1676357"/>
          </a:xfrm>
        </p:grpSpPr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A62A2C9B-F4A2-8963-2BD9-8482072509F8}"/>
                </a:ext>
              </a:extLst>
            </p:cNvPr>
            <p:cNvSpPr/>
            <p:nvPr/>
          </p:nvSpPr>
          <p:spPr>
            <a:xfrm>
              <a:off x="3491896" y="2702965"/>
              <a:ext cx="1673352" cy="167635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165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900" baseline="30000" dirty="0">
                <a:solidFill>
                  <a:schemeClr val="bg1"/>
                </a:solidFill>
                <a:ea typeface="Roboto Slab" pitchFamily="2" charset="0"/>
              </a:endParaRP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900" baseline="30000" dirty="0">
                <a:solidFill>
                  <a:schemeClr val="bg1"/>
                </a:solidFill>
                <a:ea typeface="Roboto Slab" pitchFamily="2" charset="0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1088E266-98D3-3814-FF76-126368FEB44A}"/>
                </a:ext>
              </a:extLst>
            </p:cNvPr>
            <p:cNvSpPr/>
            <p:nvPr/>
          </p:nvSpPr>
          <p:spPr>
            <a:xfrm>
              <a:off x="3747236" y="3212562"/>
              <a:ext cx="1162672" cy="11667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1188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1200" b="1" dirty="0">
                  <a:solidFill>
                    <a:schemeClr val="tx1"/>
                  </a:solidFill>
                  <a:ea typeface="Roboto Slab" pitchFamily="2" charset="0"/>
                </a:rPr>
                <a:t>$4.3B</a:t>
              </a: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900" dirty="0">
                  <a:solidFill>
                    <a:schemeClr val="tx1"/>
                  </a:solidFill>
                  <a:ea typeface="Roboto Slab" pitchFamily="2" charset="0"/>
                </a:rPr>
                <a:t>SAM</a:t>
              </a:r>
              <a:r>
                <a:rPr lang="en-US" sz="900" baseline="30000" dirty="0">
                  <a:solidFill>
                    <a:schemeClr val="tx1"/>
                  </a:solidFill>
                  <a:ea typeface="Roboto Slab" pitchFamily="2" charset="0"/>
                </a:rPr>
                <a:t>(3)</a:t>
              </a: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900" baseline="30000" dirty="0">
                <a:solidFill>
                  <a:schemeClr val="tx1"/>
                </a:solidFill>
                <a:ea typeface="Roboto Slab" pitchFamily="2" charset="0"/>
              </a:endParaRP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endParaRPr lang="en-US" sz="1000" baseline="30000" dirty="0">
                <a:solidFill>
                  <a:schemeClr val="tx1"/>
                </a:solidFill>
                <a:ea typeface="Roboto Slab" pitchFamily="2" charset="0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6129B4A1-8020-FAE9-E00C-DDFCE0E63331}"/>
                </a:ext>
              </a:extLst>
            </p:cNvPr>
            <p:cNvSpPr/>
            <p:nvPr/>
          </p:nvSpPr>
          <p:spPr>
            <a:xfrm>
              <a:off x="3959613" y="3643315"/>
              <a:ext cx="737919" cy="73600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1200" b="1" dirty="0">
                  <a:solidFill>
                    <a:schemeClr val="tx1"/>
                  </a:solidFill>
                  <a:ea typeface="Roboto Slab" pitchFamily="2" charset="0"/>
                </a:rPr>
                <a:t>$63M</a:t>
              </a:r>
            </a:p>
            <a:p>
              <a:pPr algn="ctr">
                <a:spcAft>
                  <a:spcPts val="200"/>
                </a:spcAft>
                <a:buClr>
                  <a:schemeClr val="tx1"/>
                </a:buClr>
                <a:buSzPct val="100000"/>
              </a:pPr>
              <a:r>
                <a:rPr lang="en-US" sz="900" dirty="0">
                  <a:solidFill>
                    <a:schemeClr val="tx1"/>
                  </a:solidFill>
                  <a:ea typeface="Roboto Slab" pitchFamily="2" charset="0"/>
                </a:rPr>
                <a:t>Kasasa 2026F Total Revenue</a:t>
              </a:r>
              <a:endParaRPr lang="en-US" sz="1000" dirty="0">
                <a:solidFill>
                  <a:schemeClr val="tx1"/>
                </a:solidFill>
                <a:ea typeface="Roboto Slab" pitchFamily="2" charset="0"/>
              </a:endParaRPr>
            </a:p>
          </p:txBody>
        </p: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8D0DC8E4-7CBD-E2E6-BE9D-024BF083336A}"/>
              </a:ext>
            </a:extLst>
          </p:cNvPr>
          <p:cNvSpPr txBox="1"/>
          <p:nvPr/>
        </p:nvSpPr>
        <p:spPr>
          <a:xfrm>
            <a:off x="7010125" y="2644025"/>
            <a:ext cx="914400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algn="ctr">
              <a:spcAft>
                <a:spcPts val="200"/>
              </a:spcAft>
              <a:buClr>
                <a:schemeClr val="tx1"/>
              </a:buClr>
              <a:buSzPct val="100000"/>
            </a:pPr>
            <a:r>
              <a:rPr lang="en-US" sz="1200" b="1" dirty="0">
                <a:solidFill>
                  <a:schemeClr val="bg1"/>
                </a:solidFill>
                <a:ea typeface="Roboto Slab" pitchFamily="2" charset="0"/>
              </a:rPr>
              <a:t>$20B</a:t>
            </a:r>
          </a:p>
          <a:p>
            <a:pPr algn="ctr">
              <a:spcAft>
                <a:spcPts val="200"/>
              </a:spcAft>
              <a:buClr>
                <a:schemeClr val="tx1"/>
              </a:buClr>
              <a:buSzPct val="100000"/>
            </a:pPr>
            <a:r>
              <a:rPr lang="en-US" sz="900" dirty="0">
                <a:solidFill>
                  <a:schemeClr val="bg1"/>
                </a:solidFill>
                <a:ea typeface="Roboto Slab" pitchFamily="2" charset="0"/>
              </a:rPr>
              <a:t>TAM</a:t>
            </a:r>
            <a:r>
              <a:rPr lang="en-US" sz="900" baseline="30000" dirty="0">
                <a:solidFill>
                  <a:schemeClr val="bg1"/>
                </a:solidFill>
                <a:ea typeface="Roboto Slab" pitchFamily="2" charset="0"/>
              </a:rPr>
              <a:t>(2)</a:t>
            </a:r>
          </a:p>
          <a:p>
            <a:pPr algn="ctr">
              <a:spcAft>
                <a:spcPts val="200"/>
              </a:spcAft>
              <a:buClr>
                <a:schemeClr val="tx1"/>
              </a:buClr>
              <a:buSzPct val="100000"/>
            </a:pPr>
            <a:endParaRPr lang="en-US" sz="900" baseline="30000" dirty="0">
              <a:solidFill>
                <a:schemeClr val="bg1"/>
              </a:solidFill>
              <a:ea typeface="Roboto Slab" pitchFamily="2" charset="0"/>
            </a:endParaRP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28583EDA-712F-E02A-1BD0-0E81A2F4A1B9}"/>
              </a:ext>
            </a:extLst>
          </p:cNvPr>
          <p:cNvGrpSpPr/>
          <p:nvPr/>
        </p:nvGrpSpPr>
        <p:grpSpPr>
          <a:xfrm>
            <a:off x="5552799" y="1540505"/>
            <a:ext cx="252000" cy="138803"/>
            <a:chOff x="3776662" y="2443162"/>
            <a:chExt cx="219075" cy="85725"/>
          </a:xfrm>
        </p:grpSpPr>
        <p:sp>
          <p:nvSpPr>
            <p:cNvPr id="130" name="Freeform: Shape 22">
              <a:extLst>
                <a:ext uri="{FF2B5EF4-FFF2-40B4-BE49-F238E27FC236}">
                  <a16:creationId xmlns:a16="http://schemas.microsoft.com/office/drawing/2014/main" id="{EE44EB35-8BDE-71B0-8AC8-53C34AEBEB53}"/>
                </a:ext>
              </a:extLst>
            </p:cNvPr>
            <p:cNvSpPr/>
            <p:nvPr/>
          </p:nvSpPr>
          <p:spPr>
            <a:xfrm>
              <a:off x="3776662" y="2443162"/>
              <a:ext cx="219075" cy="9525"/>
            </a:xfrm>
            <a:custGeom>
              <a:avLst/>
              <a:gdLst>
                <a:gd name="connsiteX0" fmla="*/ 0 w 219075"/>
                <a:gd name="connsiteY0" fmla="*/ 0 h 9525"/>
                <a:gd name="connsiteX1" fmla="*/ 219075 w 219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24">
              <a:extLst>
                <a:ext uri="{FF2B5EF4-FFF2-40B4-BE49-F238E27FC236}">
                  <a16:creationId xmlns:a16="http://schemas.microsoft.com/office/drawing/2014/main" id="{C8F7E49B-C630-3710-85FE-3024AD8880F5}"/>
                </a:ext>
              </a:extLst>
            </p:cNvPr>
            <p:cNvSpPr/>
            <p:nvPr/>
          </p:nvSpPr>
          <p:spPr>
            <a:xfrm>
              <a:off x="3776662" y="2519362"/>
              <a:ext cx="219075" cy="9525"/>
            </a:xfrm>
            <a:custGeom>
              <a:avLst/>
              <a:gdLst>
                <a:gd name="connsiteX0" fmla="*/ 0 w 219075"/>
                <a:gd name="connsiteY0" fmla="*/ 0 h 9525"/>
                <a:gd name="connsiteX1" fmla="*/ 219075 w 219075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9075" h="952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156263A1-61B4-1D6C-B81F-5CE0D41ED5BF}"/>
              </a:ext>
            </a:extLst>
          </p:cNvPr>
          <p:cNvGrpSpPr/>
          <p:nvPr/>
        </p:nvGrpSpPr>
        <p:grpSpPr>
          <a:xfrm>
            <a:off x="2637581" y="1483906"/>
            <a:ext cx="252000" cy="252000"/>
            <a:chOff x="4691062" y="2871787"/>
            <a:chExt cx="209550" cy="209550"/>
          </a:xfrm>
        </p:grpSpPr>
        <p:sp>
          <p:nvSpPr>
            <p:cNvPr id="138" name="Freeform: Shape 45">
              <a:extLst>
                <a:ext uri="{FF2B5EF4-FFF2-40B4-BE49-F238E27FC236}">
                  <a16:creationId xmlns:a16="http://schemas.microsoft.com/office/drawing/2014/main" id="{C9918A24-D1B4-4C0F-B64E-C935A4B766AA}"/>
                </a:ext>
              </a:extLst>
            </p:cNvPr>
            <p:cNvSpPr/>
            <p:nvPr/>
          </p:nvSpPr>
          <p:spPr>
            <a:xfrm>
              <a:off x="4795837" y="2871787"/>
              <a:ext cx="9525" cy="209550"/>
            </a:xfrm>
            <a:custGeom>
              <a:avLst/>
              <a:gdLst>
                <a:gd name="connsiteX0" fmla="*/ 0 w 9525"/>
                <a:gd name="connsiteY0" fmla="*/ 0 h 209550"/>
                <a:gd name="connsiteX1" fmla="*/ 0 w 9525"/>
                <a:gd name="connsiteY1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46">
              <a:extLst>
                <a:ext uri="{FF2B5EF4-FFF2-40B4-BE49-F238E27FC236}">
                  <a16:creationId xmlns:a16="http://schemas.microsoft.com/office/drawing/2014/main" id="{A27ACC27-D873-4C95-9785-2D4F2564219C}"/>
                </a:ext>
              </a:extLst>
            </p:cNvPr>
            <p:cNvSpPr/>
            <p:nvPr/>
          </p:nvSpPr>
          <p:spPr>
            <a:xfrm>
              <a:off x="4691062" y="2976562"/>
              <a:ext cx="209550" cy="9525"/>
            </a:xfrm>
            <a:custGeom>
              <a:avLst/>
              <a:gdLst>
                <a:gd name="connsiteX0" fmla="*/ 209550 w 209550"/>
                <a:gd name="connsiteY0" fmla="*/ 0 h 9525"/>
                <a:gd name="connsiteX1" fmla="*/ 0 w 2095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550" h="9525">
                  <a:moveTo>
                    <a:pt x="209550" y="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A520843-EAE0-D800-C406-E8F3CEDC4CAF}"/>
              </a:ext>
            </a:extLst>
          </p:cNvPr>
          <p:cNvGrpSpPr/>
          <p:nvPr/>
        </p:nvGrpSpPr>
        <p:grpSpPr>
          <a:xfrm>
            <a:off x="8940033" y="1482153"/>
            <a:ext cx="252000" cy="252000"/>
            <a:chOff x="4691062" y="2871787"/>
            <a:chExt cx="209550" cy="209550"/>
          </a:xfrm>
        </p:grpSpPr>
        <p:sp>
          <p:nvSpPr>
            <p:cNvPr id="19" name="Freeform: Shape 45">
              <a:extLst>
                <a:ext uri="{FF2B5EF4-FFF2-40B4-BE49-F238E27FC236}">
                  <a16:creationId xmlns:a16="http://schemas.microsoft.com/office/drawing/2014/main" id="{EE499E19-4468-A800-8440-976B6798CA0B}"/>
                </a:ext>
              </a:extLst>
            </p:cNvPr>
            <p:cNvSpPr/>
            <p:nvPr/>
          </p:nvSpPr>
          <p:spPr>
            <a:xfrm>
              <a:off x="4795837" y="2871787"/>
              <a:ext cx="9525" cy="209550"/>
            </a:xfrm>
            <a:custGeom>
              <a:avLst/>
              <a:gdLst>
                <a:gd name="connsiteX0" fmla="*/ 0 w 9525"/>
                <a:gd name="connsiteY0" fmla="*/ 0 h 209550"/>
                <a:gd name="connsiteX1" fmla="*/ 0 w 9525"/>
                <a:gd name="connsiteY1" fmla="*/ 209550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46">
              <a:extLst>
                <a:ext uri="{FF2B5EF4-FFF2-40B4-BE49-F238E27FC236}">
                  <a16:creationId xmlns:a16="http://schemas.microsoft.com/office/drawing/2014/main" id="{2666452C-2F0B-BB6D-A90F-FA6DE41C8295}"/>
                </a:ext>
              </a:extLst>
            </p:cNvPr>
            <p:cNvSpPr/>
            <p:nvPr/>
          </p:nvSpPr>
          <p:spPr>
            <a:xfrm>
              <a:off x="4691062" y="2976562"/>
              <a:ext cx="209550" cy="9525"/>
            </a:xfrm>
            <a:custGeom>
              <a:avLst/>
              <a:gdLst>
                <a:gd name="connsiteX0" fmla="*/ 209550 w 209550"/>
                <a:gd name="connsiteY0" fmla="*/ 0 h 9525"/>
                <a:gd name="connsiteX1" fmla="*/ 0 w 209550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9550" h="9525">
                  <a:moveTo>
                    <a:pt x="209550" y="0"/>
                  </a:moveTo>
                  <a:lnTo>
                    <a:pt x="0" y="0"/>
                  </a:lnTo>
                </a:path>
              </a:pathLst>
            </a:custGeom>
            <a:ln w="1270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56BAF96E-2C2B-6F3C-5413-370382E821CA}"/>
              </a:ext>
            </a:extLst>
          </p:cNvPr>
          <p:cNvSpPr txBox="1">
            <a:spLocks/>
          </p:cNvSpPr>
          <p:nvPr/>
        </p:nvSpPr>
        <p:spPr>
          <a:xfrm>
            <a:off x="9626093" y="1526891"/>
            <a:ext cx="2727547" cy="177484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Wingdings 2" panose="05020102010507070707" pitchFamily="18" charset="2"/>
              <a:buNone/>
              <a:defRPr lang="en-GB" sz="1100" b="1" kern="1200" dirty="0">
                <a:solidFill>
                  <a:schemeClr val="accent2"/>
                </a:solidFill>
                <a:latin typeface="+mj-lt"/>
                <a:ea typeface="Gulim" panose="020B0600000101010101" pitchFamily="34" charset="-127"/>
                <a:cs typeface="+mn-cs"/>
              </a:defRPr>
            </a:lvl1pPr>
            <a:lvl2pPr marL="174625" indent="-17780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2pPr>
            <a:lvl3pPr marL="3429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3pPr>
            <a:lvl4pPr marL="51435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tabLst>
                <a:tab pos="400050" algn="l"/>
              </a:tabLst>
              <a:defRPr lang="en-US" sz="1100" kern="120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4pPr>
            <a:lvl5pPr marL="685800" indent="-171450" algn="l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Symbol" panose="05050102010706020507" pitchFamily="18" charset="2"/>
              <a:buChar char=""/>
              <a:defRPr lang="en-US" sz="1100" kern="1200" baseline="0" dirty="0">
                <a:solidFill>
                  <a:schemeClr val="tx1"/>
                </a:solidFill>
                <a:latin typeface="+mn-lt"/>
                <a:ea typeface="Gulim" panose="020B0600000101010101" pitchFamily="34" charset="-127"/>
                <a:cs typeface="+mn-cs"/>
              </a:defRPr>
            </a:lvl5pPr>
            <a:lvl6pPr marL="594360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13232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32104" indent="-1143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50976" indent="-112713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 typeface="Wingdings 2" panose="05020102010507070707" pitchFamily="18" charset="2"/>
              <a:buChar char="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Exciting Growth Outlook</a:t>
            </a:r>
          </a:p>
        </p:txBody>
      </p:sp>
      <p:pic>
        <p:nvPicPr>
          <p:cNvPr id="32" name="Graphic 31" descr="Beetle with solid fill">
            <a:extLst>
              <a:ext uri="{FF2B5EF4-FFF2-40B4-BE49-F238E27FC236}">
                <a16:creationId xmlns:a16="http://schemas.microsoft.com/office/drawing/2014/main" id="{B480C1A8-950A-F583-E59C-114528B3C9E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6685" y="2420867"/>
            <a:ext cx="426458" cy="407928"/>
          </a:xfrm>
          <a:prstGeom prst="rect">
            <a:avLst/>
          </a:prstGeom>
        </p:spPr>
      </p:pic>
      <p:pic>
        <p:nvPicPr>
          <p:cNvPr id="57" name="Graphic 56" descr="Shield Tick with solid fill">
            <a:extLst>
              <a:ext uri="{FF2B5EF4-FFF2-40B4-BE49-F238E27FC236}">
                <a16:creationId xmlns:a16="http://schemas.microsoft.com/office/drawing/2014/main" id="{58B4039B-4CF9-F4F5-1724-3DD440E2D4D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3743" y="3120682"/>
            <a:ext cx="432342" cy="432342"/>
          </a:xfrm>
          <a:prstGeom prst="rect">
            <a:avLst/>
          </a:prstGeom>
        </p:spPr>
      </p:pic>
      <p:pic>
        <p:nvPicPr>
          <p:cNvPr id="88" name="Graphic 87" descr="Bank with solid fill">
            <a:extLst>
              <a:ext uri="{FF2B5EF4-FFF2-40B4-BE49-F238E27FC236}">
                <a16:creationId xmlns:a16="http://schemas.microsoft.com/office/drawing/2014/main" id="{5BDC8AD5-DC3F-39C9-3E0E-80B23D3F690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7220" y="3803276"/>
            <a:ext cx="445388" cy="450338"/>
          </a:xfrm>
          <a:prstGeom prst="rect">
            <a:avLst/>
          </a:prstGeom>
        </p:spPr>
      </p:pic>
      <p:pic>
        <p:nvPicPr>
          <p:cNvPr id="90" name="Graphic 89" descr="Building Brick Wall with solid fill">
            <a:extLst>
              <a:ext uri="{FF2B5EF4-FFF2-40B4-BE49-F238E27FC236}">
                <a16:creationId xmlns:a16="http://schemas.microsoft.com/office/drawing/2014/main" id="{B2D3A77A-3C9B-AF39-1171-C9A90FCC229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5226" y="4725536"/>
            <a:ext cx="509376" cy="50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947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8D8AF-A438-E991-4135-1AFB579E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843BD-CBB0-5BC4-2472-63C174B97C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525DBC6-E870-4E02-41E2-B6C64D7E9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 Financial Information Services Market Participants Exhibit Premium Valuations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AA668E-6B08-3178-948F-48F461C2D226}"/>
              </a:ext>
            </a:extLst>
          </p:cNvPr>
          <p:cNvSpPr/>
          <p:nvPr/>
        </p:nvSpPr>
        <p:spPr>
          <a:xfrm>
            <a:off x="334305" y="1711105"/>
            <a:ext cx="4065679" cy="44814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US" sz="1100" dirty="0">
                <a:solidFill>
                  <a:schemeClr val="tx1"/>
                </a:solidFill>
              </a:rPr>
              <a:t>TBU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2B9D68-0E64-CF52-9FAA-B37A77A701AC}"/>
              </a:ext>
            </a:extLst>
          </p:cNvPr>
          <p:cNvSpPr txBox="1"/>
          <p:nvPr/>
        </p:nvSpPr>
        <p:spPr>
          <a:xfrm>
            <a:off x="6206153" y="1422372"/>
            <a:ext cx="5151422" cy="28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Illustrative Universe Demonstrates Demand for the Sector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D6DAEA-D3B7-21FC-ADEA-D654809563F7}"/>
              </a:ext>
            </a:extLst>
          </p:cNvPr>
          <p:cNvCxnSpPr/>
          <p:nvPr/>
        </p:nvCxnSpPr>
        <p:spPr>
          <a:xfrm>
            <a:off x="6255947" y="1711105"/>
            <a:ext cx="5051834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8CC29B9-0407-14A2-BCAC-1B889F53661E}"/>
              </a:ext>
            </a:extLst>
          </p:cNvPr>
          <p:cNvSpPr txBox="1"/>
          <p:nvPr/>
        </p:nvSpPr>
        <p:spPr>
          <a:xfrm>
            <a:off x="6206153" y="1422372"/>
            <a:ext cx="5151422" cy="288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Illustrative Universe Demonstrates Demand for the Sector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B91AB86-8B3E-A354-D5D0-053C82D98822}"/>
              </a:ext>
            </a:extLst>
          </p:cNvPr>
          <p:cNvCxnSpPr/>
          <p:nvPr/>
        </p:nvCxnSpPr>
        <p:spPr>
          <a:xfrm>
            <a:off x="6255947" y="1711105"/>
            <a:ext cx="5051834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hart Panel Background">
            <a:extLst>
              <a:ext uri="{FF2B5EF4-FFF2-40B4-BE49-F238E27FC236}">
                <a16:creationId xmlns:a16="http://schemas.microsoft.com/office/drawing/2014/main" id="{0F689CC9-BD6A-6631-233E-F8D3914F59B4}"/>
              </a:ext>
            </a:extLst>
          </p:cNvPr>
          <p:cNvSpPr/>
          <p:nvPr/>
        </p:nvSpPr>
        <p:spPr>
          <a:xfrm>
            <a:off x="6245352" y="1783080"/>
            <a:ext cx="4169663" cy="4389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7BF989-6DF9-6ABF-4AD5-D21AD0FF4B6A}"/>
              </a:ext>
            </a:extLst>
          </p:cNvPr>
          <p:cNvSpPr txBox="1"/>
          <p:nvPr/>
        </p:nvSpPr>
        <p:spPr>
          <a:xfrm>
            <a:off x="10325363" y="18013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dirty="0">
                <a:solidFill>
                  <a:srgbClr val="182444"/>
                </a:solidFill>
                <a:latin typeface="Figtree"/>
              </a:rPr>
              <a:t>YTD Share Price</a:t>
            </a:r>
          </a:p>
        </p:txBody>
      </p:sp>
      <p:graphicFrame>
        <p:nvGraphicFramePr>
          <p:cNvPr id="12" name="Chart MSCI">
            <a:extLst>
              <a:ext uri="{FF2B5EF4-FFF2-40B4-BE49-F238E27FC236}">
                <a16:creationId xmlns:a16="http://schemas.microsoft.com/office/drawing/2014/main" id="{FD092E28-4914-C277-56BC-B2ED5B3E8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7747687"/>
              </p:ext>
            </p:extLst>
          </p:nvPr>
        </p:nvGraphicFramePr>
        <p:xfrm>
          <a:off x="5946649" y="2084831"/>
          <a:ext cx="4799858" cy="75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YTD Bubble MSCI">
            <a:extLst>
              <a:ext uri="{FF2B5EF4-FFF2-40B4-BE49-F238E27FC236}">
                <a16:creationId xmlns:a16="http://schemas.microsoft.com/office/drawing/2014/main" id="{672B71B3-102E-8B23-B324-76FA382A604B}"/>
              </a:ext>
            </a:extLst>
          </p:cNvPr>
          <p:cNvSpPr/>
          <p:nvPr/>
        </p:nvSpPr>
        <p:spPr>
          <a:xfrm>
            <a:off x="10716051" y="2323845"/>
            <a:ext cx="350985" cy="290070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 dirty="0">
                <a:solidFill>
                  <a:srgbClr val="182444"/>
                </a:solidFill>
                <a:latin typeface="Figtree"/>
              </a:rPr>
              <a:t>(4%)</a:t>
            </a:r>
          </a:p>
        </p:txBody>
      </p:sp>
      <p:graphicFrame>
        <p:nvGraphicFramePr>
          <p:cNvPr id="15" name="Chart Nasdaq">
            <a:extLst>
              <a:ext uri="{FF2B5EF4-FFF2-40B4-BE49-F238E27FC236}">
                <a16:creationId xmlns:a16="http://schemas.microsoft.com/office/drawing/2014/main" id="{EC28E4DB-4902-6646-3600-E836D6CD7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59198"/>
              </p:ext>
            </p:extLst>
          </p:nvPr>
        </p:nvGraphicFramePr>
        <p:xfrm>
          <a:off x="5946649" y="2862072"/>
          <a:ext cx="4799858" cy="75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YTD Bubble Nasdaq">
            <a:extLst>
              <a:ext uri="{FF2B5EF4-FFF2-40B4-BE49-F238E27FC236}">
                <a16:creationId xmlns:a16="http://schemas.microsoft.com/office/drawing/2014/main" id="{AC8EF0A1-7BF5-9F1C-3F49-DCDD84821315}"/>
              </a:ext>
            </a:extLst>
          </p:cNvPr>
          <p:cNvSpPr/>
          <p:nvPr/>
        </p:nvSpPr>
        <p:spPr>
          <a:xfrm>
            <a:off x="10716051" y="3101085"/>
            <a:ext cx="350985" cy="290070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82444"/>
                </a:solidFill>
                <a:latin typeface="Figtree"/>
              </a:rPr>
              <a:t>(1%)</a:t>
            </a:r>
          </a:p>
        </p:txBody>
      </p:sp>
      <p:graphicFrame>
        <p:nvGraphicFramePr>
          <p:cNvPr id="18" name="Chart Moody's">
            <a:extLst>
              <a:ext uri="{FF2B5EF4-FFF2-40B4-BE49-F238E27FC236}">
                <a16:creationId xmlns:a16="http://schemas.microsoft.com/office/drawing/2014/main" id="{646D23C7-D7A1-A322-DEA5-E1B00EE55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344377"/>
              </p:ext>
            </p:extLst>
          </p:nvPr>
        </p:nvGraphicFramePr>
        <p:xfrm>
          <a:off x="5946649" y="3639312"/>
          <a:ext cx="4799858" cy="75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YTD Bubble Moody's">
            <a:extLst>
              <a:ext uri="{FF2B5EF4-FFF2-40B4-BE49-F238E27FC236}">
                <a16:creationId xmlns:a16="http://schemas.microsoft.com/office/drawing/2014/main" id="{8E36D4E0-0065-057E-36FF-2B4AF1F3AF94}"/>
              </a:ext>
            </a:extLst>
          </p:cNvPr>
          <p:cNvSpPr/>
          <p:nvPr/>
        </p:nvSpPr>
        <p:spPr>
          <a:xfrm>
            <a:off x="10716051" y="3878324"/>
            <a:ext cx="350985" cy="290070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82444"/>
                </a:solidFill>
                <a:latin typeface="Figtree"/>
              </a:rPr>
              <a:t>(3%)</a:t>
            </a:r>
          </a:p>
        </p:txBody>
      </p:sp>
      <p:graphicFrame>
        <p:nvGraphicFramePr>
          <p:cNvPr id="21" name="Chart S&amp;P Global">
            <a:extLst>
              <a:ext uri="{FF2B5EF4-FFF2-40B4-BE49-F238E27FC236}">
                <a16:creationId xmlns:a16="http://schemas.microsoft.com/office/drawing/2014/main" id="{F950F512-7554-69BA-BC40-26ECA23BEE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404055"/>
              </p:ext>
            </p:extLst>
          </p:nvPr>
        </p:nvGraphicFramePr>
        <p:xfrm>
          <a:off x="5946649" y="4416552"/>
          <a:ext cx="4799858" cy="75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2" name="YTD Bubble S&amp;P Global">
            <a:extLst>
              <a:ext uri="{FF2B5EF4-FFF2-40B4-BE49-F238E27FC236}">
                <a16:creationId xmlns:a16="http://schemas.microsoft.com/office/drawing/2014/main" id="{79ECC5E5-5516-02CD-84B9-5D05ADB805AB}"/>
              </a:ext>
            </a:extLst>
          </p:cNvPr>
          <p:cNvSpPr/>
          <p:nvPr/>
        </p:nvSpPr>
        <p:spPr>
          <a:xfrm>
            <a:off x="10716051" y="4655564"/>
            <a:ext cx="350985" cy="290070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 dirty="0">
                <a:solidFill>
                  <a:srgbClr val="182444"/>
                </a:solidFill>
                <a:latin typeface="Figtree"/>
              </a:rPr>
              <a:t>(18%)</a:t>
            </a:r>
          </a:p>
        </p:txBody>
      </p:sp>
      <p:graphicFrame>
        <p:nvGraphicFramePr>
          <p:cNvPr id="24" name="Chart Thomson Reuters">
            <a:extLst>
              <a:ext uri="{FF2B5EF4-FFF2-40B4-BE49-F238E27FC236}">
                <a16:creationId xmlns:a16="http://schemas.microsoft.com/office/drawing/2014/main" id="{186F53C3-EBDA-D9AB-FEF0-4A07BB6AF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202605"/>
              </p:ext>
            </p:extLst>
          </p:nvPr>
        </p:nvGraphicFramePr>
        <p:xfrm>
          <a:off x="5946649" y="5193792"/>
          <a:ext cx="4799858" cy="758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YTD Bubble Thomson Reuters">
            <a:extLst>
              <a:ext uri="{FF2B5EF4-FFF2-40B4-BE49-F238E27FC236}">
                <a16:creationId xmlns:a16="http://schemas.microsoft.com/office/drawing/2014/main" id="{E361B0F3-AB98-DC50-BFC8-87DE6B1E3578}"/>
              </a:ext>
            </a:extLst>
          </p:cNvPr>
          <p:cNvSpPr/>
          <p:nvPr/>
        </p:nvSpPr>
        <p:spPr>
          <a:xfrm>
            <a:off x="10716051" y="5432804"/>
            <a:ext cx="350985" cy="290070"/>
          </a:xfrm>
          <a:prstGeom prst="ellipse">
            <a:avLst/>
          </a:prstGeom>
          <a:solidFill>
            <a:srgbClr val="D7ED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 dirty="0">
                <a:solidFill>
                  <a:srgbClr val="182444"/>
                </a:solidFill>
                <a:latin typeface="Figtree"/>
              </a:rPr>
              <a:t>(18%)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C5D82F-AC64-F662-5187-E9F4B331C8C5}"/>
              </a:ext>
            </a:extLst>
          </p:cNvPr>
          <p:cNvSpPr/>
          <p:nvPr/>
        </p:nvSpPr>
        <p:spPr>
          <a:xfrm>
            <a:off x="6293145" y="1803405"/>
            <a:ext cx="62455" cy="62455"/>
          </a:xfrm>
          <a:prstGeom prst="rect">
            <a:avLst/>
          </a:prstGeom>
          <a:solidFill>
            <a:srgbClr val="1236D3"/>
          </a:solidFill>
          <a:ln>
            <a:solidFill>
              <a:srgbClr val="1236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F2EA543A-C5D7-2B47-01AF-6702D843A714}"/>
              </a:ext>
            </a:extLst>
          </p:cNvPr>
          <p:cNvSpPr txBox="1">
            <a:spLocks/>
          </p:cNvSpPr>
          <p:nvPr/>
        </p:nvSpPr>
        <p:spPr>
          <a:xfrm>
            <a:off x="6421761" y="1758930"/>
            <a:ext cx="826884" cy="1315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765414" rtl="0" eaLnBrk="1" latinLnBrk="0" hangingPunct="1">
              <a:lnSpc>
                <a:spcPct val="113000"/>
              </a:lnSpc>
              <a:spcBef>
                <a:spcPts val="837"/>
              </a:spcBef>
              <a:spcAft>
                <a:spcPts val="4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  <a:lvl2pPr marL="574061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2pPr>
            <a:lvl3pPr marL="956767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3pPr>
            <a:lvl4pPr marL="1339475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4pPr>
            <a:lvl5pPr marL="1722182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5pPr>
            <a:lvl6pPr marL="2104889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96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70303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3010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+mn-lt"/>
              </a:rPr>
              <a:t>EV / ’26E Rev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164A0C8-B57D-7D0D-6B03-B639621CD311}"/>
              </a:ext>
            </a:extLst>
          </p:cNvPr>
          <p:cNvSpPr>
            <a:spLocks/>
          </p:cNvSpPr>
          <p:nvPr/>
        </p:nvSpPr>
        <p:spPr>
          <a:xfrm>
            <a:off x="7339165" y="1792262"/>
            <a:ext cx="62455" cy="62455"/>
          </a:xfrm>
          <a:prstGeom prst="rect">
            <a:avLst/>
          </a:prstGeom>
          <a:solidFill>
            <a:srgbClr val="182444"/>
          </a:solidFill>
          <a:ln>
            <a:solidFill>
              <a:srgbClr val="182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>
              <a:solidFill>
                <a:srgbClr val="FFFFFF"/>
              </a:solidFill>
            </a:endParaRP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8064437D-BF51-CF04-0194-1314B7E109BB}"/>
              </a:ext>
            </a:extLst>
          </p:cNvPr>
          <p:cNvSpPr txBox="1">
            <a:spLocks/>
          </p:cNvSpPr>
          <p:nvPr/>
        </p:nvSpPr>
        <p:spPr>
          <a:xfrm>
            <a:off x="7467781" y="1757734"/>
            <a:ext cx="1000529" cy="1315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765414" rtl="0" eaLnBrk="1" latinLnBrk="0" hangingPunct="1">
              <a:lnSpc>
                <a:spcPct val="113000"/>
              </a:lnSpc>
              <a:spcBef>
                <a:spcPts val="837"/>
              </a:spcBef>
              <a:spcAft>
                <a:spcPts val="400"/>
              </a:spcAft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1pPr>
            <a:lvl2pPr marL="574061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2pPr>
            <a:lvl3pPr marL="956767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3pPr>
            <a:lvl4pPr marL="1339475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4pPr>
            <a:lvl5pPr marL="1722182" indent="-191354" algn="l" defTabSz="765414" rtl="0" eaLnBrk="1" latinLnBrk="0" hangingPunct="1">
              <a:lnSpc>
                <a:spcPct val="113000"/>
              </a:lnSpc>
              <a:spcBef>
                <a:spcPts val="419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Montserrat Medium" pitchFamily="2" charset="0"/>
                <a:ea typeface="+mn-ea"/>
                <a:cs typeface="+mn-cs"/>
              </a:defRPr>
            </a:lvl5pPr>
            <a:lvl6pPr marL="2104889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96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70303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3010" indent="-191354" algn="l" defTabSz="765414" rtl="0" eaLnBrk="1" latinLnBrk="0" hangingPunct="1">
              <a:lnSpc>
                <a:spcPct val="90000"/>
              </a:lnSpc>
              <a:spcBef>
                <a:spcPts val="419"/>
              </a:spcBef>
              <a:buFont typeface="Arial" panose="020B0604020202020204" pitchFamily="34" charset="0"/>
              <a:buChar char="•"/>
              <a:defRPr sz="150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+mn-lt"/>
              </a:rPr>
              <a:t>Rule of ___ Metric</a:t>
            </a:r>
          </a:p>
        </p:txBody>
      </p:sp>
      <p:pic>
        <p:nvPicPr>
          <p:cNvPr id="35" name="Logo 37">
            <a:extLst>
              <a:ext uri="{FF2B5EF4-FFF2-40B4-BE49-F238E27FC236}">
                <a16:creationId xmlns:a16="http://schemas.microsoft.com/office/drawing/2014/main" id="{73A972CC-01E9-EF4F-6FBB-E4A2531F8C3B}"/>
              </a:ext>
            </a:extLst>
          </p:cNvPr>
          <p:cNvPicPr>
            <a:picLocks noChangeAspect="1"/>
          </p:cNvPicPr>
          <p:nvPr/>
        </p:nvPicPr>
        <p:blipFill dpi="330">
          <a:blip r:embed="rId7"/>
          <a:stretch>
            <a:fillRect/>
          </a:stretch>
        </p:blipFill>
        <p:spPr>
          <a:xfrm>
            <a:off x="6355600" y="2368659"/>
            <a:ext cx="715123" cy="191295"/>
          </a:xfrm>
          <a:prstGeom prst="rect">
            <a:avLst/>
          </a:prstGeom>
        </p:spPr>
      </p:pic>
      <p:pic>
        <p:nvPicPr>
          <p:cNvPr id="36" name="Logo 38">
            <a:extLst>
              <a:ext uri="{FF2B5EF4-FFF2-40B4-BE49-F238E27FC236}">
                <a16:creationId xmlns:a16="http://schemas.microsoft.com/office/drawing/2014/main" id="{8E796630-F019-5045-8BAD-73C22B80C2CB}"/>
              </a:ext>
            </a:extLst>
          </p:cNvPr>
          <p:cNvPicPr>
            <a:picLocks noChangeAspect="1"/>
          </p:cNvPicPr>
          <p:nvPr/>
        </p:nvPicPr>
        <p:blipFill dpi="330">
          <a:blip r:embed="rId8"/>
          <a:stretch>
            <a:fillRect/>
          </a:stretch>
        </p:blipFill>
        <p:spPr>
          <a:xfrm>
            <a:off x="6324372" y="3101085"/>
            <a:ext cx="686627" cy="195689"/>
          </a:xfrm>
          <a:prstGeom prst="rect">
            <a:avLst/>
          </a:prstGeom>
        </p:spPr>
      </p:pic>
      <p:pic>
        <p:nvPicPr>
          <p:cNvPr id="37" name="Logo 39">
            <a:extLst>
              <a:ext uri="{FF2B5EF4-FFF2-40B4-BE49-F238E27FC236}">
                <a16:creationId xmlns:a16="http://schemas.microsoft.com/office/drawing/2014/main" id="{C82D5CAD-1223-7075-168B-AD70C58ED759}"/>
              </a:ext>
            </a:extLst>
          </p:cNvPr>
          <p:cNvPicPr>
            <a:picLocks noChangeAspect="1"/>
          </p:cNvPicPr>
          <p:nvPr/>
        </p:nvPicPr>
        <p:blipFill dpi="330">
          <a:blip r:embed="rId9"/>
          <a:stretch>
            <a:fillRect/>
          </a:stretch>
        </p:blipFill>
        <p:spPr>
          <a:xfrm>
            <a:off x="6324372" y="3959292"/>
            <a:ext cx="863343" cy="142452"/>
          </a:xfrm>
          <a:prstGeom prst="rect">
            <a:avLst/>
          </a:prstGeom>
        </p:spPr>
      </p:pic>
      <p:pic>
        <p:nvPicPr>
          <p:cNvPr id="38" name="Logo 40">
            <a:extLst>
              <a:ext uri="{FF2B5EF4-FFF2-40B4-BE49-F238E27FC236}">
                <a16:creationId xmlns:a16="http://schemas.microsoft.com/office/drawing/2014/main" id="{8D9B3F64-F034-164D-D397-EAB1A6D9D46D}"/>
              </a:ext>
            </a:extLst>
          </p:cNvPr>
          <p:cNvPicPr>
            <a:picLocks noChangeAspect="1"/>
          </p:cNvPicPr>
          <p:nvPr/>
        </p:nvPicPr>
        <p:blipFill dpi="330">
          <a:blip r:embed="rId10"/>
          <a:stretch>
            <a:fillRect/>
          </a:stretch>
        </p:blipFill>
        <p:spPr>
          <a:xfrm>
            <a:off x="6317709" y="4718244"/>
            <a:ext cx="790903" cy="172021"/>
          </a:xfrm>
          <a:prstGeom prst="rect">
            <a:avLst/>
          </a:prstGeom>
        </p:spPr>
      </p:pic>
      <p:pic>
        <p:nvPicPr>
          <p:cNvPr id="39" name="Logo 41">
            <a:extLst>
              <a:ext uri="{FF2B5EF4-FFF2-40B4-BE49-F238E27FC236}">
                <a16:creationId xmlns:a16="http://schemas.microsoft.com/office/drawing/2014/main" id="{A5AC23E5-F8AE-7411-CC2D-8E8CEFCD563B}"/>
              </a:ext>
            </a:extLst>
          </p:cNvPr>
          <p:cNvPicPr>
            <a:picLocks noChangeAspect="1"/>
          </p:cNvPicPr>
          <p:nvPr/>
        </p:nvPicPr>
        <p:blipFill dpi="330">
          <a:blip r:embed="rId11"/>
          <a:stretch>
            <a:fillRect/>
          </a:stretch>
        </p:blipFill>
        <p:spPr>
          <a:xfrm>
            <a:off x="6324372" y="5482038"/>
            <a:ext cx="892591" cy="12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398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544A2-0F59-C770-A47A-97875839E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0B053E-0467-489F-AFEF-3D84E040AC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489B1A-0EC6-9F20-0777-99C55982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11509200" cy="498598"/>
          </a:xfrm>
        </p:spPr>
        <p:txBody>
          <a:bodyPr/>
          <a:lstStyle/>
          <a:p>
            <a:r>
              <a:rPr lang="en-GB" dirty="0"/>
              <a:t>The Pivot from Not-for-Profit to Public Company Has Been Successfully Executed Across </a:t>
            </a:r>
            <a:br>
              <a:rPr lang="en-GB" dirty="0"/>
            </a:br>
            <a:r>
              <a:rPr lang="en-GB" dirty="0"/>
              <a:t>Multiple Industries</a:t>
            </a:r>
          </a:p>
        </p:txBody>
      </p:sp>
    </p:spTree>
    <p:extLst>
      <p:ext uri="{BB962C8B-B14F-4D97-AF65-F5344CB8AC3E}">
        <p14:creationId xmlns:p14="http://schemas.microsoft.com/office/powerpoint/2010/main" val="290963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2232-D16B-0CE6-4075-D874E10B1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77602B-DC0A-DF2B-E4B3-8BA7FA88798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8930B7-F84E-0192-492A-C94058127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11509200" cy="498598"/>
          </a:xfrm>
        </p:spPr>
        <p:txBody>
          <a:bodyPr/>
          <a:lstStyle/>
          <a:p>
            <a:r>
              <a:rPr lang="en-GB" dirty="0"/>
              <a:t>ACAMS' Business Model is Well Positioned to Excel as a Best-in-Class Financial Information </a:t>
            </a:r>
            <a:br>
              <a:rPr lang="en-GB" dirty="0"/>
            </a:br>
            <a:r>
              <a:rPr lang="en-GB" dirty="0"/>
              <a:t>Services Platform </a:t>
            </a:r>
          </a:p>
        </p:txBody>
      </p:sp>
    </p:spTree>
    <p:extLst>
      <p:ext uri="{BB962C8B-B14F-4D97-AF65-F5344CB8AC3E}">
        <p14:creationId xmlns:p14="http://schemas.microsoft.com/office/powerpoint/2010/main" val="308270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98FCF-591B-BCE0-A08F-D632687B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F00495F-F0B3-FF03-F32B-34A99FE907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4F216-3342-BA73-8E3E-25440AD3AE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DEC9D66-D647-06C9-1A69-696048D9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Combining ThetaRay with NapierAI</a:t>
            </a:r>
            <a:br>
              <a:rPr lang="en-GB"/>
            </a:br>
            <a:r>
              <a:rPr lang="en-GB"/>
              <a:t>Offers a Compelling Strategic Opportunity</a:t>
            </a:r>
            <a:endParaRPr lang="en-GB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90E145D-E1B8-A75B-F229-AFA3415C45FA}"/>
              </a:ext>
            </a:extLst>
          </p:cNvPr>
          <p:cNvGrpSpPr/>
          <p:nvPr/>
        </p:nvGrpSpPr>
        <p:grpSpPr>
          <a:xfrm>
            <a:off x="82550" y="2419350"/>
            <a:ext cx="2497615" cy="2391317"/>
            <a:chOff x="5248410" y="793190"/>
            <a:chExt cx="5506499" cy="5272143"/>
          </a:xfrm>
        </p:grpSpPr>
        <p:sp>
          <p:nvSpPr>
            <p:cNvPr id="8" name="Free-form: Shape 6">
              <a:extLst>
                <a:ext uri="{FF2B5EF4-FFF2-40B4-BE49-F238E27FC236}">
                  <a16:creationId xmlns:a16="http://schemas.microsoft.com/office/drawing/2014/main" id="{E908B47B-3531-350F-F556-C6F84EC903B5}"/>
                </a:ext>
              </a:extLst>
            </p:cNvPr>
            <p:cNvSpPr/>
            <p:nvPr/>
          </p:nvSpPr>
          <p:spPr>
            <a:xfrm>
              <a:off x="7083867" y="3429325"/>
              <a:ext cx="3671042" cy="2636008"/>
            </a:xfrm>
            <a:custGeom>
              <a:avLst/>
              <a:gdLst>
                <a:gd name="csX0" fmla="*/ 3671043 w 3671042"/>
                <a:gd name="csY0" fmla="*/ 0 h 2636008"/>
                <a:gd name="csX1" fmla="*/ 2060461 w 3671042"/>
                <a:gd name="csY1" fmla="*/ 2313017 h 2636008"/>
                <a:gd name="csX2" fmla="*/ 1837808 w 3671042"/>
                <a:gd name="csY2" fmla="*/ 2632706 h 2636008"/>
                <a:gd name="csX3" fmla="*/ 1835521 w 3671042"/>
                <a:gd name="csY3" fmla="*/ 2636009 h 2636008"/>
                <a:gd name="csX4" fmla="*/ 0 w 3671042"/>
                <a:gd name="csY4" fmla="*/ 0 h 2636008"/>
                <a:gd name="csX5" fmla="*/ 3671043 w 3671042"/>
                <a:gd name="csY5" fmla="*/ 0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3671042" h="2636008">
                  <a:moveTo>
                    <a:pt x="3671043" y="0"/>
                  </a:moveTo>
                  <a:lnTo>
                    <a:pt x="2060461" y="2313017"/>
                  </a:lnTo>
                  <a:lnTo>
                    <a:pt x="1837808" y="2632706"/>
                  </a:lnTo>
                  <a:lnTo>
                    <a:pt x="1835521" y="2636009"/>
                  </a:lnTo>
                  <a:lnTo>
                    <a:pt x="0" y="0"/>
                  </a:lnTo>
                  <a:lnTo>
                    <a:pt x="3671043" y="0"/>
                  </a:lnTo>
                  <a:close/>
                </a:path>
              </a:pathLst>
            </a:custGeom>
            <a:solidFill>
              <a:srgbClr val="0C7C87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-form: Shape 13">
              <a:extLst>
                <a:ext uri="{FF2B5EF4-FFF2-40B4-BE49-F238E27FC236}">
                  <a16:creationId xmlns:a16="http://schemas.microsoft.com/office/drawing/2014/main" id="{AFE91D4A-E43E-5350-E6C0-F3FDF631110E}"/>
                </a:ext>
              </a:extLst>
            </p:cNvPr>
            <p:cNvSpPr/>
            <p:nvPr/>
          </p:nvSpPr>
          <p:spPr>
            <a:xfrm>
              <a:off x="5248410" y="793190"/>
              <a:ext cx="3670978" cy="2636008"/>
            </a:xfrm>
            <a:custGeom>
              <a:avLst/>
              <a:gdLst>
                <a:gd name="csX0" fmla="*/ 1835457 w 3670978"/>
                <a:gd name="csY0" fmla="*/ 2636008 h 2636008"/>
                <a:gd name="csX1" fmla="*/ 0 w 3670978"/>
                <a:gd name="csY1" fmla="*/ 0 h 2636008"/>
                <a:gd name="csX2" fmla="*/ 3670979 w 3670978"/>
                <a:gd name="csY2" fmla="*/ 0 h 2636008"/>
                <a:gd name="csX3" fmla="*/ 1835457 w 3670978"/>
                <a:gd name="csY3" fmla="*/ 2636008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70978" h="2636008">
                  <a:moveTo>
                    <a:pt x="1835457" y="2636008"/>
                  </a:moveTo>
                  <a:lnTo>
                    <a:pt x="0" y="0"/>
                  </a:lnTo>
                  <a:lnTo>
                    <a:pt x="3670979" y="0"/>
                  </a:lnTo>
                  <a:lnTo>
                    <a:pt x="1835457" y="2636008"/>
                  </a:lnTo>
                  <a:close/>
                </a:path>
              </a:pathLst>
            </a:custGeom>
            <a:solidFill>
              <a:schemeClr val="accent4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-form: Shape 15">
              <a:extLst>
                <a:ext uri="{FF2B5EF4-FFF2-40B4-BE49-F238E27FC236}">
                  <a16:creationId xmlns:a16="http://schemas.microsoft.com/office/drawing/2014/main" id="{F04B792B-25AC-0654-97AE-38DD4EA38CD6}"/>
                </a:ext>
              </a:extLst>
            </p:cNvPr>
            <p:cNvSpPr/>
            <p:nvPr/>
          </p:nvSpPr>
          <p:spPr>
            <a:xfrm>
              <a:off x="7083867" y="793190"/>
              <a:ext cx="3671042" cy="2636008"/>
            </a:xfrm>
            <a:custGeom>
              <a:avLst/>
              <a:gdLst>
                <a:gd name="csX0" fmla="*/ 1835521 w 3671042"/>
                <a:gd name="csY0" fmla="*/ 0 h 2636008"/>
                <a:gd name="csX1" fmla="*/ 3671043 w 3671042"/>
                <a:gd name="csY1" fmla="*/ 2636008 h 2636008"/>
                <a:gd name="csX2" fmla="*/ 0 w 3671042"/>
                <a:gd name="csY2" fmla="*/ 2636008 h 2636008"/>
                <a:gd name="csX3" fmla="*/ 1835521 w 3671042"/>
                <a:gd name="csY3" fmla="*/ 0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71042" h="2636008">
                  <a:moveTo>
                    <a:pt x="1835521" y="0"/>
                  </a:moveTo>
                  <a:lnTo>
                    <a:pt x="3671043" y="2636008"/>
                  </a:lnTo>
                  <a:lnTo>
                    <a:pt x="0" y="2636008"/>
                  </a:lnTo>
                  <a:lnTo>
                    <a:pt x="1835521" y="0"/>
                  </a:lnTo>
                  <a:close/>
                </a:path>
              </a:pathLst>
            </a:custGeom>
            <a:solidFill>
              <a:srgbClr val="06BDB8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-form: Shape 17">
              <a:extLst>
                <a:ext uri="{FF2B5EF4-FFF2-40B4-BE49-F238E27FC236}">
                  <a16:creationId xmlns:a16="http://schemas.microsoft.com/office/drawing/2014/main" id="{B40FB943-8AF1-D7C5-2B5E-E2B0879DC273}"/>
                </a:ext>
              </a:extLst>
            </p:cNvPr>
            <p:cNvSpPr/>
            <p:nvPr/>
          </p:nvSpPr>
          <p:spPr>
            <a:xfrm>
              <a:off x="5248410" y="3429325"/>
              <a:ext cx="3670978" cy="2636008"/>
            </a:xfrm>
            <a:custGeom>
              <a:avLst/>
              <a:gdLst>
                <a:gd name="csX0" fmla="*/ 1835457 w 3670978"/>
                <a:gd name="csY0" fmla="*/ 0 h 2636008"/>
                <a:gd name="csX1" fmla="*/ 3670979 w 3670978"/>
                <a:gd name="csY1" fmla="*/ 2636009 h 2636008"/>
                <a:gd name="csX2" fmla="*/ 0 w 3670978"/>
                <a:gd name="csY2" fmla="*/ 2636009 h 2636008"/>
                <a:gd name="csX3" fmla="*/ 1835457 w 3670978"/>
                <a:gd name="csY3" fmla="*/ 0 h 26360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70978" h="2636008">
                  <a:moveTo>
                    <a:pt x="1835457" y="0"/>
                  </a:moveTo>
                  <a:lnTo>
                    <a:pt x="3670979" y="2636009"/>
                  </a:lnTo>
                  <a:lnTo>
                    <a:pt x="0" y="2636009"/>
                  </a:lnTo>
                  <a:lnTo>
                    <a:pt x="1835457" y="0"/>
                  </a:lnTo>
                  <a:close/>
                </a:path>
              </a:pathLst>
            </a:custGeom>
            <a:solidFill>
              <a:srgbClr val="0F5066"/>
            </a:solidFill>
            <a:ln w="6350" cap="flat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DC21A3F5-D624-46F8-A9B1-BC65B13AB8FC}"/>
              </a:ext>
            </a:extLst>
          </p:cNvPr>
          <p:cNvSpPr>
            <a:spLocks noChangeAspect="1"/>
          </p:cNvSpPr>
          <p:nvPr/>
        </p:nvSpPr>
        <p:spPr>
          <a:xfrm>
            <a:off x="2827684" y="1395522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B359C8-C3C5-59A0-760B-5084FF105279}"/>
              </a:ext>
            </a:extLst>
          </p:cNvPr>
          <p:cNvSpPr>
            <a:spLocks noChangeAspect="1"/>
          </p:cNvSpPr>
          <p:nvPr/>
        </p:nvSpPr>
        <p:spPr>
          <a:xfrm>
            <a:off x="2827684" y="2214010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88E0E6-27AA-706F-9D07-E3814AD26E4E}"/>
              </a:ext>
            </a:extLst>
          </p:cNvPr>
          <p:cNvSpPr>
            <a:spLocks noChangeAspect="1"/>
          </p:cNvSpPr>
          <p:nvPr/>
        </p:nvSpPr>
        <p:spPr>
          <a:xfrm>
            <a:off x="2827686" y="3032498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9431A35-D36A-A6F7-1F7E-5AE5FD0601BC}"/>
              </a:ext>
            </a:extLst>
          </p:cNvPr>
          <p:cNvSpPr>
            <a:spLocks noChangeAspect="1"/>
          </p:cNvSpPr>
          <p:nvPr/>
        </p:nvSpPr>
        <p:spPr>
          <a:xfrm>
            <a:off x="2827686" y="3850986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79D34-666C-F421-56CA-F72D0BE03C66}"/>
              </a:ext>
            </a:extLst>
          </p:cNvPr>
          <p:cNvSpPr>
            <a:spLocks noChangeAspect="1"/>
          </p:cNvSpPr>
          <p:nvPr/>
        </p:nvSpPr>
        <p:spPr>
          <a:xfrm>
            <a:off x="2827685" y="4669474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2232584-A377-6716-1F6F-8E4E3B1F1320}"/>
              </a:ext>
            </a:extLst>
          </p:cNvPr>
          <p:cNvSpPr>
            <a:spLocks noChangeAspect="1"/>
          </p:cNvSpPr>
          <p:nvPr/>
        </p:nvSpPr>
        <p:spPr>
          <a:xfrm>
            <a:off x="2827685" y="5487960"/>
            <a:ext cx="446258" cy="446258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1354D-848A-0A29-7EEB-8F420800F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2" y="1258651"/>
            <a:ext cx="734352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Creates a Best-in-Class Financial Crime Platform with a Full Suite of Product Solutions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The combined platform can serve the full financial compliance lifecycle across AI-native detection, real-time fraud prevention, agentic investigation, perpetual customer risk, cross-border / correspondent risk, and compliance framework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FDD811-4D47-4391-D1DC-BD2E877AD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2" y="2077139"/>
            <a:ext cx="734352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200" b="1" dirty="0">
                <a:cs typeface="Segoe UI" panose="020B0502040204020203" pitchFamily="34" charset="0"/>
              </a:rPr>
              <a:t>Builds a Scaled, Differentiated Asset with a Broad Set of Tier 1 Banking Relationships</a:t>
            </a:r>
          </a:p>
          <a:p>
            <a:pPr lvl="0" defTabSz="844083">
              <a:lnSpc>
                <a:spcPct val="114000"/>
              </a:lnSpc>
              <a:spcAft>
                <a:spcPts val="200"/>
              </a:spcAft>
              <a:buClr>
                <a:prstClr val="white"/>
              </a:buClr>
              <a:buSzPct val="100000"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NapierAI doubles ThetaRay's ARR base, while adding complementary relationships with 150+ financial institutions, including numerous Tier 1 Banks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D7A003-5552-AE5F-E8AD-C0D1B4B6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4" y="2895627"/>
            <a:ext cx="734352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200" b="1" dirty="0">
                <a:cs typeface="Segoe UI" panose="020B0502040204020203" pitchFamily="34" charset="0"/>
              </a:rPr>
              <a:t>Expands Geographic Coverage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NapierAI's deep relationships with Tier 1 European Banks, and expanding presence in APAC and the Americas, expands ThetaRay's geographic reach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9929F6-B006-1951-DD3A-013BF65C2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4" y="3714115"/>
            <a:ext cx="7343519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200" b="1" dirty="0">
                <a:cs typeface="Segoe UI" panose="020B0502040204020203" pitchFamily="34" charset="0"/>
              </a:rPr>
              <a:t>Accelerates Growth Through a Stronger Go-to-Market Engine with Cross-Selling Capabilities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lang="en-US" sz="1000" dirty="0">
                <a:solidFill>
                  <a:srgbClr val="000000"/>
                </a:solidFill>
                <a:cs typeface="Segoe UI" panose="020B0502040204020203" pitchFamily="34" charset="0"/>
              </a:rPr>
              <a:t>Adding NapierAI’s GTM capabilities to ThetaRay's sales engine, drives faster growth through enhanced sales intensity and efficiency, enabling both respective sales forces to cross-sell the other company's products (given complementary product portfolios and similar buyer personas), thereby expanding account share and broadening channel reach</a:t>
            </a:r>
            <a:endParaRPr kumimoji="0" lang="en-US" sz="1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4E7D23-8973-1955-7545-9DF0841FE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3" y="4532603"/>
            <a:ext cx="7343519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defTabSz="844083">
              <a:lnSpc>
                <a:spcPct val="114000"/>
              </a:lnSpc>
              <a:spcAft>
                <a:spcPts val="200"/>
              </a:spcAft>
              <a:buClr>
                <a:prstClr val="white"/>
              </a:buClr>
              <a:buSzPct val="100000"/>
              <a:defRPr/>
            </a:pPr>
            <a:r>
              <a:rPr lang="en-US" sz="1200" b="1" dirty="0">
                <a:cs typeface="Segoe UI" panose="020B0502040204020203" pitchFamily="34" charset="0"/>
              </a:rPr>
              <a:t>Supports Higher Customer Retention Through Greater Platform Stickiness 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Customers using AI-native detection, real-time fraud prevention, agentic investigation, perpetual customer risk, and compliance framework, under a unified workflow, become more deeply embedded in the platform, which further adds to switching costs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FA75C07-3E4F-0EE5-6E3E-A84D31E20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485283" y="5351089"/>
            <a:ext cx="7343519" cy="720000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defTabSz="844083">
              <a:lnSpc>
                <a:spcPct val="114000"/>
              </a:lnSpc>
              <a:spcAft>
                <a:spcPts val="200"/>
              </a:spcAft>
              <a:buClr>
                <a:prstClr val="white"/>
              </a:buClr>
              <a:buSzPct val="100000"/>
              <a:defRPr/>
            </a:pPr>
            <a:r>
              <a:rPr lang="en-US" sz="1200" b="1" dirty="0">
                <a:cs typeface="Segoe UI" panose="020B0502040204020203" pitchFamily="34" charset="0"/>
              </a:rPr>
              <a:t>Enhances Revenue Quality and Long-Term Profitability  </a:t>
            </a:r>
          </a:p>
          <a:p>
            <a:pPr marL="0" marR="0" lvl="0" indent="0" algn="l" defTabSz="844083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  <a:buClr>
                <a:prstClr val="white"/>
              </a:buClr>
              <a:buSzPct val="100000"/>
              <a:buFontTx/>
              <a:buNone/>
              <a:tabLst/>
              <a:defRPr/>
            </a:pP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The combination broadens recurring software revenue, increases ACV, enhances operating leverage, and expands margins, which supports a higher valuation multiple 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89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5C37C-5D44-A48A-BBED-CF05849B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9CDDEDB-3D84-B4FE-B907-1D238174EAE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dirty="0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 dirty="0"/>
              <a:t>[xx]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230076-4C6E-4913-9C71-54580618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466547"/>
            <a:ext cx="11509200" cy="249299"/>
          </a:xfrm>
        </p:spPr>
        <p:txBody>
          <a:bodyPr/>
          <a:lstStyle/>
          <a:p>
            <a:r>
              <a:rPr lang="en-GB"/>
              <a:t>Why Now is the Right Time to Combine ThetaRay and NapierAI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B7043A-D9C2-EFA1-2AC6-724E38162816}"/>
              </a:ext>
            </a:extLst>
          </p:cNvPr>
          <p:cNvSpPr/>
          <p:nvPr/>
        </p:nvSpPr>
        <p:spPr>
          <a:xfrm>
            <a:off x="333922" y="5369332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Current Market Positioning Maximizes Integration and Commercial Upside: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B1966-F1FB-A648-06FC-84F6B1A49AD4}"/>
              </a:ext>
            </a:extLst>
          </p:cNvPr>
          <p:cNvSpPr/>
          <p:nvPr/>
        </p:nvSpPr>
        <p:spPr>
          <a:xfrm>
            <a:off x="3880815" y="5369332"/>
            <a:ext cx="8046904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With complementary product portfolios and limited overlap, </a:t>
            </a: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combining now allows commercial synergies to be realized before competitive dynamics evolve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DBCE27-2C59-129F-075C-CF7B5E855930}"/>
              </a:ext>
            </a:extLst>
          </p:cNvPr>
          <p:cNvSpPr/>
          <p:nvPr/>
        </p:nvSpPr>
        <p:spPr>
          <a:xfrm>
            <a:off x="333922" y="232817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First-Mover Advantage in a Consolidating Market is a Durable Differentiator: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7F87F2-73F1-CB78-2F76-BB7819A940A4}"/>
              </a:ext>
            </a:extLst>
          </p:cNvPr>
          <p:cNvSpPr/>
          <p:nvPr/>
        </p:nvSpPr>
        <p:spPr>
          <a:xfrm>
            <a:off x="3880939" y="2328170"/>
            <a:ext cx="8046415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457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Financial crime compliance </a:t>
            </a: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market remains fragmented, but customers increasingly favor scaled, multi-product platforms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Executing the combination now allows the combined business to establish market leadership and capture strategic advantages before competitors pursue similar consolidation strategies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5165414-3C66-C44E-75B1-09E1D50C5CCC}"/>
              </a:ext>
            </a:extLst>
          </p:cNvPr>
          <p:cNvSpPr/>
          <p:nvPr/>
        </p:nvSpPr>
        <p:spPr>
          <a:xfrm>
            <a:off x="333922" y="131445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As NapierAI Continues to Outperform, Marlin is Actively Considering Strategic Alternatives to Scale the Business: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76120-A64E-0757-1CEF-FACC29300EF7}"/>
              </a:ext>
            </a:extLst>
          </p:cNvPr>
          <p:cNvSpPr/>
          <p:nvPr/>
        </p:nvSpPr>
        <p:spPr>
          <a:xfrm>
            <a:off x="3880939" y="1314450"/>
            <a:ext cx="8046415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8288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NapierAI has demonstrated commercial momentum and product execution, marking an attractive stage to pursue expansion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ThetaRay is poised for strategic action with recent onboarding of new executive leadership, including new seasoned CEO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Combining with ThetaRay provides an opportunity to accelerate growth while preserving Marlin’s ownership in a larger platform with differentiated end-to-end capabilities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586D77-8360-33DB-BE3C-44CB836E7CA0}"/>
              </a:ext>
            </a:extLst>
          </p:cNvPr>
          <p:cNvSpPr/>
          <p:nvPr/>
        </p:nvSpPr>
        <p:spPr>
          <a:xfrm>
            <a:off x="333922" y="435561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AI Adoption is Driving a New Replacement Cycle Across Financial Crime Compliance Technology: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AA97F6-614E-8E39-6B23-AB7ADA7500DA}"/>
              </a:ext>
            </a:extLst>
          </p:cNvPr>
          <p:cNvSpPr/>
          <p:nvPr/>
        </p:nvSpPr>
        <p:spPr>
          <a:xfrm>
            <a:off x="3880939" y="4355612"/>
            <a:ext cx="8046415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Financial Institutions are </a:t>
            </a: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moving from AI pilots to production deployments, creating a window for differentiated, AI-native platforms to gain market share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7341D2-6FA6-5187-1B77-EA4A2CFF6A72}"/>
              </a:ext>
            </a:extLst>
          </p:cNvPr>
          <p:cNvSpPr/>
          <p:nvPr/>
        </p:nvSpPr>
        <p:spPr>
          <a:xfrm>
            <a:off x="333922" y="3341890"/>
            <a:ext cx="3384594" cy="8623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684000" rIns="108000" rtlCol="0" anchor="ctr"/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lang="en-US" sz="1100" b="1" dirty="0">
                <a:solidFill>
                  <a:schemeClr val="tx1"/>
                </a:solidFill>
                <a:cs typeface="Segoe UI Semibold" panose="020B0702040204020203" pitchFamily="34" charset="0"/>
              </a:rPr>
              <a:t>Increasing Regulatory Complexity is Driving Demand for Integrated Platforms: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8727F32-D7E3-4FDF-B39C-814EDFF4485F}"/>
              </a:ext>
            </a:extLst>
          </p:cNvPr>
          <p:cNvSpPr/>
          <p:nvPr/>
        </p:nvSpPr>
        <p:spPr>
          <a:xfrm>
            <a:off x="3880815" y="3341891"/>
            <a:ext cx="8046904" cy="862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Financial Institutions face expanding AML, sanctions, fraud and KYC requirements, increasing demand for unified compliance tools rather than single point solutions</a:t>
            </a:r>
          </a:p>
          <a:p>
            <a:pPr marL="167058" lvl="1" indent="-167058" defTabSz="914395">
              <a:lnSpc>
                <a:spcPct val="110000"/>
              </a:lnSpc>
              <a:spcAft>
                <a:spcPts val="3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"/>
              <a:defRPr/>
            </a:pPr>
            <a:r>
              <a:rPr lang="en-US" sz="1000" b="1" dirty="0">
                <a:solidFill>
                  <a:schemeClr val="tx1"/>
                </a:solidFill>
                <a:ea typeface="Noto Sans" panose="020B0502040504020204" pitchFamily="34" charset="0"/>
                <a:cs typeface="Rubik Light" pitchFamily="2" charset="-79"/>
              </a:rPr>
              <a:t>Since EU’s AML regulation mandates stricter platform requirements starting in January 2027, Financial Institutions are accelerating procurement decisions now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2CA3DAB-1640-1BC6-D485-BB947CE64EE5}"/>
              </a:ext>
            </a:extLst>
          </p:cNvPr>
          <p:cNvSpPr>
            <a:spLocks noChangeAspect="1"/>
          </p:cNvSpPr>
          <p:nvPr/>
        </p:nvSpPr>
        <p:spPr>
          <a:xfrm>
            <a:off x="427384" y="1522486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99C94FF-EB38-F883-378D-94C6F8D85A1A}"/>
              </a:ext>
            </a:extLst>
          </p:cNvPr>
          <p:cNvSpPr>
            <a:spLocks noChangeAspect="1"/>
          </p:cNvSpPr>
          <p:nvPr/>
        </p:nvSpPr>
        <p:spPr>
          <a:xfrm>
            <a:off x="427384" y="2536207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026DA00-EF6A-AE16-868A-EA1778C22222}"/>
              </a:ext>
            </a:extLst>
          </p:cNvPr>
          <p:cNvSpPr>
            <a:spLocks noChangeAspect="1"/>
          </p:cNvSpPr>
          <p:nvPr/>
        </p:nvSpPr>
        <p:spPr>
          <a:xfrm>
            <a:off x="427386" y="3549928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C25405D-7EBB-6F3F-6D25-2843379ECF85}"/>
              </a:ext>
            </a:extLst>
          </p:cNvPr>
          <p:cNvSpPr>
            <a:spLocks noChangeAspect="1"/>
          </p:cNvSpPr>
          <p:nvPr/>
        </p:nvSpPr>
        <p:spPr>
          <a:xfrm>
            <a:off x="427386" y="4563649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8B96303-DDFA-4F4E-A848-3D99D0FB4C21}"/>
              </a:ext>
            </a:extLst>
          </p:cNvPr>
          <p:cNvSpPr>
            <a:spLocks noChangeAspect="1"/>
          </p:cNvSpPr>
          <p:nvPr/>
        </p:nvSpPr>
        <p:spPr>
          <a:xfrm>
            <a:off x="427385" y="5577368"/>
            <a:ext cx="446258" cy="446258"/>
          </a:xfrm>
          <a:prstGeom prst="ellipse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5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D42417D-6B6F-64E8-648A-75CC52ED55E4}"/>
              </a:ext>
            </a:extLst>
          </p:cNvPr>
          <p:cNvCxnSpPr>
            <a:cxnSpLocks/>
          </p:cNvCxnSpPr>
          <p:nvPr/>
        </p:nvCxnSpPr>
        <p:spPr>
          <a:xfrm>
            <a:off x="333922" y="2252475"/>
            <a:ext cx="11509199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4E42B86-B359-3CFA-C675-03370B87B1F0}"/>
              </a:ext>
            </a:extLst>
          </p:cNvPr>
          <p:cNvCxnSpPr>
            <a:cxnSpLocks/>
          </p:cNvCxnSpPr>
          <p:nvPr/>
        </p:nvCxnSpPr>
        <p:spPr>
          <a:xfrm>
            <a:off x="333922" y="3266195"/>
            <a:ext cx="11510240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B629595-3402-19CE-244E-D13C9D127B5A}"/>
              </a:ext>
            </a:extLst>
          </p:cNvPr>
          <p:cNvCxnSpPr>
            <a:cxnSpLocks/>
          </p:cNvCxnSpPr>
          <p:nvPr/>
        </p:nvCxnSpPr>
        <p:spPr>
          <a:xfrm>
            <a:off x="333922" y="4279915"/>
            <a:ext cx="11510240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57862E-192F-EF24-E0A7-424DEC79AF4B}"/>
              </a:ext>
            </a:extLst>
          </p:cNvPr>
          <p:cNvCxnSpPr>
            <a:cxnSpLocks/>
          </p:cNvCxnSpPr>
          <p:nvPr/>
        </p:nvCxnSpPr>
        <p:spPr>
          <a:xfrm>
            <a:off x="333922" y="5293635"/>
            <a:ext cx="11510240" cy="0"/>
          </a:xfrm>
          <a:prstGeom prst="line">
            <a:avLst/>
          </a:prstGeom>
          <a:ln w="6350"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676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900C8-AFB0-FA3C-283E-42CDB03B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263143A-9D17-833A-5F6B-B370F4EDE64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1F61C26-252C-6A7D-4CEA-2761B3A7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2" y="217248"/>
            <a:ext cx="11509200" cy="498598"/>
          </a:xfrm>
        </p:spPr>
        <p:txBody>
          <a:bodyPr/>
          <a:lstStyle/>
          <a:p>
            <a:r>
              <a:rPr lang="en-GB"/>
              <a:t>Houlihan Lokey Has Identified Several Acquisition Targets to Accelerate ACAMS' Financial Information Services Positioning</a:t>
            </a:r>
            <a:endParaRPr lang="en-GB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1E43CC2-5997-C342-718D-12A916E44429}"/>
              </a:ext>
            </a:extLst>
          </p:cNvPr>
          <p:cNvSpPr/>
          <p:nvPr/>
        </p:nvSpPr>
        <p:spPr>
          <a:xfrm>
            <a:off x="3728812" y="5011402"/>
            <a:ext cx="4734374" cy="1396435"/>
          </a:xfrm>
          <a:custGeom>
            <a:avLst/>
            <a:gdLst>
              <a:gd name="csX0" fmla="*/ 1751770 w 2403331"/>
              <a:gd name="csY0" fmla="*/ 1388173 h 1540040"/>
              <a:gd name="csX1" fmla="*/ 1915873 w 2403331"/>
              <a:gd name="csY1" fmla="*/ 1040131 h 1540040"/>
              <a:gd name="csX2" fmla="*/ 2403332 w 2403331"/>
              <a:gd name="csY2" fmla="*/ 0 h 1540040"/>
              <a:gd name="csX3" fmla="*/ 0 w 2403331"/>
              <a:gd name="csY3" fmla="*/ 0 h 1540040"/>
              <a:gd name="csX4" fmla="*/ 487530 w 2403331"/>
              <a:gd name="csY4" fmla="*/ 1040131 h 1540040"/>
              <a:gd name="csX5" fmla="*/ 651491 w 2403331"/>
              <a:gd name="csY5" fmla="*/ 1388102 h 1540040"/>
              <a:gd name="csX6" fmla="*/ 846988 w 2403331"/>
              <a:gd name="csY6" fmla="*/ 1525592 h 1540040"/>
              <a:gd name="csX7" fmla="*/ 1556201 w 2403331"/>
              <a:gd name="csY7" fmla="*/ 1525592 h 1540040"/>
              <a:gd name="csX8" fmla="*/ 1751770 w 2403331"/>
              <a:gd name="csY8" fmla="*/ 1388102 h 154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03331" h="1540040">
                <a:moveTo>
                  <a:pt x="1751770" y="1388173"/>
                </a:moveTo>
                <a:cubicBezTo>
                  <a:pt x="1792795" y="1301127"/>
                  <a:pt x="1850874" y="1178121"/>
                  <a:pt x="1915873" y="1040131"/>
                </a:cubicBezTo>
                <a:cubicBezTo>
                  <a:pt x="2100811" y="647567"/>
                  <a:pt x="2335835" y="146837"/>
                  <a:pt x="2403332" y="0"/>
                </a:cubicBezTo>
                <a:cubicBezTo>
                  <a:pt x="1540076" y="205487"/>
                  <a:pt x="865111" y="205986"/>
                  <a:pt x="0" y="0"/>
                </a:cubicBezTo>
                <a:cubicBezTo>
                  <a:pt x="67497" y="146837"/>
                  <a:pt x="302593" y="647567"/>
                  <a:pt x="487530" y="1040131"/>
                </a:cubicBezTo>
                <a:cubicBezTo>
                  <a:pt x="552458" y="1178050"/>
                  <a:pt x="610465" y="1301127"/>
                  <a:pt x="651491" y="1388102"/>
                </a:cubicBezTo>
                <a:cubicBezTo>
                  <a:pt x="683884" y="1456811"/>
                  <a:pt x="771358" y="1519456"/>
                  <a:pt x="846988" y="1525592"/>
                </a:cubicBezTo>
                <a:cubicBezTo>
                  <a:pt x="1085295" y="1544857"/>
                  <a:pt x="1318108" y="1544857"/>
                  <a:pt x="1556201" y="1525592"/>
                </a:cubicBezTo>
                <a:cubicBezTo>
                  <a:pt x="1631903" y="1519456"/>
                  <a:pt x="1719377" y="1456811"/>
                  <a:pt x="1751770" y="1388102"/>
                </a:cubicBezTo>
                <a:close/>
              </a:path>
            </a:pathLst>
          </a:custGeom>
          <a:solidFill>
            <a:schemeClr val="bg2"/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451E3D3-D5F9-7AEA-23D0-3A485E75087A}"/>
              </a:ext>
            </a:extLst>
          </p:cNvPr>
          <p:cNvSpPr/>
          <p:nvPr/>
        </p:nvSpPr>
        <p:spPr>
          <a:xfrm>
            <a:off x="3716163" y="4767885"/>
            <a:ext cx="4759534" cy="432428"/>
          </a:xfrm>
          <a:custGeom>
            <a:avLst/>
            <a:gdLst>
              <a:gd name="csX0" fmla="*/ 2416104 w 2416103"/>
              <a:gd name="csY0" fmla="*/ 238449 h 476898"/>
              <a:gd name="csX1" fmla="*/ 1208016 w 2416103"/>
              <a:gd name="csY1" fmla="*/ 476899 h 476898"/>
              <a:gd name="csX2" fmla="*/ 0 w 2416103"/>
              <a:gd name="csY2" fmla="*/ 238449 h 476898"/>
              <a:gd name="csX3" fmla="*/ 1208016 w 2416103"/>
              <a:gd name="csY3" fmla="*/ 0 h 476898"/>
              <a:gd name="csX4" fmla="*/ 2416104 w 2416103"/>
              <a:gd name="csY4" fmla="*/ 238449 h 4768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416103" h="476898">
                <a:moveTo>
                  <a:pt x="2416104" y="238449"/>
                </a:moveTo>
                <a:cubicBezTo>
                  <a:pt x="2416104" y="370161"/>
                  <a:pt x="2064209" y="476899"/>
                  <a:pt x="1208016" y="476899"/>
                </a:cubicBezTo>
                <a:cubicBezTo>
                  <a:pt x="351824" y="476899"/>
                  <a:pt x="0" y="370161"/>
                  <a:pt x="0" y="238449"/>
                </a:cubicBezTo>
                <a:cubicBezTo>
                  <a:pt x="0" y="106738"/>
                  <a:pt x="351824" y="0"/>
                  <a:pt x="1208016" y="0"/>
                </a:cubicBezTo>
                <a:cubicBezTo>
                  <a:pt x="2064209" y="0"/>
                  <a:pt x="2416104" y="106738"/>
                  <a:pt x="2416104" y="238449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E61AE09-FF4D-D288-C3E5-80E002C0BDC7}"/>
              </a:ext>
            </a:extLst>
          </p:cNvPr>
          <p:cNvSpPr/>
          <p:nvPr/>
        </p:nvSpPr>
        <p:spPr>
          <a:xfrm>
            <a:off x="3728532" y="5011402"/>
            <a:ext cx="4733251" cy="343148"/>
          </a:xfrm>
          <a:custGeom>
            <a:avLst/>
            <a:gdLst>
              <a:gd name="csX0" fmla="*/ 1201737 w 2402761"/>
              <a:gd name="csY0" fmla="*/ 208340 h 378437"/>
              <a:gd name="csX1" fmla="*/ 143 w 2402761"/>
              <a:gd name="csY1" fmla="*/ 0 h 378437"/>
              <a:gd name="csX2" fmla="*/ 0 w 2402761"/>
              <a:gd name="csY2" fmla="*/ 0 h 378437"/>
              <a:gd name="csX3" fmla="*/ 122364 w 2402761"/>
              <a:gd name="csY3" fmla="*/ 262708 h 378437"/>
              <a:gd name="csX4" fmla="*/ 1201737 w 2402761"/>
              <a:gd name="csY4" fmla="*/ 378437 h 378437"/>
              <a:gd name="csX5" fmla="*/ 2281040 w 2402761"/>
              <a:gd name="csY5" fmla="*/ 262708 h 378437"/>
              <a:gd name="csX6" fmla="*/ 2402762 w 2402761"/>
              <a:gd name="csY6" fmla="*/ 1213 h 378437"/>
              <a:gd name="csX7" fmla="*/ 1201737 w 2402761"/>
              <a:gd name="csY7" fmla="*/ 208269 h 3784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402761" h="378437">
                <a:moveTo>
                  <a:pt x="1201737" y="208340"/>
                </a:moveTo>
                <a:cubicBezTo>
                  <a:pt x="411900" y="208340"/>
                  <a:pt x="51300" y="117441"/>
                  <a:pt x="143" y="0"/>
                </a:cubicBezTo>
                <a:cubicBezTo>
                  <a:pt x="143" y="0"/>
                  <a:pt x="71" y="0"/>
                  <a:pt x="0" y="0"/>
                </a:cubicBezTo>
                <a:cubicBezTo>
                  <a:pt x="23545" y="51158"/>
                  <a:pt x="67354" y="145268"/>
                  <a:pt x="122364" y="262708"/>
                </a:cubicBezTo>
                <a:cubicBezTo>
                  <a:pt x="292104" y="332060"/>
                  <a:pt x="637293" y="378437"/>
                  <a:pt x="1201737" y="378437"/>
                </a:cubicBezTo>
                <a:cubicBezTo>
                  <a:pt x="1766182" y="378437"/>
                  <a:pt x="2111299" y="332060"/>
                  <a:pt x="2281040" y="262708"/>
                </a:cubicBezTo>
                <a:cubicBezTo>
                  <a:pt x="2335550" y="146195"/>
                  <a:pt x="2379145" y="52656"/>
                  <a:pt x="2402762" y="1213"/>
                </a:cubicBezTo>
                <a:cubicBezTo>
                  <a:pt x="2349606" y="118084"/>
                  <a:pt x="1988792" y="208269"/>
                  <a:pt x="1201737" y="208269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B12D78-EFAF-0109-29A0-2BAA037C2ED3}"/>
              </a:ext>
            </a:extLst>
          </p:cNvPr>
          <p:cNvSpPr/>
          <p:nvPr/>
        </p:nvSpPr>
        <p:spPr>
          <a:xfrm>
            <a:off x="2064105" y="3311478"/>
            <a:ext cx="8063928" cy="1434834"/>
          </a:xfrm>
          <a:custGeom>
            <a:avLst/>
            <a:gdLst>
              <a:gd name="csX0" fmla="*/ 4093456 w 4093527"/>
              <a:gd name="csY0" fmla="*/ 0 h 1582386"/>
              <a:gd name="csX1" fmla="*/ 0 w 4093527"/>
              <a:gd name="csY1" fmla="*/ 0 h 1582386"/>
              <a:gd name="csX2" fmla="*/ 493738 w 4093527"/>
              <a:gd name="csY2" fmla="*/ 1052617 h 1582386"/>
              <a:gd name="csX3" fmla="*/ 653774 w 4093527"/>
              <a:gd name="csY3" fmla="*/ 1392311 h 1582386"/>
              <a:gd name="csX4" fmla="*/ 1538935 w 4093527"/>
              <a:gd name="csY4" fmla="*/ 1576036 h 1582386"/>
              <a:gd name="csX5" fmla="*/ 2046657 w 4093527"/>
              <a:gd name="csY5" fmla="*/ 1582386 h 1582386"/>
              <a:gd name="csX6" fmla="*/ 2554379 w 4093527"/>
              <a:gd name="csY6" fmla="*/ 1576036 h 1582386"/>
              <a:gd name="csX7" fmla="*/ 3439254 w 4093527"/>
              <a:gd name="csY7" fmla="*/ 1392597 h 1582386"/>
              <a:gd name="csX8" fmla="*/ 3599576 w 4093527"/>
              <a:gd name="csY8" fmla="*/ 1052617 h 1582386"/>
              <a:gd name="csX9" fmla="*/ 4093527 w 4093527"/>
              <a:gd name="csY9" fmla="*/ 71 h 15823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093527" h="1582386">
                <a:moveTo>
                  <a:pt x="4093456" y="0"/>
                </a:moveTo>
                <a:cubicBezTo>
                  <a:pt x="3230200" y="205486"/>
                  <a:pt x="865111" y="205986"/>
                  <a:pt x="0" y="0"/>
                </a:cubicBezTo>
                <a:cubicBezTo>
                  <a:pt x="67497" y="146837"/>
                  <a:pt x="308871" y="660053"/>
                  <a:pt x="493738" y="1052617"/>
                </a:cubicBezTo>
                <a:cubicBezTo>
                  <a:pt x="556668" y="1186183"/>
                  <a:pt x="613034" y="1305836"/>
                  <a:pt x="653774" y="1392311"/>
                </a:cubicBezTo>
                <a:cubicBezTo>
                  <a:pt x="760228" y="1480000"/>
                  <a:pt x="1040916" y="1548923"/>
                  <a:pt x="1538935" y="1576036"/>
                </a:cubicBezTo>
                <a:cubicBezTo>
                  <a:pt x="1695047" y="1580174"/>
                  <a:pt x="1864002" y="1582386"/>
                  <a:pt x="2046657" y="1582386"/>
                </a:cubicBezTo>
                <a:cubicBezTo>
                  <a:pt x="2229311" y="1582386"/>
                  <a:pt x="2398266" y="1580174"/>
                  <a:pt x="2554379" y="1576036"/>
                </a:cubicBezTo>
                <a:cubicBezTo>
                  <a:pt x="3051827" y="1548923"/>
                  <a:pt x="3332444" y="1480143"/>
                  <a:pt x="3439254" y="1392597"/>
                </a:cubicBezTo>
                <a:cubicBezTo>
                  <a:pt x="3480066" y="1306122"/>
                  <a:pt x="3536503" y="1186326"/>
                  <a:pt x="3599576" y="1052617"/>
                </a:cubicBezTo>
                <a:cubicBezTo>
                  <a:pt x="3784585" y="660053"/>
                  <a:pt x="4026031" y="146837"/>
                  <a:pt x="4093527" y="71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C7F49A0-469C-7244-9896-8AA44E8E64E3}"/>
              </a:ext>
            </a:extLst>
          </p:cNvPr>
          <p:cNvSpPr/>
          <p:nvPr/>
        </p:nvSpPr>
        <p:spPr>
          <a:xfrm>
            <a:off x="2055814" y="3015687"/>
            <a:ext cx="8080373" cy="559687"/>
          </a:xfrm>
          <a:custGeom>
            <a:avLst/>
            <a:gdLst>
              <a:gd name="csX0" fmla="*/ 4101875 w 4101875"/>
              <a:gd name="csY0" fmla="*/ 308657 h 617243"/>
              <a:gd name="csX1" fmla="*/ 2050866 w 4101875"/>
              <a:gd name="csY1" fmla="*/ 617243 h 617243"/>
              <a:gd name="csX2" fmla="*/ 0 w 4101875"/>
              <a:gd name="csY2" fmla="*/ 308657 h 617243"/>
              <a:gd name="csX3" fmla="*/ 2050866 w 4101875"/>
              <a:gd name="csY3" fmla="*/ 0 h 617243"/>
              <a:gd name="csX4" fmla="*/ 4101875 w 4101875"/>
              <a:gd name="csY4" fmla="*/ 308657 h 6172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101875" h="617243">
                <a:moveTo>
                  <a:pt x="4101875" y="308657"/>
                </a:moveTo>
                <a:cubicBezTo>
                  <a:pt x="4101875" y="479111"/>
                  <a:pt x="3504467" y="617243"/>
                  <a:pt x="2050866" y="617243"/>
                </a:cubicBezTo>
                <a:cubicBezTo>
                  <a:pt x="597266" y="617243"/>
                  <a:pt x="0" y="479040"/>
                  <a:pt x="0" y="308657"/>
                </a:cubicBezTo>
                <a:cubicBezTo>
                  <a:pt x="0" y="138275"/>
                  <a:pt x="597266" y="0"/>
                  <a:pt x="2050866" y="0"/>
                </a:cubicBezTo>
                <a:cubicBezTo>
                  <a:pt x="3504467" y="0"/>
                  <a:pt x="4101875" y="138204"/>
                  <a:pt x="4101875" y="308657"/>
                </a:cubicBezTo>
                <a:close/>
              </a:path>
            </a:pathLst>
          </a:custGeom>
          <a:solidFill>
            <a:schemeClr val="accent6"/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6B903E4-0BF1-9A53-10D0-AD727A86E35B}"/>
              </a:ext>
            </a:extLst>
          </p:cNvPr>
          <p:cNvSpPr/>
          <p:nvPr/>
        </p:nvSpPr>
        <p:spPr>
          <a:xfrm>
            <a:off x="2096434" y="3343632"/>
            <a:ext cx="7999273" cy="385978"/>
          </a:xfrm>
          <a:custGeom>
            <a:avLst/>
            <a:gdLst>
              <a:gd name="csX0" fmla="*/ 2030246 w 4060706"/>
              <a:gd name="csY0" fmla="*/ 255573 h 425670"/>
              <a:gd name="csX1" fmla="*/ 0 w 4060706"/>
              <a:gd name="csY1" fmla="*/ 71 h 425670"/>
              <a:gd name="csX2" fmla="*/ 114730 w 4060706"/>
              <a:gd name="csY2" fmla="*/ 245727 h 425670"/>
              <a:gd name="csX3" fmla="*/ 2030318 w 4060706"/>
              <a:gd name="csY3" fmla="*/ 425670 h 425670"/>
              <a:gd name="csX4" fmla="*/ 3945977 w 4060706"/>
              <a:gd name="csY4" fmla="*/ 245727 h 425670"/>
              <a:gd name="csX5" fmla="*/ 4060707 w 4060706"/>
              <a:gd name="csY5" fmla="*/ 0 h 425670"/>
              <a:gd name="csX6" fmla="*/ 2030318 w 4060706"/>
              <a:gd name="csY6" fmla="*/ 255573 h 4256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60706" h="425670">
                <a:moveTo>
                  <a:pt x="2030246" y="255573"/>
                </a:moveTo>
                <a:cubicBezTo>
                  <a:pt x="731117" y="255573"/>
                  <a:pt x="116085" y="145196"/>
                  <a:pt x="0" y="71"/>
                </a:cubicBezTo>
                <a:cubicBezTo>
                  <a:pt x="26542" y="57365"/>
                  <a:pt x="66712" y="143412"/>
                  <a:pt x="114730" y="245727"/>
                </a:cubicBezTo>
                <a:cubicBezTo>
                  <a:pt x="363596" y="351895"/>
                  <a:pt x="968354" y="425670"/>
                  <a:pt x="2030318" y="425670"/>
                </a:cubicBezTo>
                <a:cubicBezTo>
                  <a:pt x="3092281" y="425670"/>
                  <a:pt x="3697039" y="351895"/>
                  <a:pt x="3945977" y="245727"/>
                </a:cubicBezTo>
                <a:cubicBezTo>
                  <a:pt x="3993995" y="143341"/>
                  <a:pt x="4034164" y="57294"/>
                  <a:pt x="4060707" y="0"/>
                </a:cubicBezTo>
                <a:cubicBezTo>
                  <a:pt x="3944693" y="145196"/>
                  <a:pt x="3329590" y="255573"/>
                  <a:pt x="2030318" y="255573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B0368EE-4839-98B4-1C4B-0009CC37E183}"/>
              </a:ext>
            </a:extLst>
          </p:cNvPr>
          <p:cNvSpPr/>
          <p:nvPr/>
        </p:nvSpPr>
        <p:spPr>
          <a:xfrm>
            <a:off x="349224" y="1471144"/>
            <a:ext cx="11493272" cy="1495971"/>
          </a:xfrm>
          <a:custGeom>
            <a:avLst/>
            <a:gdLst>
              <a:gd name="csX0" fmla="*/ 71 w 5834380"/>
              <a:gd name="csY0" fmla="*/ 71 h 1649811"/>
              <a:gd name="csX1" fmla="*/ 647924 w 5834380"/>
              <a:gd name="csY1" fmla="*/ 1379611 h 1649811"/>
              <a:gd name="csX2" fmla="*/ 2408469 w 5834380"/>
              <a:gd name="csY2" fmla="*/ 1644246 h 1649811"/>
              <a:gd name="csX3" fmla="*/ 2917190 w 5834380"/>
              <a:gd name="csY3" fmla="*/ 1649811 h 1649811"/>
              <a:gd name="csX4" fmla="*/ 2917190 w 5834380"/>
              <a:gd name="csY4" fmla="*/ 1649811 h 1649811"/>
              <a:gd name="csX5" fmla="*/ 3425697 w 5834380"/>
              <a:gd name="csY5" fmla="*/ 1644246 h 1649811"/>
              <a:gd name="csX6" fmla="*/ 5186100 w 5834380"/>
              <a:gd name="csY6" fmla="*/ 1379968 h 1649811"/>
              <a:gd name="csX7" fmla="*/ 5834380 w 5834380"/>
              <a:gd name="csY7" fmla="*/ 0 h 1649811"/>
              <a:gd name="csX8" fmla="*/ 0 w 5834380"/>
              <a:gd name="csY8" fmla="*/ 0 h 16498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34380" h="1649811">
                <a:moveTo>
                  <a:pt x="71" y="71"/>
                </a:moveTo>
                <a:cubicBezTo>
                  <a:pt x="89401" y="194498"/>
                  <a:pt x="483606" y="1031070"/>
                  <a:pt x="647924" y="1379611"/>
                </a:cubicBezTo>
                <a:cubicBezTo>
                  <a:pt x="791693" y="1514462"/>
                  <a:pt x="1337373" y="1619488"/>
                  <a:pt x="2408469" y="1644246"/>
                </a:cubicBezTo>
                <a:cubicBezTo>
                  <a:pt x="2575712" y="1647885"/>
                  <a:pt x="2746237" y="1649811"/>
                  <a:pt x="2917190" y="1649811"/>
                </a:cubicBezTo>
                <a:lnTo>
                  <a:pt x="2917190" y="1649811"/>
                </a:lnTo>
                <a:cubicBezTo>
                  <a:pt x="3088072" y="1649811"/>
                  <a:pt x="3258526" y="1647885"/>
                  <a:pt x="3425697" y="1644246"/>
                </a:cubicBezTo>
                <a:cubicBezTo>
                  <a:pt x="4495795" y="1619488"/>
                  <a:pt x="5041618" y="1514676"/>
                  <a:pt x="5186100" y="1379968"/>
                </a:cubicBezTo>
                <a:cubicBezTo>
                  <a:pt x="5350418" y="1031641"/>
                  <a:pt x="5744980" y="194427"/>
                  <a:pt x="5834380" y="0"/>
                </a:cubicBezTo>
                <a:cubicBezTo>
                  <a:pt x="4971125" y="205486"/>
                  <a:pt x="865182" y="205986"/>
                  <a:pt x="0" y="0"/>
                </a:cubicBezTo>
                <a:close/>
              </a:path>
            </a:pathLst>
          </a:custGeom>
          <a:solidFill>
            <a:schemeClr val="accent2">
              <a:lumMod val="10000"/>
              <a:lumOff val="90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6A45C8E5-41E6-7E79-9500-3A2234DDD92C}"/>
              </a:ext>
            </a:extLst>
          </p:cNvPr>
          <p:cNvSpPr/>
          <p:nvPr/>
        </p:nvSpPr>
        <p:spPr>
          <a:xfrm>
            <a:off x="349224" y="1471209"/>
            <a:ext cx="11493130" cy="418196"/>
          </a:xfrm>
          <a:custGeom>
            <a:avLst/>
            <a:gdLst>
              <a:gd name="csX0" fmla="*/ 5833168 w 5834308"/>
              <a:gd name="csY0" fmla="*/ 285 h 461202"/>
              <a:gd name="csX1" fmla="*/ 2917190 w 5834308"/>
              <a:gd name="csY1" fmla="*/ 291034 h 461202"/>
              <a:gd name="csX2" fmla="*/ 1284 w 5834308"/>
              <a:gd name="csY2" fmla="*/ 285 h 461202"/>
              <a:gd name="csX3" fmla="*/ 0 w 5834308"/>
              <a:gd name="csY3" fmla="*/ 0 h 461202"/>
              <a:gd name="csX4" fmla="*/ 108879 w 5834308"/>
              <a:gd name="csY4" fmla="*/ 233741 h 461202"/>
              <a:gd name="csX5" fmla="*/ 2917119 w 5834308"/>
              <a:gd name="csY5" fmla="*/ 461202 h 461202"/>
              <a:gd name="csX6" fmla="*/ 5725430 w 5834308"/>
              <a:gd name="csY6" fmla="*/ 233741 h 461202"/>
              <a:gd name="csX7" fmla="*/ 5834309 w 5834308"/>
              <a:gd name="csY7" fmla="*/ 0 h 461202"/>
              <a:gd name="csX8" fmla="*/ 5833096 w 5834308"/>
              <a:gd name="csY8" fmla="*/ 285 h 4612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834308" h="461202">
                <a:moveTo>
                  <a:pt x="5833168" y="285"/>
                </a:moveTo>
                <a:cubicBezTo>
                  <a:pt x="5735347" y="162391"/>
                  <a:pt x="4319634" y="291034"/>
                  <a:pt x="2917190" y="291034"/>
                </a:cubicBezTo>
                <a:cubicBezTo>
                  <a:pt x="1514747" y="291034"/>
                  <a:pt x="99104" y="162391"/>
                  <a:pt x="1284" y="285"/>
                </a:cubicBezTo>
                <a:cubicBezTo>
                  <a:pt x="856" y="214"/>
                  <a:pt x="428" y="71"/>
                  <a:pt x="0" y="0"/>
                </a:cubicBezTo>
                <a:cubicBezTo>
                  <a:pt x="21333" y="46448"/>
                  <a:pt x="60076" y="129499"/>
                  <a:pt x="108879" y="233741"/>
                </a:cubicBezTo>
                <a:cubicBezTo>
                  <a:pt x="479325" y="364809"/>
                  <a:pt x="1703109" y="461202"/>
                  <a:pt x="2917119" y="461202"/>
                </a:cubicBezTo>
                <a:cubicBezTo>
                  <a:pt x="4131128" y="461202"/>
                  <a:pt x="5354984" y="364809"/>
                  <a:pt x="5725430" y="233741"/>
                </a:cubicBezTo>
                <a:cubicBezTo>
                  <a:pt x="5774233" y="129499"/>
                  <a:pt x="5812976" y="46448"/>
                  <a:pt x="5834309" y="0"/>
                </a:cubicBezTo>
                <a:cubicBezTo>
                  <a:pt x="5833881" y="71"/>
                  <a:pt x="5833453" y="214"/>
                  <a:pt x="5833096" y="285"/>
                </a:cubicBezTo>
                <a:close/>
              </a:path>
            </a:pathLst>
          </a:custGeom>
          <a:solidFill>
            <a:schemeClr val="accent2">
              <a:lumMod val="25000"/>
              <a:lumOff val="75000"/>
            </a:schemeClr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D225B35-712D-AA5F-DF34-1C55DED3C6FE}"/>
              </a:ext>
            </a:extLst>
          </p:cNvPr>
          <p:cNvSpPr/>
          <p:nvPr/>
        </p:nvSpPr>
        <p:spPr>
          <a:xfrm>
            <a:off x="341072" y="1175418"/>
            <a:ext cx="11509857" cy="559752"/>
          </a:xfrm>
          <a:custGeom>
            <a:avLst/>
            <a:gdLst>
              <a:gd name="csX0" fmla="*/ 5842800 w 5842799"/>
              <a:gd name="csY0" fmla="*/ 308657 h 617314"/>
              <a:gd name="csX1" fmla="*/ 2921329 w 5842799"/>
              <a:gd name="csY1" fmla="*/ 617315 h 617314"/>
              <a:gd name="csX2" fmla="*/ 0 w 5842799"/>
              <a:gd name="csY2" fmla="*/ 308657 h 617314"/>
              <a:gd name="csX3" fmla="*/ 2921329 w 5842799"/>
              <a:gd name="csY3" fmla="*/ 0 h 617314"/>
              <a:gd name="csX4" fmla="*/ 5842800 w 5842799"/>
              <a:gd name="csY4" fmla="*/ 308657 h 61731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842799" h="617314">
                <a:moveTo>
                  <a:pt x="5842800" y="308657"/>
                </a:moveTo>
                <a:cubicBezTo>
                  <a:pt x="5842800" y="479111"/>
                  <a:pt x="4375001" y="617315"/>
                  <a:pt x="2921329" y="617315"/>
                </a:cubicBezTo>
                <a:cubicBezTo>
                  <a:pt x="1467656" y="617315"/>
                  <a:pt x="0" y="479111"/>
                  <a:pt x="0" y="308657"/>
                </a:cubicBezTo>
                <a:cubicBezTo>
                  <a:pt x="0" y="138204"/>
                  <a:pt x="1467728" y="0"/>
                  <a:pt x="2921329" y="0"/>
                </a:cubicBezTo>
                <a:cubicBezTo>
                  <a:pt x="4374929" y="0"/>
                  <a:pt x="5842800" y="138204"/>
                  <a:pt x="5842800" y="308657"/>
                </a:cubicBezTo>
                <a:close/>
              </a:path>
            </a:pathLst>
          </a:custGeom>
          <a:solidFill>
            <a:schemeClr val="accent2"/>
          </a:solidFill>
          <a:ln w="712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4B858B-B4AA-3288-B6F4-46CE153BAC75}"/>
              </a:ext>
            </a:extLst>
          </p:cNvPr>
          <p:cNvSpPr/>
          <p:nvPr/>
        </p:nvSpPr>
        <p:spPr>
          <a:xfrm>
            <a:off x="5086350" y="1346916"/>
            <a:ext cx="2019300" cy="216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30 Strategic Fits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353F44-EE12-56EB-EFD8-27EBC1FCF455}"/>
              </a:ext>
            </a:extLst>
          </p:cNvPr>
          <p:cNvSpPr/>
          <p:nvPr/>
        </p:nvSpPr>
        <p:spPr>
          <a:xfrm>
            <a:off x="4148324" y="3238319"/>
            <a:ext cx="3895353" cy="2167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15 Targets Within Size Range after filtering for size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F95072-E211-B4B0-ADFF-885C84A4B873}"/>
              </a:ext>
            </a:extLst>
          </p:cNvPr>
          <p:cNvSpPr/>
          <p:nvPr/>
        </p:nvSpPr>
        <p:spPr>
          <a:xfrm>
            <a:off x="3431638" y="4891811"/>
            <a:ext cx="5328862" cy="2215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10 High Priority Targets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951E5D5-A7DA-3141-C1C5-5844A12AB4C4}"/>
              </a:ext>
            </a:extLst>
          </p:cNvPr>
          <p:cNvCxnSpPr>
            <a:cxnSpLocks/>
          </p:cNvCxnSpPr>
          <p:nvPr/>
        </p:nvCxnSpPr>
        <p:spPr>
          <a:xfrm>
            <a:off x="6095999" y="5426271"/>
            <a:ext cx="0" cy="883673"/>
          </a:xfrm>
          <a:prstGeom prst="line">
            <a:avLst/>
          </a:prstGeom>
          <a:ln w="6350">
            <a:solidFill>
              <a:schemeClr val="bg2">
                <a:lumMod val="50000"/>
              </a:schemeClr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E2A5A38C-F882-7E32-02C1-4F632BBE6537}"/>
              </a:ext>
            </a:extLst>
          </p:cNvPr>
          <p:cNvGrpSpPr/>
          <p:nvPr/>
        </p:nvGrpSpPr>
        <p:grpSpPr>
          <a:xfrm>
            <a:off x="1604150" y="2288519"/>
            <a:ext cx="8983700" cy="219979"/>
            <a:chOff x="1523701" y="2432559"/>
            <a:chExt cx="8983700" cy="219979"/>
          </a:xfrm>
        </p:grpSpPr>
        <p:pic>
          <p:nvPicPr>
            <p:cNvPr id="52" name="Logo 27">
              <a:extLst>
                <a:ext uri="{FF2B5EF4-FFF2-40B4-BE49-F238E27FC236}">
                  <a16:creationId xmlns:a16="http://schemas.microsoft.com/office/drawing/2014/main" id="{A23D2979-6DF7-85D1-2A0B-980A7DE4F7CB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"/>
            <a:stretch>
              <a:fillRect/>
            </a:stretch>
          </p:blipFill>
          <p:spPr>
            <a:xfrm>
              <a:off x="1523701" y="2490291"/>
              <a:ext cx="597231" cy="104515"/>
            </a:xfrm>
            <a:prstGeom prst="rect">
              <a:avLst/>
            </a:prstGeom>
          </p:spPr>
        </p:pic>
        <p:pic>
          <p:nvPicPr>
            <p:cNvPr id="54" name="Logo 28">
              <a:extLst>
                <a:ext uri="{FF2B5EF4-FFF2-40B4-BE49-F238E27FC236}">
                  <a16:creationId xmlns:a16="http://schemas.microsoft.com/office/drawing/2014/main" id="{997A8EB0-4EEC-CE82-6642-32FFDE7DA072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3"/>
            <a:stretch>
              <a:fillRect/>
            </a:stretch>
          </p:blipFill>
          <p:spPr>
            <a:xfrm>
              <a:off x="2430727" y="2441815"/>
              <a:ext cx="452733" cy="201466"/>
            </a:xfrm>
            <a:prstGeom prst="rect">
              <a:avLst/>
            </a:prstGeom>
          </p:spPr>
        </p:pic>
        <p:pic>
          <p:nvPicPr>
            <p:cNvPr id="55" name="Logo 29">
              <a:extLst>
                <a:ext uri="{FF2B5EF4-FFF2-40B4-BE49-F238E27FC236}">
                  <a16:creationId xmlns:a16="http://schemas.microsoft.com/office/drawing/2014/main" id="{4B12E1BF-FE28-B790-9BA8-588B814D559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4"/>
            <a:stretch>
              <a:fillRect/>
            </a:stretch>
          </p:blipFill>
          <p:spPr>
            <a:xfrm>
              <a:off x="3193255" y="2454184"/>
              <a:ext cx="667065" cy="176729"/>
            </a:xfrm>
            <a:prstGeom prst="rect">
              <a:avLst/>
            </a:prstGeom>
          </p:spPr>
        </p:pic>
        <p:pic>
          <p:nvPicPr>
            <p:cNvPr id="56" name="Logo 30">
              <a:extLst>
                <a:ext uri="{FF2B5EF4-FFF2-40B4-BE49-F238E27FC236}">
                  <a16:creationId xmlns:a16="http://schemas.microsoft.com/office/drawing/2014/main" id="{1A96692D-EFDA-0079-AC37-CF814C35B7AD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5"/>
            <a:stretch>
              <a:fillRect/>
            </a:stretch>
          </p:blipFill>
          <p:spPr>
            <a:xfrm>
              <a:off x="4170115" y="2448724"/>
              <a:ext cx="586400" cy="187648"/>
            </a:xfrm>
            <a:prstGeom prst="rect">
              <a:avLst/>
            </a:prstGeom>
          </p:spPr>
        </p:pic>
        <p:pic>
          <p:nvPicPr>
            <p:cNvPr id="57" name="Logo 31">
              <a:extLst>
                <a:ext uri="{FF2B5EF4-FFF2-40B4-BE49-F238E27FC236}">
                  <a16:creationId xmlns:a16="http://schemas.microsoft.com/office/drawing/2014/main" id="{E43EE38D-920F-F4A5-D263-019BEAAC2701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6"/>
            <a:stretch>
              <a:fillRect/>
            </a:stretch>
          </p:blipFill>
          <p:spPr>
            <a:xfrm>
              <a:off x="5066310" y="2432559"/>
              <a:ext cx="214132" cy="219979"/>
            </a:xfrm>
            <a:prstGeom prst="rect">
              <a:avLst/>
            </a:prstGeom>
          </p:spPr>
        </p:pic>
        <p:pic>
          <p:nvPicPr>
            <p:cNvPr id="58" name="Logo 32">
              <a:extLst>
                <a:ext uri="{FF2B5EF4-FFF2-40B4-BE49-F238E27FC236}">
                  <a16:creationId xmlns:a16="http://schemas.microsoft.com/office/drawing/2014/main" id="{0064ECC9-DDD9-DE41-6818-AD6C6DE106FB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7"/>
            <a:stretch>
              <a:fillRect/>
            </a:stretch>
          </p:blipFill>
          <p:spPr>
            <a:xfrm>
              <a:off x="5590237" y="2466051"/>
              <a:ext cx="501617" cy="152994"/>
            </a:xfrm>
            <a:prstGeom prst="rect">
              <a:avLst/>
            </a:prstGeom>
          </p:spPr>
        </p:pic>
        <p:pic>
          <p:nvPicPr>
            <p:cNvPr id="62" name="Logo 35">
              <a:extLst>
                <a:ext uri="{FF2B5EF4-FFF2-40B4-BE49-F238E27FC236}">
                  <a16:creationId xmlns:a16="http://schemas.microsoft.com/office/drawing/2014/main" id="{7F315366-AAB1-96B9-DDA3-7483076F69B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8"/>
            <a:stretch>
              <a:fillRect/>
            </a:stretch>
          </p:blipFill>
          <p:spPr>
            <a:xfrm>
              <a:off x="7770162" y="2499666"/>
              <a:ext cx="779686" cy="85765"/>
            </a:xfrm>
            <a:prstGeom prst="rect">
              <a:avLst/>
            </a:prstGeom>
          </p:spPr>
        </p:pic>
        <p:pic>
          <p:nvPicPr>
            <p:cNvPr id="63" name="Logo 36">
              <a:extLst>
                <a:ext uri="{FF2B5EF4-FFF2-40B4-BE49-F238E27FC236}">
                  <a16:creationId xmlns:a16="http://schemas.microsoft.com/office/drawing/2014/main" id="{6FFBC789-4CAE-2DDD-1A1E-6F8C7E89999F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9"/>
            <a:stretch>
              <a:fillRect/>
            </a:stretch>
          </p:blipFill>
          <p:spPr>
            <a:xfrm>
              <a:off x="8859643" y="2456159"/>
              <a:ext cx="691112" cy="172778"/>
            </a:xfrm>
            <a:prstGeom prst="rect">
              <a:avLst/>
            </a:prstGeom>
          </p:spPr>
        </p:pic>
        <p:pic>
          <p:nvPicPr>
            <p:cNvPr id="64" name="Logo 37">
              <a:extLst>
                <a:ext uri="{FF2B5EF4-FFF2-40B4-BE49-F238E27FC236}">
                  <a16:creationId xmlns:a16="http://schemas.microsoft.com/office/drawing/2014/main" id="{4B5287FD-B0BA-30CC-AF4A-17A34B546E6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0"/>
            <a:stretch>
              <a:fillRect/>
            </a:stretch>
          </p:blipFill>
          <p:spPr>
            <a:xfrm>
              <a:off x="9860551" y="2481097"/>
              <a:ext cx="646850" cy="122902"/>
            </a:xfrm>
            <a:prstGeom prst="rect">
              <a:avLst/>
            </a:prstGeom>
          </p:spPr>
        </p:pic>
        <p:pic>
          <p:nvPicPr>
            <p:cNvPr id="162" name="Picture 161">
              <a:extLst>
                <a:ext uri="{FF2B5EF4-FFF2-40B4-BE49-F238E27FC236}">
                  <a16:creationId xmlns:a16="http://schemas.microsoft.com/office/drawing/2014/main" id="{766976DF-87D9-6544-EF74-44953CD62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0211" t="25333" r="10026" b="28430"/>
            <a:stretch>
              <a:fillRect/>
            </a:stretch>
          </p:blipFill>
          <p:spPr>
            <a:xfrm>
              <a:off x="6401649" y="2442248"/>
              <a:ext cx="346055" cy="200600"/>
            </a:xfrm>
            <a:prstGeom prst="rect">
              <a:avLst/>
            </a:prstGeom>
          </p:spPr>
        </p:pic>
        <p:pic>
          <p:nvPicPr>
            <p:cNvPr id="170" name="Picture 169">
              <a:extLst>
                <a:ext uri="{FF2B5EF4-FFF2-40B4-BE49-F238E27FC236}">
                  <a16:creationId xmlns:a16="http://schemas.microsoft.com/office/drawing/2014/main" id="{6D76E6CF-BF07-1213-7D82-D66C9B9B0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057499" y="2448588"/>
              <a:ext cx="402868" cy="187920"/>
            </a:xfrm>
            <a:prstGeom prst="rect">
              <a:avLst/>
            </a:prstGeom>
          </p:spPr>
        </p:pic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1B6C701E-EA1B-1571-8043-E83F4F7BF434}"/>
              </a:ext>
            </a:extLst>
          </p:cNvPr>
          <p:cNvGrpSpPr/>
          <p:nvPr/>
        </p:nvGrpSpPr>
        <p:grpSpPr>
          <a:xfrm>
            <a:off x="1344370" y="1944653"/>
            <a:ext cx="9503260" cy="276007"/>
            <a:chOff x="1305130" y="2079015"/>
            <a:chExt cx="9503260" cy="276007"/>
          </a:xfrm>
        </p:grpSpPr>
        <p:pic>
          <p:nvPicPr>
            <p:cNvPr id="40" name="Logo 16">
              <a:extLst>
                <a:ext uri="{FF2B5EF4-FFF2-40B4-BE49-F238E27FC236}">
                  <a16:creationId xmlns:a16="http://schemas.microsoft.com/office/drawing/2014/main" id="{E18E3D05-1AA7-9A48-AC4C-55A59407B957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3"/>
            <a:stretch>
              <a:fillRect/>
            </a:stretch>
          </p:blipFill>
          <p:spPr>
            <a:xfrm>
              <a:off x="1305130" y="2114807"/>
              <a:ext cx="419327" cy="204422"/>
            </a:xfrm>
            <a:prstGeom prst="rect">
              <a:avLst/>
            </a:prstGeom>
          </p:spPr>
        </p:pic>
        <p:pic>
          <p:nvPicPr>
            <p:cNvPr id="41" name="Logo 17">
              <a:extLst>
                <a:ext uri="{FF2B5EF4-FFF2-40B4-BE49-F238E27FC236}">
                  <a16:creationId xmlns:a16="http://schemas.microsoft.com/office/drawing/2014/main" id="{BEDB69C3-44B2-3BEF-95B5-78B6EFE5FCEA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4"/>
            <a:stretch>
              <a:fillRect/>
            </a:stretch>
          </p:blipFill>
          <p:spPr>
            <a:xfrm>
              <a:off x="2053876" y="2111823"/>
              <a:ext cx="346526" cy="210391"/>
            </a:xfrm>
            <a:prstGeom prst="rect">
              <a:avLst/>
            </a:prstGeom>
          </p:spPr>
        </p:pic>
        <p:pic>
          <p:nvPicPr>
            <p:cNvPr id="42" name="Logo 18">
              <a:extLst>
                <a:ext uri="{FF2B5EF4-FFF2-40B4-BE49-F238E27FC236}">
                  <a16:creationId xmlns:a16="http://schemas.microsoft.com/office/drawing/2014/main" id="{2A1D2521-DD1A-EDFD-591F-1C052C74F167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5"/>
            <a:stretch>
              <a:fillRect/>
            </a:stretch>
          </p:blipFill>
          <p:spPr>
            <a:xfrm>
              <a:off x="2729821" y="2166664"/>
              <a:ext cx="629433" cy="100709"/>
            </a:xfrm>
            <a:prstGeom prst="rect">
              <a:avLst/>
            </a:prstGeom>
          </p:spPr>
        </p:pic>
        <p:pic>
          <p:nvPicPr>
            <p:cNvPr id="44" name="Logo 20">
              <a:extLst>
                <a:ext uri="{FF2B5EF4-FFF2-40B4-BE49-F238E27FC236}">
                  <a16:creationId xmlns:a16="http://schemas.microsoft.com/office/drawing/2014/main" id="{EAC37CB9-85F6-85DF-66AF-28A1D2DEFD4B}"/>
                </a:ext>
              </a:extLst>
            </p:cNvPr>
            <p:cNvPicPr>
              <a:picLocks/>
            </p:cNvPicPr>
            <p:nvPr/>
          </p:nvPicPr>
          <p:blipFill dpi="330">
            <a:blip r:embed="rId16"/>
            <a:stretch>
              <a:fillRect/>
            </a:stretch>
          </p:blipFill>
          <p:spPr>
            <a:xfrm>
              <a:off x="4351835" y="2125376"/>
              <a:ext cx="654909" cy="183285"/>
            </a:xfrm>
            <a:prstGeom prst="rect">
              <a:avLst/>
            </a:prstGeom>
          </p:spPr>
        </p:pic>
        <p:pic>
          <p:nvPicPr>
            <p:cNvPr id="45" name="Logo 21">
              <a:extLst>
                <a:ext uri="{FF2B5EF4-FFF2-40B4-BE49-F238E27FC236}">
                  <a16:creationId xmlns:a16="http://schemas.microsoft.com/office/drawing/2014/main" id="{1057852D-30F1-F6A0-F92D-2D50C7907E08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7"/>
            <a:stretch>
              <a:fillRect/>
            </a:stretch>
          </p:blipFill>
          <p:spPr>
            <a:xfrm>
              <a:off x="5336163" y="2173545"/>
              <a:ext cx="772868" cy="86947"/>
            </a:xfrm>
            <a:prstGeom prst="rect">
              <a:avLst/>
            </a:prstGeom>
          </p:spPr>
        </p:pic>
        <p:pic>
          <p:nvPicPr>
            <p:cNvPr id="47" name="Logo 22">
              <a:extLst>
                <a:ext uri="{FF2B5EF4-FFF2-40B4-BE49-F238E27FC236}">
                  <a16:creationId xmlns:a16="http://schemas.microsoft.com/office/drawing/2014/main" id="{F0BE620B-E19F-F3A7-F852-E121CE727387}"/>
                </a:ext>
              </a:extLst>
            </p:cNvPr>
            <p:cNvPicPr>
              <a:picLocks/>
            </p:cNvPicPr>
            <p:nvPr/>
          </p:nvPicPr>
          <p:blipFill dpi="330">
            <a:blip r:embed="rId18"/>
            <a:stretch>
              <a:fillRect/>
            </a:stretch>
          </p:blipFill>
          <p:spPr>
            <a:xfrm>
              <a:off x="6438450" y="2119439"/>
              <a:ext cx="600486" cy="195158"/>
            </a:xfrm>
            <a:prstGeom prst="rect">
              <a:avLst/>
            </a:prstGeom>
          </p:spPr>
        </p:pic>
        <p:pic>
          <p:nvPicPr>
            <p:cNvPr id="48" name="Logo 23">
              <a:extLst>
                <a:ext uri="{FF2B5EF4-FFF2-40B4-BE49-F238E27FC236}">
                  <a16:creationId xmlns:a16="http://schemas.microsoft.com/office/drawing/2014/main" id="{7474785B-0B47-803A-F6E7-30C7ACBA7189}"/>
                </a:ext>
              </a:extLst>
            </p:cNvPr>
            <p:cNvPicPr>
              <a:picLocks/>
            </p:cNvPicPr>
            <p:nvPr/>
          </p:nvPicPr>
          <p:blipFill dpi="330">
            <a:blip r:embed="rId19"/>
            <a:stretch>
              <a:fillRect/>
            </a:stretch>
          </p:blipFill>
          <p:spPr>
            <a:xfrm>
              <a:off x="7368355" y="2131071"/>
              <a:ext cx="731461" cy="171894"/>
            </a:xfrm>
            <a:prstGeom prst="rect">
              <a:avLst/>
            </a:prstGeom>
          </p:spPr>
        </p:pic>
        <p:pic>
          <p:nvPicPr>
            <p:cNvPr id="49" name="Logo 24">
              <a:extLst>
                <a:ext uri="{FF2B5EF4-FFF2-40B4-BE49-F238E27FC236}">
                  <a16:creationId xmlns:a16="http://schemas.microsoft.com/office/drawing/2014/main" id="{82651EBE-84B6-0C8F-DB45-98716234DACD}"/>
                </a:ext>
              </a:extLst>
            </p:cNvPr>
            <p:cNvPicPr>
              <a:picLocks/>
            </p:cNvPicPr>
            <p:nvPr/>
          </p:nvPicPr>
          <p:blipFill dpi="330">
            <a:blip r:embed="rId20"/>
            <a:stretch>
              <a:fillRect/>
            </a:stretch>
          </p:blipFill>
          <p:spPr>
            <a:xfrm>
              <a:off x="8429235" y="2124443"/>
              <a:ext cx="621075" cy="185150"/>
            </a:xfrm>
            <a:prstGeom prst="rect">
              <a:avLst/>
            </a:prstGeom>
          </p:spPr>
        </p:pic>
        <p:pic>
          <p:nvPicPr>
            <p:cNvPr id="50" name="Logo 25">
              <a:extLst>
                <a:ext uri="{FF2B5EF4-FFF2-40B4-BE49-F238E27FC236}">
                  <a16:creationId xmlns:a16="http://schemas.microsoft.com/office/drawing/2014/main" id="{2932B9C9-3D72-8EA4-AF2E-4359FE1DFED4}"/>
                </a:ext>
              </a:extLst>
            </p:cNvPr>
            <p:cNvPicPr>
              <a:picLocks/>
            </p:cNvPicPr>
            <p:nvPr/>
          </p:nvPicPr>
          <p:blipFill dpi="330">
            <a:blip r:embed="rId21"/>
            <a:stretch>
              <a:fillRect/>
            </a:stretch>
          </p:blipFill>
          <p:spPr>
            <a:xfrm>
              <a:off x="9379729" y="2079015"/>
              <a:ext cx="351813" cy="276007"/>
            </a:xfrm>
            <a:prstGeom prst="rect">
              <a:avLst/>
            </a:prstGeom>
          </p:spPr>
        </p:pic>
        <p:pic>
          <p:nvPicPr>
            <p:cNvPr id="51" name="Logo 26">
              <a:extLst>
                <a:ext uri="{FF2B5EF4-FFF2-40B4-BE49-F238E27FC236}">
                  <a16:creationId xmlns:a16="http://schemas.microsoft.com/office/drawing/2014/main" id="{89D710B8-472B-BDB1-5493-4E69D4EF31C3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2"/>
            <a:stretch>
              <a:fillRect/>
            </a:stretch>
          </p:blipFill>
          <p:spPr>
            <a:xfrm>
              <a:off x="10060966" y="2163005"/>
              <a:ext cx="747424" cy="108026"/>
            </a:xfrm>
            <a:prstGeom prst="rect">
              <a:avLst/>
            </a:prstGeom>
          </p:spPr>
        </p:pic>
        <p:pic>
          <p:nvPicPr>
            <p:cNvPr id="178" name="Picture 177" descr="AML Intelligence &amp; ManchesterCF – ManchesterCF Financial Intelligence">
              <a:extLst>
                <a:ext uri="{FF2B5EF4-FFF2-40B4-BE49-F238E27FC236}">
                  <a16:creationId xmlns:a16="http://schemas.microsoft.com/office/drawing/2014/main" id="{C2ED8DB2-F634-1540-B484-03DA2C4BF3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688673" y="2106041"/>
              <a:ext cx="333743" cy="221955"/>
            </a:xfrm>
            <a:prstGeom prst="rect">
              <a:avLst/>
            </a:prstGeom>
          </p:spPr>
        </p:pic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5D604E4E-A8B7-BF18-F500-A5D481A21F25}"/>
              </a:ext>
            </a:extLst>
          </p:cNvPr>
          <p:cNvGrpSpPr/>
          <p:nvPr/>
        </p:nvGrpSpPr>
        <p:grpSpPr>
          <a:xfrm>
            <a:off x="2961925" y="3834621"/>
            <a:ext cx="6268150" cy="276007"/>
            <a:chOff x="2889535" y="3729829"/>
            <a:chExt cx="6268150" cy="276007"/>
          </a:xfrm>
        </p:grpSpPr>
        <p:pic>
          <p:nvPicPr>
            <p:cNvPr id="74" name="Logo 1">
              <a:extLst>
                <a:ext uri="{FF2B5EF4-FFF2-40B4-BE49-F238E27FC236}">
                  <a16:creationId xmlns:a16="http://schemas.microsoft.com/office/drawing/2014/main" id="{B8C45A65-1A79-7176-D12D-4124202DE401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4"/>
            <a:stretch>
              <a:fillRect/>
            </a:stretch>
          </p:blipFill>
          <p:spPr>
            <a:xfrm>
              <a:off x="2889535" y="3737153"/>
              <a:ext cx="430475" cy="261359"/>
            </a:xfrm>
            <a:prstGeom prst="rect">
              <a:avLst/>
            </a:prstGeom>
          </p:spPr>
        </p:pic>
        <p:pic>
          <p:nvPicPr>
            <p:cNvPr id="78" name="Logo 3">
              <a:extLst>
                <a:ext uri="{FF2B5EF4-FFF2-40B4-BE49-F238E27FC236}">
                  <a16:creationId xmlns:a16="http://schemas.microsoft.com/office/drawing/2014/main" id="{AB6C0855-13D8-2FFD-1FEF-8E1DCBF4873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6"/>
            <a:stretch>
              <a:fillRect/>
            </a:stretch>
          </p:blipFill>
          <p:spPr>
            <a:xfrm>
              <a:off x="4006881" y="3776190"/>
              <a:ext cx="654909" cy="183285"/>
            </a:xfrm>
            <a:prstGeom prst="rect">
              <a:avLst/>
            </a:prstGeom>
          </p:spPr>
        </p:pic>
        <p:pic>
          <p:nvPicPr>
            <p:cNvPr id="80" name="Logo 4">
              <a:extLst>
                <a:ext uri="{FF2B5EF4-FFF2-40B4-BE49-F238E27FC236}">
                  <a16:creationId xmlns:a16="http://schemas.microsoft.com/office/drawing/2014/main" id="{3F535306-DCDB-CAA0-9C05-2A6986C2B592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8"/>
            <a:stretch>
              <a:fillRect/>
            </a:stretch>
          </p:blipFill>
          <p:spPr>
            <a:xfrm>
              <a:off x="4838354" y="3770253"/>
              <a:ext cx="600486" cy="195158"/>
            </a:xfrm>
            <a:prstGeom prst="rect">
              <a:avLst/>
            </a:prstGeom>
          </p:spPr>
        </p:pic>
        <p:pic>
          <p:nvPicPr>
            <p:cNvPr id="82" name="Logo 5">
              <a:extLst>
                <a:ext uri="{FF2B5EF4-FFF2-40B4-BE49-F238E27FC236}">
                  <a16:creationId xmlns:a16="http://schemas.microsoft.com/office/drawing/2014/main" id="{A3E88460-E7B9-5183-5CC7-9AAFA6F4293B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19"/>
            <a:stretch>
              <a:fillRect/>
            </a:stretch>
          </p:blipFill>
          <p:spPr>
            <a:xfrm>
              <a:off x="5615404" y="3781885"/>
              <a:ext cx="731461" cy="171894"/>
            </a:xfrm>
            <a:prstGeom prst="rect">
              <a:avLst/>
            </a:prstGeom>
          </p:spPr>
        </p:pic>
        <p:pic>
          <p:nvPicPr>
            <p:cNvPr id="84" name="Logo 6">
              <a:extLst>
                <a:ext uri="{FF2B5EF4-FFF2-40B4-BE49-F238E27FC236}">
                  <a16:creationId xmlns:a16="http://schemas.microsoft.com/office/drawing/2014/main" id="{CF18A795-16CE-DD47-CC66-7AF9B9B8539F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0"/>
            <a:stretch>
              <a:fillRect/>
            </a:stretch>
          </p:blipFill>
          <p:spPr>
            <a:xfrm>
              <a:off x="6523429" y="3775257"/>
              <a:ext cx="621075" cy="185150"/>
            </a:xfrm>
            <a:prstGeom prst="rect">
              <a:avLst/>
            </a:prstGeom>
          </p:spPr>
        </p:pic>
        <p:pic>
          <p:nvPicPr>
            <p:cNvPr id="86" name="Logo 7">
              <a:extLst>
                <a:ext uri="{FF2B5EF4-FFF2-40B4-BE49-F238E27FC236}">
                  <a16:creationId xmlns:a16="http://schemas.microsoft.com/office/drawing/2014/main" id="{6918AFCD-1385-E3B3-9C6F-AC73C98CC1A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1"/>
            <a:stretch>
              <a:fillRect/>
            </a:stretch>
          </p:blipFill>
          <p:spPr>
            <a:xfrm>
              <a:off x="7321068" y="3729829"/>
              <a:ext cx="351813" cy="276007"/>
            </a:xfrm>
            <a:prstGeom prst="rect">
              <a:avLst/>
            </a:prstGeom>
          </p:spPr>
        </p:pic>
        <p:pic>
          <p:nvPicPr>
            <p:cNvPr id="88" name="Logo 8">
              <a:extLst>
                <a:ext uri="{FF2B5EF4-FFF2-40B4-BE49-F238E27FC236}">
                  <a16:creationId xmlns:a16="http://schemas.microsoft.com/office/drawing/2014/main" id="{2E151639-9F9A-1452-A3BD-67405EFFA5AD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3"/>
            <a:stretch>
              <a:fillRect/>
            </a:stretch>
          </p:blipFill>
          <p:spPr>
            <a:xfrm>
              <a:off x="7849445" y="3749908"/>
              <a:ext cx="529995" cy="235848"/>
            </a:xfrm>
            <a:prstGeom prst="rect">
              <a:avLst/>
            </a:prstGeom>
          </p:spPr>
        </p:pic>
        <p:pic>
          <p:nvPicPr>
            <p:cNvPr id="90" name="Logo 9">
              <a:extLst>
                <a:ext uri="{FF2B5EF4-FFF2-40B4-BE49-F238E27FC236}">
                  <a16:creationId xmlns:a16="http://schemas.microsoft.com/office/drawing/2014/main" id="{D94FA5FB-20D7-44B2-82B2-4D8FB75FB918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5"/>
            <a:stretch>
              <a:fillRect/>
            </a:stretch>
          </p:blipFill>
          <p:spPr>
            <a:xfrm>
              <a:off x="8556007" y="3771564"/>
              <a:ext cx="601678" cy="192537"/>
            </a:xfrm>
            <a:prstGeom prst="rect">
              <a:avLst/>
            </a:prstGeom>
          </p:spPr>
        </p:pic>
        <p:pic>
          <p:nvPicPr>
            <p:cNvPr id="182" name="Picture 181" descr="AML Intelligence &amp; ManchesterCF – ManchesterCF Financial Intelligence">
              <a:extLst>
                <a:ext uri="{FF2B5EF4-FFF2-40B4-BE49-F238E27FC236}">
                  <a16:creationId xmlns:a16="http://schemas.microsoft.com/office/drawing/2014/main" id="{EE4BCCE6-31DA-B906-D354-F220939C44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BEBA8EAE-BF5A-486C-A8C5-ECC9F3942E4B}">
                  <a14:imgProps xmlns:a14="http://schemas.microsoft.com/office/drawing/2010/main">
                    <a14:imgLayer r:embed="rId24">
                      <a14:imgEffect>
                        <a14:brightnessContrast bright="-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496574" y="3756855"/>
              <a:ext cx="333743" cy="221955"/>
            </a:xfrm>
            <a:prstGeom prst="rect">
              <a:avLst/>
            </a:prstGeom>
          </p:spPr>
        </p:pic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DD9DE06-0E3E-8AC3-1C53-D16BE13B56BD}"/>
              </a:ext>
            </a:extLst>
          </p:cNvPr>
          <p:cNvGrpSpPr/>
          <p:nvPr/>
        </p:nvGrpSpPr>
        <p:grpSpPr>
          <a:xfrm>
            <a:off x="3410711" y="4298453"/>
            <a:ext cx="5370578" cy="237846"/>
            <a:chOff x="3407783" y="4193661"/>
            <a:chExt cx="5370578" cy="237846"/>
          </a:xfrm>
        </p:grpSpPr>
        <p:pic>
          <p:nvPicPr>
            <p:cNvPr id="98" name="Logo 13">
              <a:extLst>
                <a:ext uri="{FF2B5EF4-FFF2-40B4-BE49-F238E27FC236}">
                  <a16:creationId xmlns:a16="http://schemas.microsoft.com/office/drawing/2014/main" id="{ECAB335A-255B-E5A2-614C-A1DDB8F07E5C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5"/>
            <a:stretch>
              <a:fillRect/>
            </a:stretch>
          </p:blipFill>
          <p:spPr>
            <a:xfrm>
              <a:off x="5954966" y="4257336"/>
              <a:ext cx="701565" cy="110496"/>
            </a:xfrm>
            <a:prstGeom prst="rect">
              <a:avLst/>
            </a:prstGeom>
          </p:spPr>
        </p:pic>
        <p:pic>
          <p:nvPicPr>
            <p:cNvPr id="102" name="Logo 15">
              <a:extLst>
                <a:ext uri="{FF2B5EF4-FFF2-40B4-BE49-F238E27FC236}">
                  <a16:creationId xmlns:a16="http://schemas.microsoft.com/office/drawing/2014/main" id="{B43F7E8E-D8D1-462E-DAE2-681B486EE24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6"/>
            <a:stretch>
              <a:fillRect/>
            </a:stretch>
          </p:blipFill>
          <p:spPr>
            <a:xfrm>
              <a:off x="7998558" y="4237528"/>
              <a:ext cx="779803" cy="150112"/>
            </a:xfrm>
            <a:prstGeom prst="rect">
              <a:avLst/>
            </a:prstGeom>
          </p:spPr>
        </p:pic>
        <p:pic>
          <p:nvPicPr>
            <p:cNvPr id="163" name="Picture 162">
              <a:extLst>
                <a:ext uri="{FF2B5EF4-FFF2-40B4-BE49-F238E27FC236}">
                  <a16:creationId xmlns:a16="http://schemas.microsoft.com/office/drawing/2014/main" id="{46C79535-B467-CAAA-1795-6379A28C68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0211" t="25333" r="10026" b="28430"/>
            <a:stretch>
              <a:fillRect/>
            </a:stretch>
          </p:blipFill>
          <p:spPr>
            <a:xfrm>
              <a:off x="3407783" y="4212284"/>
              <a:ext cx="346055" cy="200600"/>
            </a:xfrm>
            <a:prstGeom prst="rect">
              <a:avLst/>
            </a:prstGeom>
          </p:spPr>
        </p:pic>
        <p:pic>
          <p:nvPicPr>
            <p:cNvPr id="171" name="Picture 170">
              <a:extLst>
                <a:ext uri="{FF2B5EF4-FFF2-40B4-BE49-F238E27FC236}">
                  <a16:creationId xmlns:a16="http://schemas.microsoft.com/office/drawing/2014/main" id="{7D53C388-5331-F25D-8C10-142A221E7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067732" y="4218624"/>
              <a:ext cx="402868" cy="187920"/>
            </a:xfrm>
            <a:prstGeom prst="rect">
              <a:avLst/>
            </a:prstGeom>
          </p:spPr>
        </p:pic>
        <p:pic>
          <p:nvPicPr>
            <p:cNvPr id="191" name="Picture 190" descr="RegTech Awards &amp; Media Coverage | Encompass">
              <a:extLst>
                <a:ext uri="{FF2B5EF4-FFF2-40B4-BE49-F238E27FC236}">
                  <a16:creationId xmlns:a16="http://schemas.microsoft.com/office/drawing/2014/main" id="{E9DF3B1B-315B-2141-C3DF-FDC563340D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 t="35791" b="34556"/>
            <a:stretch>
              <a:fillRect/>
            </a:stretch>
          </p:blipFill>
          <p:spPr>
            <a:xfrm>
              <a:off x="4784494" y="4236384"/>
              <a:ext cx="856578" cy="152400"/>
            </a:xfrm>
            <a:prstGeom prst="rect">
              <a:avLst/>
            </a:prstGeom>
          </p:spPr>
        </p:pic>
        <p:pic>
          <p:nvPicPr>
            <p:cNvPr id="200" name="Picture 199" descr="Santiment - The Wealth Mosaic">
              <a:extLst>
                <a:ext uri="{FF2B5EF4-FFF2-40B4-BE49-F238E27FC236}">
                  <a16:creationId xmlns:a16="http://schemas.microsoft.com/office/drawing/2014/main" id="{AF4D2EF9-6FC2-E19F-FC93-5AD504DAAA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970425" y="4193661"/>
              <a:ext cx="714237" cy="237846"/>
            </a:xfrm>
            <a:prstGeom prst="rect">
              <a:avLst/>
            </a:prstGeom>
          </p:spPr>
        </p:pic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A9BEC515-4A82-A833-F09D-849F9379ABEE}"/>
              </a:ext>
            </a:extLst>
          </p:cNvPr>
          <p:cNvGrpSpPr/>
          <p:nvPr/>
        </p:nvGrpSpPr>
        <p:grpSpPr>
          <a:xfrm>
            <a:off x="4750286" y="5426271"/>
            <a:ext cx="2697588" cy="742907"/>
            <a:chOff x="4750286" y="5317635"/>
            <a:chExt cx="2697588" cy="742907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4F3A45FA-4542-B62B-2334-82D76CF2807C}"/>
                </a:ext>
              </a:extLst>
            </p:cNvPr>
            <p:cNvSpPr/>
            <p:nvPr/>
          </p:nvSpPr>
          <p:spPr>
            <a:xfrm>
              <a:off x="4893401" y="5317635"/>
              <a:ext cx="1092013" cy="1538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2">
                      <a:lumMod val="50000"/>
                    </a:schemeClr>
                  </a:solidFill>
                </a:rPr>
                <a:t>Transformative</a:t>
              </a:r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F7D052D5-060D-9CC9-0109-66A3BB6A7918}"/>
                </a:ext>
              </a:extLst>
            </p:cNvPr>
            <p:cNvSpPr/>
            <p:nvPr/>
          </p:nvSpPr>
          <p:spPr>
            <a:xfrm>
              <a:off x="6180399" y="5317635"/>
              <a:ext cx="1144385" cy="15388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2">
                      <a:lumMod val="50000"/>
                    </a:schemeClr>
                  </a:solidFill>
                </a:rPr>
                <a:t>String-of-pearls</a:t>
              </a:r>
            </a:p>
          </p:txBody>
        </p: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3011B717-C5A1-C355-5DC9-B430F6B2EA2E}"/>
                </a:ext>
              </a:extLst>
            </p:cNvPr>
            <p:cNvGrpSpPr/>
            <p:nvPr/>
          </p:nvGrpSpPr>
          <p:grpSpPr>
            <a:xfrm>
              <a:off x="4750286" y="5583251"/>
              <a:ext cx="2697588" cy="219815"/>
              <a:chOff x="4750286" y="5605476"/>
              <a:chExt cx="2697588" cy="219815"/>
            </a:xfrm>
          </p:grpSpPr>
          <p:pic>
            <p:nvPicPr>
              <p:cNvPr id="118" name="Logo 45">
                <a:extLst>
                  <a:ext uri="{FF2B5EF4-FFF2-40B4-BE49-F238E27FC236}">
                    <a16:creationId xmlns:a16="http://schemas.microsoft.com/office/drawing/2014/main" id="{BA3A053F-C084-8DC2-1EAF-A0079E782E25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21"/>
              <a:stretch>
                <a:fillRect/>
              </a:stretch>
            </p:blipFill>
            <p:spPr>
              <a:xfrm>
                <a:off x="4750286" y="5605476"/>
                <a:ext cx="280187" cy="219815"/>
              </a:xfrm>
              <a:prstGeom prst="rect">
                <a:avLst/>
              </a:prstGeom>
            </p:spPr>
          </p:pic>
          <p:pic>
            <p:nvPicPr>
              <p:cNvPr id="120" name="Logo 46">
                <a:extLst>
                  <a:ext uri="{FF2B5EF4-FFF2-40B4-BE49-F238E27FC236}">
                    <a16:creationId xmlns:a16="http://schemas.microsoft.com/office/drawing/2014/main" id="{2C4A78FD-E50B-426E-A9A8-CCF2980D039E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3"/>
              <a:stretch>
                <a:fillRect/>
              </a:stretch>
            </p:blipFill>
            <p:spPr>
              <a:xfrm>
                <a:off x="5142912" y="5637605"/>
                <a:ext cx="349565" cy="155557"/>
              </a:xfrm>
              <a:prstGeom prst="rect">
                <a:avLst/>
              </a:prstGeom>
            </p:spPr>
          </p:pic>
          <p:pic>
            <p:nvPicPr>
              <p:cNvPr id="122" name="Logo 47">
                <a:extLst>
                  <a:ext uri="{FF2B5EF4-FFF2-40B4-BE49-F238E27FC236}">
                    <a16:creationId xmlns:a16="http://schemas.microsoft.com/office/drawing/2014/main" id="{D73D8EA5-4855-F510-A4A4-CC5FB6A0F36F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5"/>
              <a:stretch>
                <a:fillRect/>
              </a:stretch>
            </p:blipFill>
            <p:spPr>
              <a:xfrm>
                <a:off x="5604915" y="5655886"/>
                <a:ext cx="371862" cy="118995"/>
              </a:xfrm>
              <a:prstGeom prst="rect">
                <a:avLst/>
              </a:prstGeom>
            </p:spPr>
          </p:pic>
          <p:pic>
            <p:nvPicPr>
              <p:cNvPr id="128" name="Logo 50">
                <a:extLst>
                  <a:ext uri="{FF2B5EF4-FFF2-40B4-BE49-F238E27FC236}">
                    <a16:creationId xmlns:a16="http://schemas.microsoft.com/office/drawing/2014/main" id="{C777F497-954D-045F-D883-FF6E464D8F96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14"/>
              <a:stretch>
                <a:fillRect/>
              </a:stretch>
            </p:blipFill>
            <p:spPr>
              <a:xfrm>
                <a:off x="6210750" y="5615377"/>
                <a:ext cx="329431" cy="200012"/>
              </a:xfrm>
              <a:prstGeom prst="rect">
                <a:avLst/>
              </a:prstGeom>
            </p:spPr>
          </p:pic>
          <p:pic>
            <p:nvPicPr>
              <p:cNvPr id="164" name="Picture 163">
                <a:extLst>
                  <a:ext uri="{FF2B5EF4-FFF2-40B4-BE49-F238E27FC236}">
                    <a16:creationId xmlns:a16="http://schemas.microsoft.com/office/drawing/2014/main" id="{DD4894A6-F091-EE97-DB15-0F123C505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rcRect l="10211" t="25333" r="10026" b="28430"/>
              <a:stretch>
                <a:fillRect/>
              </a:stretch>
            </p:blipFill>
            <p:spPr>
              <a:xfrm>
                <a:off x="7161879" y="5632491"/>
                <a:ext cx="285995" cy="165785"/>
              </a:xfrm>
              <a:prstGeom prst="rect">
                <a:avLst/>
              </a:prstGeom>
            </p:spPr>
          </p:pic>
          <p:pic>
            <p:nvPicPr>
              <p:cNvPr id="185" name="Picture 184" descr="AML Intelligence &amp; ManchesterCF – ManchesterCF Financial Intelligence">
                <a:extLst>
                  <a:ext uri="{FF2B5EF4-FFF2-40B4-BE49-F238E27FC236}">
                    <a16:creationId xmlns:a16="http://schemas.microsoft.com/office/drawing/2014/main" id="{3CEEDBC8-4647-DF80-D4DD-7EDCDDD797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brightnessContrast bright="-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699328" y="5614495"/>
                <a:ext cx="303403" cy="201777"/>
              </a:xfrm>
              <a:prstGeom prst="rect">
                <a:avLst/>
              </a:prstGeom>
            </p:spPr>
          </p:pic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2A8061AB-46FE-8CF1-BB87-8F8DB444B4FC}"/>
                </a:ext>
              </a:extLst>
            </p:cNvPr>
            <p:cNvGrpSpPr/>
            <p:nvPr/>
          </p:nvGrpSpPr>
          <p:grpSpPr>
            <a:xfrm>
              <a:off x="5144437" y="5905237"/>
              <a:ext cx="1914964" cy="155305"/>
              <a:chOff x="5144437" y="5962387"/>
              <a:chExt cx="1914964" cy="155305"/>
            </a:xfrm>
          </p:grpSpPr>
          <p:pic>
            <p:nvPicPr>
              <p:cNvPr id="126" name="Logo 49">
                <a:extLst>
                  <a:ext uri="{FF2B5EF4-FFF2-40B4-BE49-F238E27FC236}">
                    <a16:creationId xmlns:a16="http://schemas.microsoft.com/office/drawing/2014/main" id="{D29E7B52-897D-D505-752F-23E6C6DFCC2B}"/>
                  </a:ext>
                </a:extLst>
              </p:cNvPr>
              <p:cNvPicPr>
                <a:picLocks noChangeAspect="1"/>
              </p:cNvPicPr>
              <p:nvPr/>
            </p:nvPicPr>
            <p:blipFill dpi="330">
              <a:blip r:embed="rId25"/>
              <a:stretch>
                <a:fillRect/>
              </a:stretch>
            </p:blipFill>
            <p:spPr>
              <a:xfrm>
                <a:off x="5591352" y="6008619"/>
                <a:ext cx="398989" cy="62840"/>
              </a:xfrm>
              <a:prstGeom prst="rect">
                <a:avLst/>
              </a:prstGeom>
            </p:spPr>
          </p:pic>
          <p:pic>
            <p:nvPicPr>
              <p:cNvPr id="175" name="Picture 174">
                <a:extLst>
                  <a:ext uri="{FF2B5EF4-FFF2-40B4-BE49-F238E27FC236}">
                    <a16:creationId xmlns:a16="http://schemas.microsoft.com/office/drawing/2014/main" id="{2274ABAD-DCAC-3F11-26A1-6B726430E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144437" y="5962387"/>
                <a:ext cx="332950" cy="155305"/>
              </a:xfrm>
              <a:prstGeom prst="rect">
                <a:avLst/>
              </a:prstGeom>
            </p:spPr>
          </p:pic>
          <p:pic>
            <p:nvPicPr>
              <p:cNvPr id="194" name="Picture 193" descr="RegTech Awards &amp; Media Coverage | Encompass">
                <a:extLst>
                  <a:ext uri="{FF2B5EF4-FFF2-40B4-BE49-F238E27FC236}">
                    <a16:creationId xmlns:a16="http://schemas.microsoft.com/office/drawing/2014/main" id="{D083180C-FC3D-C037-1405-89EE1B8C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rcRect t="35791" b="34556"/>
              <a:stretch>
                <a:fillRect/>
              </a:stretch>
            </p:blipFill>
            <p:spPr>
              <a:xfrm>
                <a:off x="6175666" y="6004492"/>
                <a:ext cx="399599" cy="71095"/>
              </a:xfrm>
              <a:prstGeom prst="rect">
                <a:avLst/>
              </a:prstGeom>
            </p:spPr>
          </p:pic>
          <p:pic>
            <p:nvPicPr>
              <p:cNvPr id="203" name="Picture 202" descr="Santiment - The Wealth Mosaic">
                <a:extLst>
                  <a:ext uri="{FF2B5EF4-FFF2-40B4-BE49-F238E27FC236}">
                    <a16:creationId xmlns:a16="http://schemas.microsoft.com/office/drawing/2014/main" id="{0B22F3BC-2FD7-0B93-EF81-826115E30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656233" y="5972910"/>
                <a:ext cx="403168" cy="134258"/>
              </a:xfrm>
              <a:prstGeom prst="rect">
                <a:avLst/>
              </a:prstGeom>
            </p:spPr>
          </p:pic>
        </p:grp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A80F00C0-41D7-5369-D3B0-7E7E2030C757}"/>
              </a:ext>
            </a:extLst>
          </p:cNvPr>
          <p:cNvGrpSpPr/>
          <p:nvPr/>
        </p:nvGrpSpPr>
        <p:grpSpPr>
          <a:xfrm>
            <a:off x="2202692" y="2576357"/>
            <a:ext cx="7786616" cy="237846"/>
            <a:chOff x="2202692" y="2710719"/>
            <a:chExt cx="7786616" cy="237846"/>
          </a:xfrm>
        </p:grpSpPr>
        <p:pic>
          <p:nvPicPr>
            <p:cNvPr id="65" name="Logo 38">
              <a:extLst>
                <a:ext uri="{FF2B5EF4-FFF2-40B4-BE49-F238E27FC236}">
                  <a16:creationId xmlns:a16="http://schemas.microsoft.com/office/drawing/2014/main" id="{333E46B9-1E57-EC1D-C8A7-C26A004F6D74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9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2202692" y="2735427"/>
              <a:ext cx="579788" cy="188431"/>
            </a:xfrm>
            <a:prstGeom prst="rect">
              <a:avLst/>
            </a:prstGeom>
          </p:spPr>
        </p:pic>
        <p:pic>
          <p:nvPicPr>
            <p:cNvPr id="68" name="Logo 40">
              <a:extLst>
                <a:ext uri="{FF2B5EF4-FFF2-40B4-BE49-F238E27FC236}">
                  <a16:creationId xmlns:a16="http://schemas.microsoft.com/office/drawing/2014/main" id="{47CD4920-BDDB-4E1C-5EB4-429B6311A467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5"/>
            <a:stretch>
              <a:fillRect/>
            </a:stretch>
          </p:blipFill>
          <p:spPr>
            <a:xfrm>
              <a:off x="4590754" y="2774394"/>
              <a:ext cx="701565" cy="110496"/>
            </a:xfrm>
            <a:prstGeom prst="rect">
              <a:avLst/>
            </a:prstGeom>
          </p:spPr>
        </p:pic>
        <p:pic>
          <p:nvPicPr>
            <p:cNvPr id="71" name="Logo 43">
              <a:extLst>
                <a:ext uri="{FF2B5EF4-FFF2-40B4-BE49-F238E27FC236}">
                  <a16:creationId xmlns:a16="http://schemas.microsoft.com/office/drawing/2014/main" id="{1A7F12FF-55CA-D59F-730F-CD9B4C8927E3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30"/>
            <a:stretch>
              <a:fillRect/>
            </a:stretch>
          </p:blipFill>
          <p:spPr>
            <a:xfrm>
              <a:off x="8014002" y="2774775"/>
              <a:ext cx="719655" cy="109735"/>
            </a:xfrm>
            <a:prstGeom prst="rect">
              <a:avLst/>
            </a:prstGeom>
          </p:spPr>
        </p:pic>
        <p:pic>
          <p:nvPicPr>
            <p:cNvPr id="72" name="Logo 44">
              <a:extLst>
                <a:ext uri="{FF2B5EF4-FFF2-40B4-BE49-F238E27FC236}">
                  <a16:creationId xmlns:a16="http://schemas.microsoft.com/office/drawing/2014/main" id="{839A70AA-2606-F867-608D-4E22109CCAB6}"/>
                </a:ext>
              </a:extLst>
            </p:cNvPr>
            <p:cNvPicPr>
              <a:picLocks noChangeAspect="1"/>
            </p:cNvPicPr>
            <p:nvPr/>
          </p:nvPicPr>
          <p:blipFill dpi="330">
            <a:blip r:embed="rId26"/>
            <a:stretch>
              <a:fillRect/>
            </a:stretch>
          </p:blipFill>
          <p:spPr>
            <a:xfrm>
              <a:off x="9209505" y="2754586"/>
              <a:ext cx="779803" cy="150112"/>
            </a:xfrm>
            <a:prstGeom prst="rect">
              <a:avLst/>
            </a:prstGeom>
          </p:spPr>
        </p:pic>
        <p:pic>
          <p:nvPicPr>
            <p:cNvPr id="188" name="Picture 187" descr="RegTech Awards &amp; Media Coverage | Encompass">
              <a:extLst>
                <a:ext uri="{FF2B5EF4-FFF2-40B4-BE49-F238E27FC236}">
                  <a16:creationId xmlns:a16="http://schemas.microsoft.com/office/drawing/2014/main" id="{44AE5E84-CCFA-5722-E54B-E4080D5AE1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rcRect t="35791" b="34556"/>
            <a:stretch>
              <a:fillRect/>
            </a:stretch>
          </p:blipFill>
          <p:spPr>
            <a:xfrm>
              <a:off x="3258328" y="2753442"/>
              <a:ext cx="856578" cy="152400"/>
            </a:xfrm>
            <a:prstGeom prst="rect">
              <a:avLst/>
            </a:prstGeom>
          </p:spPr>
        </p:pic>
        <p:pic>
          <p:nvPicPr>
            <p:cNvPr id="197" name="Picture 196" descr="Santiment - The Wealth Mosaic">
              <a:extLst>
                <a:ext uri="{FF2B5EF4-FFF2-40B4-BE49-F238E27FC236}">
                  <a16:creationId xmlns:a16="http://schemas.microsoft.com/office/drawing/2014/main" id="{0CC8DCFF-3F91-8B9A-1289-47A2EE1D47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5768168" y="2710719"/>
              <a:ext cx="714237" cy="237846"/>
            </a:xfrm>
            <a:prstGeom prst="rect">
              <a:avLst/>
            </a:prstGeom>
          </p:spPr>
        </p:pic>
        <p:pic>
          <p:nvPicPr>
            <p:cNvPr id="206" name="Picture 205" descr="Sayari - Solution Provider | Public Sector Network">
              <a:extLst>
                <a:ext uri="{FF2B5EF4-FFF2-40B4-BE49-F238E27FC236}">
                  <a16:creationId xmlns:a16="http://schemas.microsoft.com/office/drawing/2014/main" id="{7160D676-1F54-04C2-0783-B4912E84E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 l="12417" t="32280" r="12000" b="32668"/>
            <a:stretch>
              <a:fillRect/>
            </a:stretch>
          </p:blipFill>
          <p:spPr>
            <a:xfrm>
              <a:off x="6958254" y="2778813"/>
              <a:ext cx="579899" cy="1016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3816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C906034-F868-A6CE-D792-AFBD70075116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8B0267-7F9A-6F25-2CE3-D30D8255D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Transformative Acquisition Targets (these will be $250M max EV range)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BA821A4-E3C5-D2CA-B7B8-ED1107515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269522"/>
              </p:ext>
            </p:extLst>
          </p:nvPr>
        </p:nvGraphicFramePr>
        <p:xfrm>
          <a:off x="542499" y="970391"/>
          <a:ext cx="10964456" cy="5330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436">
                  <a:extLst>
                    <a:ext uri="{9D8B030D-6E8A-4147-A177-3AD203B41FA5}">
                      <a16:colId xmlns:a16="http://schemas.microsoft.com/office/drawing/2014/main" val="3795834175"/>
                    </a:ext>
                  </a:extLst>
                </a:gridCol>
                <a:gridCol w="2938621">
                  <a:extLst>
                    <a:ext uri="{9D8B030D-6E8A-4147-A177-3AD203B41FA5}">
                      <a16:colId xmlns:a16="http://schemas.microsoft.com/office/drawing/2014/main" val="785953327"/>
                    </a:ext>
                  </a:extLst>
                </a:gridCol>
                <a:gridCol w="995882">
                  <a:extLst>
                    <a:ext uri="{9D8B030D-6E8A-4147-A177-3AD203B41FA5}">
                      <a16:colId xmlns:a16="http://schemas.microsoft.com/office/drawing/2014/main" val="1799919112"/>
                    </a:ext>
                  </a:extLst>
                </a:gridCol>
                <a:gridCol w="1738265">
                  <a:extLst>
                    <a:ext uri="{9D8B030D-6E8A-4147-A177-3AD203B41FA5}">
                      <a16:colId xmlns:a16="http://schemas.microsoft.com/office/drawing/2014/main" val="2819438071"/>
                    </a:ext>
                  </a:extLst>
                </a:gridCol>
                <a:gridCol w="1140737">
                  <a:extLst>
                    <a:ext uri="{9D8B030D-6E8A-4147-A177-3AD203B41FA5}">
                      <a16:colId xmlns:a16="http://schemas.microsoft.com/office/drawing/2014/main" val="462462545"/>
                    </a:ext>
                  </a:extLst>
                </a:gridCol>
                <a:gridCol w="3304515">
                  <a:extLst>
                    <a:ext uri="{9D8B030D-6E8A-4147-A177-3AD203B41FA5}">
                      <a16:colId xmlns:a16="http://schemas.microsoft.com/office/drawing/2014/main" val="2443251356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r>
                        <a:rPr lang="en-US" sz="800" dirty="0"/>
                        <a:t>Company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Business Summary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HQ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Financials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Key Contacts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Strategic Rationale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8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973280"/>
                  </a:ext>
                </a:extLst>
              </a:tr>
              <a:tr h="95021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AI-powered market intelligence platform focused on digital identity, fraud prevention and financial crime.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Liminal's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platform combines proprietary "Living Graph" autonomous AI agents and human analyst verification to deliver continuously updated competitive and market intelligence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New York, NY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$150M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Adding a next-gen intelligence platform continuously updated with proprietary data and analyst research, would position the pro forma business as a micro Bloomberg tailored for financial crime professionals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33861"/>
                  </a:ext>
                </a:extLst>
              </a:tr>
              <a:tr h="1115465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Independent financial services research and advisory firm providing subscription-based market intelligence, proprietary research, benchmarking, and advisory to financial services companies. Datos Insights' coverage spans fraud, financial crime , digital banking, payments, and capital markets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Boston, MA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10%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Accelerates ACAMS into a diversified, high-value financial information services business by expanding ACAMS beyond AML into broader financial services research, in turn increasing its addressable market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390749"/>
                  </a:ext>
                </a:extLst>
              </a:tr>
              <a:tr h="111868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Regulatgory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intelligence platform that provides subscription based regulatory content, policy management, risk analytics, and compliance intelligence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Dublin, Ire,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$30M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25%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$200M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000000"/>
                          </a:solidFill>
                        </a:rPr>
                        <a:t>John Byrne,</a:t>
                      </a:r>
                    </a:p>
                    <a:p>
                      <a:pPr algn="l"/>
                      <a:r>
                        <a:rPr lang="en-US" sz="800" b="0" i="0" dirty="0">
                          <a:solidFill>
                            <a:srgbClr val="000000"/>
                          </a:solidFill>
                        </a:rPr>
                        <a:t>Founder</a:t>
                      </a:r>
                    </a:p>
                    <a:p>
                      <a:pPr algn="l"/>
                      <a:r>
                        <a:rPr lang="en-US" sz="800" b="1" i="0" dirty="0">
                          <a:solidFill>
                            <a:srgbClr val="000000"/>
                          </a:solidFill>
                        </a:rPr>
                        <a:t>Mairead McCabe,</a:t>
                      </a:r>
                      <a:br>
                        <a:rPr lang="en-US" sz="800" b="0" i="0" dirty="0">
                          <a:solidFill>
                            <a:srgbClr val="000000"/>
                          </a:solidFill>
                        </a:rPr>
                      </a:br>
                      <a:r>
                        <a:rPr lang="en-US" sz="800" b="0" i="0" dirty="0">
                          <a:solidFill>
                            <a:srgbClr val="000000"/>
                          </a:solidFill>
                        </a:rPr>
                        <a:t>Head of Operations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Adds proprietary regulatory intelligence and regulatory content subscriptions, expanding ACAMS into broader regulatory intelligence. Synergies with ACAMS' core customer base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064346"/>
                  </a:ext>
                </a:extLst>
              </a:tr>
              <a:tr h="990832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B2B FinTech intelligence company that provides subscription research, proprietary market data, benchmarking, and news covering the global FinTech and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industries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London, UK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$20M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Creates a premier financial crime and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intelligence platform by combining ACAMS' AML expertise, with FinTech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Global's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proprietary research, market data, and rankings. Accelerates cross-selling across a highly complementary customer base. Diversifies recurring revenue through subscription intelligence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99492"/>
                  </a:ext>
                </a:extLst>
              </a:tr>
              <a:tr h="619703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54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Financial services market intelligence and data analytics company that provides subscription-based research, benchmarking, and proprietary survey data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London, UK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$25M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30%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Transforms ACAMS into a broader financial services intelligence platform. Deepens relationships with global financial institutions through highly complementary research and benchmarking. Accelerates recurring subscription revenue and proprietary data capabilities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83331"/>
                  </a:ext>
                </a:extLst>
              </a:tr>
            </a:tbl>
          </a:graphicData>
        </a:graphic>
      </p:graphicFrame>
      <p:pic>
        <p:nvPicPr>
          <p:cNvPr id="8" name="Logo 27">
            <a:extLst>
              <a:ext uri="{FF2B5EF4-FFF2-40B4-BE49-F238E27FC236}">
                <a16:creationId xmlns:a16="http://schemas.microsoft.com/office/drawing/2014/main" id="{389CC5E9-FFEA-C8EC-FE59-20B48E98264A}"/>
              </a:ext>
            </a:extLst>
          </p:cNvPr>
          <p:cNvPicPr>
            <a:picLocks noChangeAspect="1"/>
          </p:cNvPicPr>
          <p:nvPr/>
        </p:nvPicPr>
        <p:blipFill dpi="330">
          <a:blip r:embed="rId2"/>
          <a:stretch>
            <a:fillRect/>
          </a:stretch>
        </p:blipFill>
        <p:spPr>
          <a:xfrm>
            <a:off x="668863" y="4977770"/>
            <a:ext cx="532729" cy="170474"/>
          </a:xfrm>
          <a:prstGeom prst="rect">
            <a:avLst/>
          </a:prstGeom>
        </p:spPr>
      </p:pic>
      <p:pic>
        <p:nvPicPr>
          <p:cNvPr id="9" name="Logo 28">
            <a:extLst>
              <a:ext uri="{FF2B5EF4-FFF2-40B4-BE49-F238E27FC236}">
                <a16:creationId xmlns:a16="http://schemas.microsoft.com/office/drawing/2014/main" id="{F4A219DA-3D7D-53A2-C5ED-A91E8112D3BE}"/>
              </a:ext>
            </a:extLst>
          </p:cNvPr>
          <p:cNvPicPr>
            <a:picLocks noChangeAspect="1"/>
          </p:cNvPicPr>
          <p:nvPr/>
        </p:nvPicPr>
        <p:blipFill dpi="330">
          <a:blip r:embed="rId3"/>
          <a:stretch>
            <a:fillRect/>
          </a:stretch>
        </p:blipFill>
        <p:spPr>
          <a:xfrm>
            <a:off x="617731" y="5945233"/>
            <a:ext cx="634992" cy="100011"/>
          </a:xfrm>
          <a:prstGeom prst="rect">
            <a:avLst/>
          </a:prstGeom>
        </p:spPr>
      </p:pic>
      <p:pic>
        <p:nvPicPr>
          <p:cNvPr id="10" name="Logo 29">
            <a:extLst>
              <a:ext uri="{FF2B5EF4-FFF2-40B4-BE49-F238E27FC236}">
                <a16:creationId xmlns:a16="http://schemas.microsoft.com/office/drawing/2014/main" id="{4C4A8080-92D5-241C-3BC3-4C805BEBA9E2}"/>
              </a:ext>
            </a:extLst>
          </p:cNvPr>
          <p:cNvPicPr>
            <a:picLocks noChangeAspect="1"/>
          </p:cNvPicPr>
          <p:nvPr/>
        </p:nvPicPr>
        <p:blipFill dpi="330">
          <a:blip r:embed="rId4"/>
          <a:stretch>
            <a:fillRect/>
          </a:stretch>
        </p:blipFill>
        <p:spPr>
          <a:xfrm>
            <a:off x="673667" y="1753885"/>
            <a:ext cx="523120" cy="244794"/>
          </a:xfrm>
          <a:prstGeom prst="rect">
            <a:avLst/>
          </a:prstGeom>
        </p:spPr>
      </p:pic>
      <p:pic>
        <p:nvPicPr>
          <p:cNvPr id="11" name="Logo 30">
            <a:extLst>
              <a:ext uri="{FF2B5EF4-FFF2-40B4-BE49-F238E27FC236}">
                <a16:creationId xmlns:a16="http://schemas.microsoft.com/office/drawing/2014/main" id="{81415931-A564-DDA5-BD41-639477794C06}"/>
              </a:ext>
            </a:extLst>
          </p:cNvPr>
          <p:cNvPicPr>
            <a:picLocks noChangeAspect="1"/>
          </p:cNvPicPr>
          <p:nvPr/>
        </p:nvPicPr>
        <p:blipFill dpi="330">
          <a:blip r:embed="rId5"/>
          <a:stretch>
            <a:fillRect/>
          </a:stretch>
        </p:blipFill>
        <p:spPr>
          <a:xfrm>
            <a:off x="662349" y="2795667"/>
            <a:ext cx="545757" cy="242862"/>
          </a:xfrm>
          <a:prstGeom prst="rect">
            <a:avLst/>
          </a:prstGeom>
        </p:spPr>
      </p:pic>
      <p:pic>
        <p:nvPicPr>
          <p:cNvPr id="12" name="Logo 31">
            <a:extLst>
              <a:ext uri="{FF2B5EF4-FFF2-40B4-BE49-F238E27FC236}">
                <a16:creationId xmlns:a16="http://schemas.microsoft.com/office/drawing/2014/main" id="{68CA5AAC-D829-A55A-9911-063865337386}"/>
              </a:ext>
            </a:extLst>
          </p:cNvPr>
          <p:cNvPicPr>
            <a:picLocks noChangeAspect="1"/>
          </p:cNvPicPr>
          <p:nvPr/>
        </p:nvPicPr>
        <p:blipFill dpi="330">
          <a:blip r:embed="rId6"/>
          <a:stretch>
            <a:fillRect/>
          </a:stretch>
        </p:blipFill>
        <p:spPr>
          <a:xfrm>
            <a:off x="715181" y="3835517"/>
            <a:ext cx="440092" cy="34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96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4C88C-0768-B18F-DE14-1B09DDB8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A41100-294F-43FF-76AF-7E0F5E7C7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String of Pearls Acquisition Targets (these will be $50M max EV range)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AECDD4-C420-CD6D-A901-C15029F47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613741"/>
              </p:ext>
            </p:extLst>
          </p:nvPr>
        </p:nvGraphicFramePr>
        <p:xfrm>
          <a:off x="542499" y="970391"/>
          <a:ext cx="10964456" cy="55745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436">
                  <a:extLst>
                    <a:ext uri="{9D8B030D-6E8A-4147-A177-3AD203B41FA5}">
                      <a16:colId xmlns:a16="http://schemas.microsoft.com/office/drawing/2014/main" val="3795834175"/>
                    </a:ext>
                  </a:extLst>
                </a:gridCol>
                <a:gridCol w="2938621">
                  <a:extLst>
                    <a:ext uri="{9D8B030D-6E8A-4147-A177-3AD203B41FA5}">
                      <a16:colId xmlns:a16="http://schemas.microsoft.com/office/drawing/2014/main" val="785953327"/>
                    </a:ext>
                  </a:extLst>
                </a:gridCol>
                <a:gridCol w="995882">
                  <a:extLst>
                    <a:ext uri="{9D8B030D-6E8A-4147-A177-3AD203B41FA5}">
                      <a16:colId xmlns:a16="http://schemas.microsoft.com/office/drawing/2014/main" val="1799919112"/>
                    </a:ext>
                  </a:extLst>
                </a:gridCol>
                <a:gridCol w="1738265">
                  <a:extLst>
                    <a:ext uri="{9D8B030D-6E8A-4147-A177-3AD203B41FA5}">
                      <a16:colId xmlns:a16="http://schemas.microsoft.com/office/drawing/2014/main" val="2819438071"/>
                    </a:ext>
                  </a:extLst>
                </a:gridCol>
                <a:gridCol w="1140737">
                  <a:extLst>
                    <a:ext uri="{9D8B030D-6E8A-4147-A177-3AD203B41FA5}">
                      <a16:colId xmlns:a16="http://schemas.microsoft.com/office/drawing/2014/main" val="462462545"/>
                    </a:ext>
                  </a:extLst>
                </a:gridCol>
                <a:gridCol w="3304515">
                  <a:extLst>
                    <a:ext uri="{9D8B030D-6E8A-4147-A177-3AD203B41FA5}">
                      <a16:colId xmlns:a16="http://schemas.microsoft.com/office/drawing/2014/main" val="2443251356"/>
                    </a:ext>
                  </a:extLst>
                </a:gridCol>
              </a:tblGrid>
              <a:tr h="454449">
                <a:tc>
                  <a:txBody>
                    <a:bodyPr/>
                    <a:lstStyle/>
                    <a:p>
                      <a:r>
                        <a:rPr lang="en-US" sz="800" dirty="0"/>
                        <a:t>Company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Business Summary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/>
                        <a:t>HQ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Financials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Key Contacts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1824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Strategic Rationale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1824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973280"/>
                  </a:ext>
                </a:extLst>
              </a:tr>
              <a:tr h="95021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Subscrption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-based financial crime intelligence company that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delievrs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premium news, regulatory analysis, and executive insights focused on AML, sanctions, and financial crime compliance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Dublin, Ire.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$8M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Monetizes ACAMS's global installed base through premium intelligence subscriptions by cross-selling AML intelligence's enterprise news and regulatory analysis to ACAMS'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intitutionsal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customers. Accelerates ACAMS's European growth by adding AML Intelligence's established brand in Europe and relationships with EU regulators 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6133861"/>
                  </a:ext>
                </a:extLst>
              </a:tr>
              <a:tr h="1115465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 Subscription-based regulatory intelligence, research, and news focused on APAC financial services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Singapore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$8M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75%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Builds a recurring regulatory content subscription business with leadership in Asia-Pacific. Establishes cross-selling opportunities by selling premium APAC intelligence subscriptions to existing ACAMS enterprise customers and selling certifications and training to Regulation Asia subscribers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390749"/>
                  </a:ext>
                </a:extLst>
              </a:tr>
              <a:tr h="1118681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Subscription-based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and regulatory intelligence company that provides country specific AML risk data, jurisdictional risk scoring, and compliance research used by financial institutions, regulators, and governments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St. Helier, NJ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$6M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$40M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800" b="0" i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Subscription-based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RegTech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and regulatory intelligence company that provides country specific AML risk data, jurisdictional risk scoring, and compliance research used by financial institutions, regulators, and governments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064346"/>
                  </a:ext>
                </a:extLst>
              </a:tr>
              <a:tr h="990832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Financial crime intelligence company that helps organizations identify, assess, and manage AML, sanctions, and fraud activity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Stockholm, Swe.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$6M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50%</a:t>
                      </a: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$40M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000000"/>
                          </a:solidFill>
                        </a:rPr>
                        <a:t>Andrea </a:t>
                      </a:r>
                      <a:r>
                        <a:rPr lang="en-US" sz="800" b="1" i="0" dirty="0" err="1">
                          <a:solidFill>
                            <a:srgbClr val="000000"/>
                          </a:solidFill>
                        </a:rPr>
                        <a:t>Sadlund</a:t>
                      </a:r>
                      <a:r>
                        <a:rPr lang="en-US" sz="800" b="1" i="0" dirty="0">
                          <a:solidFill>
                            <a:srgbClr val="000000"/>
                          </a:solidFill>
                        </a:rPr>
                        <a:t>,</a:t>
                      </a:r>
                    </a:p>
                    <a:p>
                      <a:pPr algn="l"/>
                      <a:r>
                        <a:rPr lang="en-US" sz="800" b="0" i="0" dirty="0">
                          <a:solidFill>
                            <a:srgbClr val="000000"/>
                          </a:solidFill>
                        </a:rPr>
                        <a:t>Co-Founder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Expands ACAMS into enterprise AML risk assessment software, positioning the business towards an integrated financial crime operating platform by combining ACAMS' certifications, training, and regulatory content with </a:t>
                      </a:r>
                      <a:r>
                        <a:rPr lang="en-US" sz="800" dirty="0" err="1">
                          <a:solidFill>
                            <a:srgbClr val="000000"/>
                          </a:solidFill>
                        </a:rPr>
                        <a:t>Acuminor's</a:t>
                      </a: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  financial crime intelligence and enterprise risk assessment platform </a:t>
                      </a:r>
                      <a:endParaRPr lang="en-US" sz="800" b="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099492"/>
                  </a:ext>
                </a:extLst>
              </a:tr>
              <a:tr h="619703">
                <a:tc>
                  <a:txBody>
                    <a:bodyPr/>
                    <a:lstStyle/>
                    <a:p>
                      <a:pPr algn="l"/>
                      <a:endParaRPr lang="en-US" sz="800" dirty="0"/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6541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Digital asset market intelligence platform that combines on-chain data, exchange flows, and behavioral analytics into a unified subscription platform. Customers use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Santiment's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 dashboards, alerts, and proprietary indicators to generate investment insights and monitor digital asset markets. The business focuses on reducing information asymmetry in digital assets through proprietary data and research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Zurich, </a:t>
                      </a:r>
                      <a:r>
                        <a:rPr lang="en-US" sz="800" b="0" dirty="0" err="1">
                          <a:solidFill>
                            <a:srgbClr val="000000"/>
                          </a:solidFill>
                        </a:rPr>
                        <a:t>Swz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$10M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Revenue Growth: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800" b="1" dirty="0">
                        <a:solidFill>
                          <a:srgbClr val="000000"/>
                        </a:solidFill>
                      </a:endParaRPr>
                    </a:p>
                    <a:p>
                      <a:pPr algn="l"/>
                      <a:r>
                        <a:rPr lang="en-US" sz="800" b="1" dirty="0">
                          <a:solidFill>
                            <a:srgbClr val="000000"/>
                          </a:solidFill>
                        </a:rPr>
                        <a:t>Enterprise Value: </a:t>
                      </a:r>
                      <a:r>
                        <a:rPr lang="en-US" sz="800" b="0" dirty="0">
                          <a:solidFill>
                            <a:srgbClr val="000000"/>
                          </a:solidFill>
                        </a:rPr>
                        <a:t>$50M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i="0" dirty="0">
                          <a:solidFill>
                            <a:srgbClr val="000000"/>
                          </a:solidFill>
                        </a:rPr>
                        <a:t>Maksim </a:t>
                      </a:r>
                      <a:r>
                        <a:rPr lang="en-US" sz="800" b="1" i="0" dirty="0" err="1">
                          <a:solidFill>
                            <a:srgbClr val="000000"/>
                          </a:solidFill>
                        </a:rPr>
                        <a:t>Balashevich</a:t>
                      </a:r>
                      <a:r>
                        <a:rPr lang="en-US" sz="800" b="1" i="0" dirty="0">
                          <a:solidFill>
                            <a:srgbClr val="000000"/>
                          </a:solidFill>
                        </a:rPr>
                        <a:t>,</a:t>
                      </a:r>
                    </a:p>
                    <a:p>
                      <a:pPr algn="l"/>
                      <a:r>
                        <a:rPr lang="en-US" sz="800" b="0" i="0" dirty="0">
                          <a:solidFill>
                            <a:srgbClr val="000000"/>
                          </a:solidFill>
                        </a:rPr>
                        <a:t>Founder &amp; CEO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</a:rPr>
                        <a:t>Adds a unique digital asset market intelligence solution, combining ACAMS' financial crime expertise with digital asset investment and market intelligence </a:t>
                      </a:r>
                    </a:p>
                  </a:txBody>
                  <a:tcPr anchor="ctr">
                    <a:lnT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983331"/>
                  </a:ext>
                </a:extLst>
              </a:tr>
            </a:tbl>
          </a:graphicData>
        </a:graphic>
      </p:graphicFrame>
      <p:pic>
        <p:nvPicPr>
          <p:cNvPr id="6" name="Logo 32" descr="Intelligence&#10;&#10;AI-generated content may be incorrect.">
            <a:extLst>
              <a:ext uri="{FF2B5EF4-FFF2-40B4-BE49-F238E27FC236}">
                <a16:creationId xmlns:a16="http://schemas.microsoft.com/office/drawing/2014/main" id="{7B7D89EC-877F-6884-73BD-90BE3CC0149E}"/>
              </a:ext>
            </a:extLst>
          </p:cNvPr>
          <p:cNvPicPr>
            <a:picLocks noChangeAspect="1"/>
          </p:cNvPicPr>
          <p:nvPr/>
        </p:nvPicPr>
        <p:blipFill dpi="330">
          <a:blip r:embed="rId2"/>
          <a:stretch>
            <a:fillRect/>
          </a:stretch>
        </p:blipFill>
        <p:spPr>
          <a:xfrm>
            <a:off x="825025" y="1757501"/>
            <a:ext cx="402068" cy="254309"/>
          </a:xfrm>
          <a:prstGeom prst="rect">
            <a:avLst/>
          </a:prstGeom>
        </p:spPr>
      </p:pic>
      <p:pic>
        <p:nvPicPr>
          <p:cNvPr id="8" name="Logo 33" descr="Regulation Asia&#10;&#10;AI-generated content may be incorrect.">
            <a:extLst>
              <a:ext uri="{FF2B5EF4-FFF2-40B4-BE49-F238E27FC236}">
                <a16:creationId xmlns:a16="http://schemas.microsoft.com/office/drawing/2014/main" id="{2ECB63AF-1CD9-0BE6-12DB-0C3ABE85E8A4}"/>
              </a:ext>
            </a:extLst>
          </p:cNvPr>
          <p:cNvPicPr>
            <a:picLocks noChangeAspect="1"/>
          </p:cNvPicPr>
          <p:nvPr/>
        </p:nvPicPr>
        <p:blipFill dpi="330">
          <a:blip r:embed="rId3"/>
          <a:stretch>
            <a:fillRect/>
          </a:stretch>
        </p:blipFill>
        <p:spPr>
          <a:xfrm>
            <a:off x="582971" y="2863727"/>
            <a:ext cx="820911" cy="133398"/>
          </a:xfrm>
          <a:prstGeom prst="rect">
            <a:avLst/>
          </a:prstGeom>
        </p:spPr>
      </p:pic>
      <p:pic>
        <p:nvPicPr>
          <p:cNvPr id="10" name="Logo 34" descr="The image depicts the logo of ACUMINOR, featuring a distinct geometric shape.&#10;&#10;AI-generated content may be incorrect.">
            <a:extLst>
              <a:ext uri="{FF2B5EF4-FFF2-40B4-BE49-F238E27FC236}">
                <a16:creationId xmlns:a16="http://schemas.microsoft.com/office/drawing/2014/main" id="{12644737-CB49-FA12-8538-F29B49F07C14}"/>
              </a:ext>
            </a:extLst>
          </p:cNvPr>
          <p:cNvPicPr>
            <a:picLocks noChangeAspect="1"/>
          </p:cNvPicPr>
          <p:nvPr/>
        </p:nvPicPr>
        <p:blipFill dpi="330">
          <a:blip r:embed="rId4"/>
          <a:stretch>
            <a:fillRect/>
          </a:stretch>
        </p:blipFill>
        <p:spPr>
          <a:xfrm>
            <a:off x="809341" y="4980819"/>
            <a:ext cx="417029" cy="253197"/>
          </a:xfrm>
          <a:prstGeom prst="rect">
            <a:avLst/>
          </a:prstGeom>
        </p:spPr>
      </p:pic>
      <p:pic>
        <p:nvPicPr>
          <p:cNvPr id="12" name="Logo 35" descr="KNOW YOUR COUNTRY&#10;&#10;AI-generated content may be incorrect.">
            <a:extLst>
              <a:ext uri="{FF2B5EF4-FFF2-40B4-BE49-F238E27FC236}">
                <a16:creationId xmlns:a16="http://schemas.microsoft.com/office/drawing/2014/main" id="{CC20D9F1-378B-5309-7E02-443371B3CF44}"/>
              </a:ext>
            </a:extLst>
          </p:cNvPr>
          <p:cNvPicPr>
            <a:picLocks noChangeAspect="1"/>
          </p:cNvPicPr>
          <p:nvPr/>
        </p:nvPicPr>
        <p:blipFill dpi="330">
          <a:blip r:embed="rId5"/>
          <a:stretch>
            <a:fillRect/>
          </a:stretch>
        </p:blipFill>
        <p:spPr>
          <a:xfrm>
            <a:off x="795629" y="3898076"/>
            <a:ext cx="444453" cy="251116"/>
          </a:xfrm>
          <a:prstGeom prst="rect">
            <a:avLst/>
          </a:prstGeom>
        </p:spPr>
      </p:pic>
      <p:pic>
        <p:nvPicPr>
          <p:cNvPr id="14" name="Logo 36" descr="Santiment&#10;&#10;AI-generated content may be incorrect.">
            <a:extLst>
              <a:ext uri="{FF2B5EF4-FFF2-40B4-BE49-F238E27FC236}">
                <a16:creationId xmlns:a16="http://schemas.microsoft.com/office/drawing/2014/main" id="{51DE1DE3-EBCC-E134-90CC-7F9C32F23380}"/>
              </a:ext>
            </a:extLst>
          </p:cNvPr>
          <p:cNvPicPr>
            <a:picLocks noChangeAspect="1"/>
          </p:cNvPicPr>
          <p:nvPr/>
        </p:nvPicPr>
        <p:blipFill dpi="330">
          <a:blip r:embed="rId6"/>
          <a:stretch>
            <a:fillRect/>
          </a:stretch>
        </p:blipFill>
        <p:spPr>
          <a:xfrm>
            <a:off x="597040" y="5973670"/>
            <a:ext cx="792771" cy="15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79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Arrow: Pentagon 80">
            <a:extLst>
              <a:ext uri="{FF2B5EF4-FFF2-40B4-BE49-F238E27FC236}">
                <a16:creationId xmlns:a16="http://schemas.microsoft.com/office/drawing/2014/main" id="{D750E0C2-106C-0DB1-C213-5858E7561B28}"/>
              </a:ext>
            </a:extLst>
          </p:cNvPr>
          <p:cNvSpPr/>
          <p:nvPr/>
        </p:nvSpPr>
        <p:spPr>
          <a:xfrm>
            <a:off x="8031387" y="2373647"/>
            <a:ext cx="3811363" cy="363651"/>
          </a:xfrm>
          <a:prstGeom prst="homePlate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900" dirty="0" err="1">
              <a:solidFill>
                <a:schemeClr val="tx1"/>
              </a:solidFill>
            </a:endParaRPr>
          </a:p>
        </p:txBody>
      </p:sp>
      <p:graphicFrame>
        <p:nvGraphicFramePr>
          <p:cNvPr id="65" name="Table 7">
            <a:extLst>
              <a:ext uri="{FF2B5EF4-FFF2-40B4-BE49-F238E27FC236}">
                <a16:creationId xmlns:a16="http://schemas.microsoft.com/office/drawing/2014/main" id="{E7865890-7B56-00EB-75F1-7A8B7E0941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1601832"/>
              </p:ext>
            </p:extLst>
          </p:nvPr>
        </p:nvGraphicFramePr>
        <p:xfrm>
          <a:off x="334305" y="2792526"/>
          <a:ext cx="5387979" cy="341376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795993">
                  <a:extLst>
                    <a:ext uri="{9D8B030D-6E8A-4147-A177-3AD203B41FA5}">
                      <a16:colId xmlns:a16="http://schemas.microsoft.com/office/drawing/2014/main" val="30039273"/>
                    </a:ext>
                  </a:extLst>
                </a:gridCol>
                <a:gridCol w="1795993">
                  <a:extLst>
                    <a:ext uri="{9D8B030D-6E8A-4147-A177-3AD203B41FA5}">
                      <a16:colId xmlns:a16="http://schemas.microsoft.com/office/drawing/2014/main" val="21871704"/>
                    </a:ext>
                  </a:extLst>
                </a:gridCol>
                <a:gridCol w="1795993">
                  <a:extLst>
                    <a:ext uri="{9D8B030D-6E8A-4147-A177-3AD203B41FA5}">
                      <a16:colId xmlns:a16="http://schemas.microsoft.com/office/drawing/2014/main" val="36506309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2026E ARR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$40M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$45M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489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25A-26E ARR Growth Rate</a:t>
                      </a:r>
                      <a:endParaRPr kumimoji="0" lang="fr-FR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~14%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~25%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0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2025A FTEs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~190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~200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89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Services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~30% of total ARR (1)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Minimal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52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~$16M burn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Roughly breakeven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8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Net Retention | Gross Retention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~95% | ~75%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Best-in-class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4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Customer Concentration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Santander &amp; Credit Agricole comprise ~50% of ARR(1)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Diversified across 150+ FI clients,           including Tier 1 Banks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956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Geographic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Revenue primarily driven by customers based in Europe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Strength in Europe with expansion into the Americas and APAC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270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Product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Transaction Monitoring drives</a:t>
                      </a: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70%+ of revenue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Broadly Diversified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799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Development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solutions (Ray) newly implemented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Differentiated AI capabilities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 through Continuum platform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9606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Summary of Current Business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Robust Transaction Monitoring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with expanding solutions and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emerging AI applications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AI-native FCC workflow platform,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with differentiated capabilities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6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Illustrative</a:t>
                      </a:r>
                      <a:b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Comparable Companies 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1038630"/>
                  </a:ext>
                </a:extLst>
              </a:tr>
            </a:tbl>
          </a:graphicData>
        </a:graphic>
      </p:graphicFrame>
      <p:graphicFrame>
        <p:nvGraphicFramePr>
          <p:cNvPr id="67" name="Table 7">
            <a:extLst>
              <a:ext uri="{FF2B5EF4-FFF2-40B4-BE49-F238E27FC236}">
                <a16:creationId xmlns:a16="http://schemas.microsoft.com/office/drawing/2014/main" id="{17A3A24A-6EAE-0938-92A2-C1A2B56AAC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815192"/>
              </p:ext>
            </p:extLst>
          </p:nvPr>
        </p:nvGraphicFramePr>
        <p:xfrm>
          <a:off x="6253410" y="2792526"/>
          <a:ext cx="5387205" cy="3413760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1795993">
                  <a:extLst>
                    <a:ext uri="{9D8B030D-6E8A-4147-A177-3AD203B41FA5}">
                      <a16:colId xmlns:a16="http://schemas.microsoft.com/office/drawing/2014/main" val="30039273"/>
                    </a:ext>
                  </a:extLst>
                </a:gridCol>
                <a:gridCol w="3591212">
                  <a:extLst>
                    <a:ext uri="{9D8B030D-6E8A-4147-A177-3AD203B41FA5}">
                      <a16:colId xmlns:a16="http://schemas.microsoft.com/office/drawing/2014/main" val="218717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2026E ARR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$140M+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2489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25A-26E ARR Growth Rate</a:t>
                      </a:r>
                      <a:endParaRPr kumimoji="0" lang="fr-FR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~30%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0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2025A FTEs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~400+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6089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~15% of total ARR (1)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0521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Cash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Cash flow positive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856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Net Retention | Gross Retention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115%+ | 95%+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404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Customer Concentration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Increased diversification across customer base,</a:t>
                      </a:r>
                      <a:b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geographies, and products 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49568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Geographic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2705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Product Concentration</a:t>
                      </a:r>
                      <a:endParaRPr kumimoji="0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97990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Development</a:t>
                      </a:r>
                      <a:endParaRPr kumimoji="0" lang="en-US" sz="800" b="1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AI embedded across</a:t>
                      </a:r>
                      <a:b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core workflows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9606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Summary of Current Business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Scaled, AI-driven, Financial Crime</a:t>
                      </a:r>
                      <a:b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Compliance platform with end-to-end capabilities</a:t>
                      </a:r>
                      <a:b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primed for premium valuation</a:t>
                      </a: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2068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Illustrative</a:t>
                      </a:r>
                      <a:b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</a:br>
                      <a:r>
                        <a:rPr kumimoji="0" 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DM Sans"/>
                        </a:rPr>
                        <a:t>Comparable Companies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DM San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41038630"/>
                  </a:ext>
                </a:extLst>
              </a:tr>
            </a:tbl>
          </a:graphicData>
        </a:graphic>
      </p:graphicFrame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588A5298-7913-550D-5CBC-AF7CC78B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305" y="1544195"/>
            <a:ext cx="5387979" cy="569387"/>
          </a:xfrm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900" dirty="0"/>
              <a:t>Amend terms of existing debt facility issued by HSBC (in-progress)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Execute strategic shift in strategy to enhance growth, expand margins and improve cash flow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Effectuate strategic combination with </a:t>
            </a:r>
            <a:r>
              <a:rPr lang="en-US" sz="900" dirty="0" err="1"/>
              <a:t>NapierAI</a:t>
            </a:r>
            <a:endParaRPr lang="en-US" sz="900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AE2B548F-FA68-E9CD-1846-9FAEF9E25C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305" y="1302160"/>
            <a:ext cx="5594400" cy="177484"/>
          </a:xfrm>
        </p:spPr>
        <p:txBody>
          <a:bodyPr/>
          <a:lstStyle/>
          <a:p>
            <a:r>
              <a:rPr lang="en-US"/>
              <a:t>Near-Term Focus Areas: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FE18F70F-B89D-CB23-6E16-9F9027425F3D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6249153" y="1544195"/>
            <a:ext cx="5387205" cy="569387"/>
          </a:xfrm>
        </p:spPr>
        <p:txBody>
          <a:bodyPr wrap="square">
            <a:spAutoFit/>
          </a:bodyPr>
          <a:lstStyle/>
          <a:p>
            <a:pPr lvl="1">
              <a:lnSpc>
                <a:spcPct val="100000"/>
              </a:lnSpc>
            </a:pPr>
            <a:r>
              <a:rPr lang="en-US" sz="900" dirty="0"/>
              <a:t>Build close relationships with key financial sponsors and strategics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Scale </a:t>
            </a:r>
            <a:r>
              <a:rPr lang="en-US" sz="900" dirty="0" err="1"/>
              <a:t>ThetaRay</a:t>
            </a:r>
            <a:r>
              <a:rPr lang="en-US" sz="900" dirty="0"/>
              <a:t> to $100M+ ARR with consistent profitability and free cash flow generation</a:t>
            </a:r>
          </a:p>
          <a:p>
            <a:pPr lvl="1">
              <a:lnSpc>
                <a:spcPct val="100000"/>
              </a:lnSpc>
            </a:pPr>
            <a:r>
              <a:rPr lang="en-US" sz="900" dirty="0"/>
              <a:t>Exit via sale at a premium valuation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5C567910-38A6-B067-8065-ECE19CF000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9153" y="1302160"/>
            <a:ext cx="5594400" cy="177484"/>
          </a:xfrm>
        </p:spPr>
        <p:txBody>
          <a:bodyPr/>
          <a:lstStyle/>
          <a:p>
            <a:r>
              <a:rPr lang="en-US"/>
              <a:t>Long-Term Focus Areas: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DC5F05-00FA-F0E2-4654-C77F542BB65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885F18-3567-FD1C-4467-98B3F29A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ACAMS Today vs ACAMS of the Future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39C8F2-6795-9998-47FA-631B434641C5}"/>
              </a:ext>
            </a:extLst>
          </p:cNvPr>
          <p:cNvSpPr txBox="1"/>
          <p:nvPr/>
        </p:nvSpPr>
        <p:spPr>
          <a:xfrm>
            <a:off x="13365470" y="1556792"/>
            <a:ext cx="5378940" cy="683587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pPr marL="274320" indent="-171450" algn="l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US" sz="950" dirty="0">
              <a:solidFill>
                <a:srgbClr val="000000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7211C65-D5D7-9618-2056-FBF011A92549}"/>
              </a:ext>
            </a:extLst>
          </p:cNvPr>
          <p:cNvGrpSpPr/>
          <p:nvPr/>
        </p:nvGrpSpPr>
        <p:grpSpPr>
          <a:xfrm>
            <a:off x="2371823" y="5938245"/>
            <a:ext cx="1515108" cy="200753"/>
            <a:chOff x="2331903" y="6034491"/>
            <a:chExt cx="1515108" cy="200753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95334EC4-08FA-76C3-E178-54A8BD97F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31903" y="6066393"/>
              <a:ext cx="408801" cy="136948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E7BE580B-884E-365D-A57A-9592B28513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1121" y="6034491"/>
              <a:ext cx="137515" cy="200753"/>
            </a:xfrm>
            <a:prstGeom prst="rect">
              <a:avLst/>
            </a:prstGeom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CF79FDF4-8177-BEC4-7126-BC9619CAD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14512" y="6084049"/>
              <a:ext cx="432499" cy="101637"/>
            </a:xfrm>
            <a:prstGeom prst="rect">
              <a:avLst/>
            </a:prstGeom>
          </p:spPr>
        </p:pic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C52944D7-08F5-E791-017E-0AF02A13A599}"/>
              </a:ext>
            </a:extLst>
          </p:cNvPr>
          <p:cNvGrpSpPr/>
          <p:nvPr/>
        </p:nvGrpSpPr>
        <p:grpSpPr>
          <a:xfrm>
            <a:off x="4191986" y="5992256"/>
            <a:ext cx="1601544" cy="92730"/>
            <a:chOff x="4179400" y="6088502"/>
            <a:chExt cx="1601544" cy="92730"/>
          </a:xfrm>
        </p:grpSpPr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8DA3F89C-EB2E-5028-45F2-8A94A51E4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79400" y="6094067"/>
              <a:ext cx="370914" cy="81601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22DE168D-281E-9E59-020C-A73C1DABB4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94715" y="6089430"/>
              <a:ext cx="370914" cy="90875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6BDAD9C-021B-01EC-AE39-4807F1CB7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10030" y="6088502"/>
              <a:ext cx="370914" cy="9273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F76519A7-F8F8-3869-7FAC-CF90E3FA62E3}"/>
              </a:ext>
            </a:extLst>
          </p:cNvPr>
          <p:cNvGrpSpPr/>
          <p:nvPr/>
        </p:nvGrpSpPr>
        <p:grpSpPr>
          <a:xfrm>
            <a:off x="8633618" y="5960107"/>
            <a:ext cx="2688542" cy="157029"/>
            <a:chOff x="8515826" y="6033886"/>
            <a:chExt cx="2688542" cy="157029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0B1CF78-8208-1D9E-4321-9E3FBCCE5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59537" y="6072219"/>
              <a:ext cx="544831" cy="80363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84C7104A-C3BD-C6A9-4FBD-A95A56EDF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37900" y="6034493"/>
              <a:ext cx="494649" cy="155814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495DC28-7AF1-8FEC-BC4E-5133F3CCAC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515826" y="6033886"/>
              <a:ext cx="795086" cy="157029"/>
            </a:xfrm>
            <a:prstGeom prst="rect">
              <a:avLst/>
            </a:prstGeom>
          </p:spPr>
        </p:pic>
      </p:grp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6AE665CF-00F4-3A48-9EB9-5B8AA092C484}"/>
              </a:ext>
            </a:extLst>
          </p:cNvPr>
          <p:cNvSpPr/>
          <p:nvPr/>
        </p:nvSpPr>
        <p:spPr>
          <a:xfrm>
            <a:off x="2134762" y="2373647"/>
            <a:ext cx="1890232" cy="363651"/>
          </a:xfrm>
          <a:prstGeom prst="homePlate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900" dirty="0" err="1">
              <a:solidFill>
                <a:schemeClr val="tx1"/>
              </a:solidFill>
            </a:endParaRPr>
          </a:p>
        </p:txBody>
      </p:sp>
      <p:sp>
        <p:nvSpPr>
          <p:cNvPr id="80" name="Arrow: Chevron 79">
            <a:extLst>
              <a:ext uri="{FF2B5EF4-FFF2-40B4-BE49-F238E27FC236}">
                <a16:creationId xmlns:a16="http://schemas.microsoft.com/office/drawing/2014/main" id="{9CD682B4-BEF3-1F77-4EC7-CB91F189952E}"/>
              </a:ext>
            </a:extLst>
          </p:cNvPr>
          <p:cNvSpPr/>
          <p:nvPr/>
        </p:nvSpPr>
        <p:spPr>
          <a:xfrm>
            <a:off x="4029643" y="2373647"/>
            <a:ext cx="1890232" cy="363651"/>
          </a:xfrm>
          <a:prstGeom prst="chevron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endParaRPr lang="en-US" sz="900" dirty="0" err="1">
              <a:solidFill>
                <a:schemeClr val="tx1"/>
              </a:solidFill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900B2880-FC06-52A4-C03C-74726CD765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8393" y="2490622"/>
            <a:ext cx="955939" cy="129701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2DF476E-6018-6772-CEDE-C38C566FCB20}"/>
              </a:ext>
            </a:extLst>
          </p:cNvPr>
          <p:cNvSpPr txBox="1"/>
          <p:nvPr/>
        </p:nvSpPr>
        <p:spPr>
          <a:xfrm>
            <a:off x="3321498" y="2419825"/>
            <a:ext cx="448841" cy="27129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SzPct val="100000"/>
            </a:pPr>
            <a:r>
              <a:rPr lang="en-US" sz="800" b="1" dirty="0" err="1"/>
              <a:t>ThetaRay</a:t>
            </a:r>
            <a:br>
              <a:rPr lang="en-US" sz="800" b="1" dirty="0"/>
            </a:br>
            <a:r>
              <a:rPr lang="en-US" sz="800" b="1" dirty="0"/>
              <a:t>Today 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F5215B63-D4AF-FC81-4EA4-542971CDDB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4116" y="2430570"/>
            <a:ext cx="543054" cy="249805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5C139B9-F8B6-4F32-79F9-89200781F3E9}"/>
              </a:ext>
            </a:extLst>
          </p:cNvPr>
          <p:cNvSpPr txBox="1"/>
          <p:nvPr/>
        </p:nvSpPr>
        <p:spPr>
          <a:xfrm>
            <a:off x="5107681" y="2419825"/>
            <a:ext cx="418384" cy="271293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SzPct val="100000"/>
            </a:pPr>
            <a:r>
              <a:rPr lang="en-US" sz="800" b="1" dirty="0" err="1"/>
              <a:t>NapierAI</a:t>
            </a:r>
            <a:br>
              <a:rPr lang="en-US" sz="800" b="1" dirty="0"/>
            </a:br>
            <a:r>
              <a:rPr lang="en-US" sz="800" b="1" dirty="0"/>
              <a:t>Today </a:t>
            </a: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ECBE13D-2304-D6DB-B686-FDB09CEFE872}"/>
              </a:ext>
            </a:extLst>
          </p:cNvPr>
          <p:cNvGrpSpPr/>
          <p:nvPr/>
        </p:nvGrpSpPr>
        <p:grpSpPr>
          <a:xfrm>
            <a:off x="8453321" y="2419825"/>
            <a:ext cx="2931428" cy="271293"/>
            <a:chOff x="8216716" y="2503069"/>
            <a:chExt cx="2931428" cy="271293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3939735F-F225-7B51-E07F-348BE80FD7E4}"/>
                </a:ext>
              </a:extLst>
            </p:cNvPr>
            <p:cNvGrpSpPr/>
            <p:nvPr/>
          </p:nvGrpSpPr>
          <p:grpSpPr>
            <a:xfrm>
              <a:off x="8216716" y="2524234"/>
              <a:ext cx="1886300" cy="249805"/>
              <a:chOff x="8216716" y="2524234"/>
              <a:chExt cx="1886300" cy="249805"/>
            </a:xfrm>
          </p:grpSpPr>
          <p:sp>
            <p:nvSpPr>
              <p:cNvPr id="51" name="Plus Sign 50">
                <a:extLst>
                  <a:ext uri="{FF2B5EF4-FFF2-40B4-BE49-F238E27FC236}">
                    <a16:creationId xmlns:a16="http://schemas.microsoft.com/office/drawing/2014/main" id="{F23848D5-D2D8-1CB6-584F-D46985534DFB}"/>
                  </a:ext>
                </a:extLst>
              </p:cNvPr>
              <p:cNvSpPr/>
              <p:nvPr/>
            </p:nvSpPr>
            <p:spPr>
              <a:xfrm>
                <a:off x="9278328" y="2561317"/>
                <a:ext cx="175962" cy="175638"/>
              </a:xfrm>
              <a:prstGeom prst="mathPlus">
                <a:avLst>
                  <a:gd name="adj1" fmla="val 4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>
                <a:extLst>
                  <a:ext uri="{FF2B5EF4-FFF2-40B4-BE49-F238E27FC236}">
                    <a16:creationId xmlns:a16="http://schemas.microsoft.com/office/drawing/2014/main" id="{59E250BB-FBF8-056A-3F29-008275EAE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16716" y="2584286"/>
                <a:ext cx="955939" cy="129701"/>
              </a:xfrm>
              <a:prstGeom prst="rect">
                <a:avLst/>
              </a:prstGeom>
            </p:spPr>
          </p:pic>
          <p:pic>
            <p:nvPicPr>
              <p:cNvPr id="86" name="Picture 85">
                <a:extLst>
                  <a:ext uri="{FF2B5EF4-FFF2-40B4-BE49-F238E27FC236}">
                    <a16:creationId xmlns:a16="http://schemas.microsoft.com/office/drawing/2014/main" id="{50630F56-C564-F57D-54A8-ADED0BD20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59962" y="2524234"/>
                <a:ext cx="543054" cy="249805"/>
              </a:xfrm>
              <a:prstGeom prst="rect">
                <a:avLst/>
              </a:prstGeom>
            </p:spPr>
          </p:pic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345E2C1-BE72-FC67-561D-697F2D90F4CF}"/>
                </a:ext>
              </a:extLst>
            </p:cNvPr>
            <p:cNvSpPr txBox="1"/>
            <p:nvPr/>
          </p:nvSpPr>
          <p:spPr>
            <a:xfrm>
              <a:off x="10575871" y="2503069"/>
              <a:ext cx="572273" cy="271293"/>
            </a:xfrm>
            <a:prstGeom prst="rect">
              <a:avLst/>
            </a:prstGeom>
          </p:spPr>
          <p:txBody>
            <a:bodyPr vert="horz" wrap="none" lIns="0" tIns="0" rIns="0" bIns="0" rtlCol="0" anchor="ctr">
              <a:spAutoFit/>
            </a:bodyPr>
            <a:lstStyle/>
            <a:p>
              <a:pPr algn="ctr">
                <a:lnSpc>
                  <a:spcPct val="114000"/>
                </a:lnSpc>
                <a:spcAft>
                  <a:spcPts val="600"/>
                </a:spcAft>
                <a:buSzPct val="100000"/>
              </a:pPr>
              <a:r>
                <a:rPr lang="en-US" sz="800" b="1" dirty="0" err="1"/>
                <a:t>ThetaRay</a:t>
              </a:r>
              <a:r>
                <a:rPr lang="en-US" sz="800" b="1" dirty="0"/>
                <a:t> of</a:t>
              </a:r>
              <a:br>
                <a:rPr lang="en-US" sz="800" b="1" dirty="0"/>
              </a:br>
              <a:r>
                <a:rPr lang="en-US" sz="800" b="1" dirty="0"/>
                <a:t>the Future</a:t>
              </a:r>
            </a:p>
          </p:txBody>
        </p:sp>
      </p:grpSp>
      <p:pic>
        <p:nvPicPr>
          <p:cNvPr id="94" name="Graphic 93" descr="Chevron arrows with solid fill">
            <a:extLst>
              <a:ext uri="{FF2B5EF4-FFF2-40B4-BE49-F238E27FC236}">
                <a16:creationId xmlns:a16="http://schemas.microsoft.com/office/drawing/2014/main" id="{492FA17F-68B5-0CEA-4887-B33D222164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55006" y="1262656"/>
            <a:ext cx="264869" cy="26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368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55ACA810-6E2C-954A-D4CB-7070044824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Established Category Leader</a:t>
            </a:r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06CBBB0-BF18-A1F9-17E1-11B5683962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52753" y="1302160"/>
            <a:ext cx="5590800" cy="177484"/>
          </a:xfrm>
        </p:spPr>
        <p:txBody>
          <a:bodyPr/>
          <a:lstStyle/>
          <a:p>
            <a:r>
              <a:rPr lang="en-US"/>
              <a:t>Pro Forma Revenue Summary ($M)</a:t>
            </a:r>
            <a:endParaRPr lang="en-US" dirty="0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7BD167C2-1270-B150-8876-947D795FFC2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Value Proposition</a:t>
            </a:r>
            <a:endParaRPr lang="en-US" dirty="0"/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FE51F54A-F1F3-7094-727A-E4780A5CF1E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Potential Buyer Universe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96E93B-E60A-B077-4E8D-CD1E058ECF5F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/>
              <a:t>Source: 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 </a:t>
            </a:r>
          </a:p>
          <a:p>
            <a:pPr marL="180000" indent="-180000">
              <a:buFont typeface="+mj-lt"/>
              <a:buAutoNum type="arabicPeriod"/>
            </a:pPr>
            <a:r>
              <a:rPr lang="en-US"/>
              <a:t>[xx]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A0DAD8-A5C9-D24D-902D-2631D49BD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 a Specialized Financial Information Services Platform, ACAMS Can Drive a Premium Valuation</a:t>
            </a:r>
          </a:p>
        </p:txBody>
      </p:sp>
      <p:grpSp>
        <p:nvGrpSpPr>
          <p:cNvPr id="55" name="Graphic 11">
            <a:extLst>
              <a:ext uri="{FF2B5EF4-FFF2-40B4-BE49-F238E27FC236}">
                <a16:creationId xmlns:a16="http://schemas.microsoft.com/office/drawing/2014/main" id="{E0ACB02F-48A3-B706-64BC-B218EA2B6F3F}"/>
              </a:ext>
            </a:extLst>
          </p:cNvPr>
          <p:cNvGrpSpPr/>
          <p:nvPr/>
        </p:nvGrpSpPr>
        <p:grpSpPr>
          <a:xfrm>
            <a:off x="368849" y="2687922"/>
            <a:ext cx="412526" cy="437385"/>
            <a:chOff x="8778448" y="2527299"/>
            <a:chExt cx="664378" cy="704413"/>
          </a:xfrm>
          <a:noFill/>
        </p:grpSpPr>
        <p:grpSp>
          <p:nvGrpSpPr>
            <p:cNvPr id="56" name="Graphic 11">
              <a:extLst>
                <a:ext uri="{FF2B5EF4-FFF2-40B4-BE49-F238E27FC236}">
                  <a16:creationId xmlns:a16="http://schemas.microsoft.com/office/drawing/2014/main" id="{DA0B1A1F-1694-8EC2-CAA5-ED9C345560C7}"/>
                </a:ext>
              </a:extLst>
            </p:cNvPr>
            <p:cNvGrpSpPr/>
            <p:nvPr/>
          </p:nvGrpSpPr>
          <p:grpSpPr>
            <a:xfrm>
              <a:off x="8778448" y="2527299"/>
              <a:ext cx="664378" cy="704413"/>
              <a:chOff x="8778448" y="2527299"/>
              <a:chExt cx="664378" cy="704413"/>
            </a:xfrm>
            <a:noFill/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65BE8899-7371-7003-432D-2350121D0CC6}"/>
                  </a:ext>
                </a:extLst>
              </p:cNvPr>
              <p:cNvSpPr/>
              <p:nvPr/>
            </p:nvSpPr>
            <p:spPr>
              <a:xfrm>
                <a:off x="8778448" y="2527299"/>
                <a:ext cx="664353" cy="245379"/>
              </a:xfrm>
              <a:prstGeom prst="ellipse">
                <a:avLst/>
              </a:pr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1" name="Free-form: Shape 16">
                <a:extLst>
                  <a:ext uri="{FF2B5EF4-FFF2-40B4-BE49-F238E27FC236}">
                    <a16:creationId xmlns:a16="http://schemas.microsoft.com/office/drawing/2014/main" id="{3CA2AC08-5F17-0A75-1973-37B63D0E7508}"/>
                  </a:ext>
                </a:extLst>
              </p:cNvPr>
              <p:cNvSpPr/>
              <p:nvPr/>
            </p:nvSpPr>
            <p:spPr>
              <a:xfrm>
                <a:off x="8778473" y="2649989"/>
                <a:ext cx="664353" cy="276204"/>
              </a:xfrm>
              <a:custGeom>
                <a:avLst/>
                <a:gdLst>
                  <a:gd name="csX0" fmla="*/ 0 w 664353"/>
                  <a:gd name="csY0" fmla="*/ 0 h 276204"/>
                  <a:gd name="csX1" fmla="*/ 0 w 664353"/>
                  <a:gd name="csY1" fmla="*/ 153515 h 276204"/>
                  <a:gd name="csX2" fmla="*/ 332177 w 664353"/>
                  <a:gd name="csY2" fmla="*/ 276205 h 276204"/>
                  <a:gd name="csX3" fmla="*/ 664354 w 664353"/>
                  <a:gd name="csY3" fmla="*/ 153515 h 276204"/>
                  <a:gd name="csX4" fmla="*/ 664354 w 664353"/>
                  <a:gd name="csY4" fmla="*/ 0 h 27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64353" h="276204">
                    <a:moveTo>
                      <a:pt x="0" y="0"/>
                    </a:moveTo>
                    <a:lnTo>
                      <a:pt x="0" y="153515"/>
                    </a:lnTo>
                    <a:cubicBezTo>
                      <a:pt x="0" y="221281"/>
                      <a:pt x="148714" y="276205"/>
                      <a:pt x="332177" y="276205"/>
                    </a:cubicBezTo>
                    <a:cubicBezTo>
                      <a:pt x="515639" y="276205"/>
                      <a:pt x="664354" y="221281"/>
                      <a:pt x="664354" y="153515"/>
                    </a:cubicBezTo>
                    <a:lnTo>
                      <a:pt x="664354" y="0"/>
                    </a:lnTo>
                  </a:path>
                </a:pathLst>
              </a:cu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2" name="Free-form: Shape 17">
                <a:extLst>
                  <a:ext uri="{FF2B5EF4-FFF2-40B4-BE49-F238E27FC236}">
                    <a16:creationId xmlns:a16="http://schemas.microsoft.com/office/drawing/2014/main" id="{0C81DB8B-8030-8820-29DF-094A0BD21298}"/>
                  </a:ext>
                </a:extLst>
              </p:cNvPr>
              <p:cNvSpPr/>
              <p:nvPr/>
            </p:nvSpPr>
            <p:spPr>
              <a:xfrm>
                <a:off x="8778473" y="2804747"/>
                <a:ext cx="664353" cy="276204"/>
              </a:xfrm>
              <a:custGeom>
                <a:avLst/>
                <a:gdLst>
                  <a:gd name="csX0" fmla="*/ 0 w 664353"/>
                  <a:gd name="csY0" fmla="*/ 0 h 276204"/>
                  <a:gd name="csX1" fmla="*/ 0 w 664353"/>
                  <a:gd name="csY1" fmla="*/ 153515 h 276204"/>
                  <a:gd name="csX2" fmla="*/ 332177 w 664353"/>
                  <a:gd name="csY2" fmla="*/ 276205 h 276204"/>
                  <a:gd name="csX3" fmla="*/ 664354 w 664353"/>
                  <a:gd name="csY3" fmla="*/ 153515 h 276204"/>
                  <a:gd name="csX4" fmla="*/ 664354 w 664353"/>
                  <a:gd name="csY4" fmla="*/ 0 h 27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64353" h="276204">
                    <a:moveTo>
                      <a:pt x="0" y="0"/>
                    </a:moveTo>
                    <a:lnTo>
                      <a:pt x="0" y="153515"/>
                    </a:lnTo>
                    <a:cubicBezTo>
                      <a:pt x="0" y="221281"/>
                      <a:pt x="148714" y="276205"/>
                      <a:pt x="332177" y="276205"/>
                    </a:cubicBezTo>
                    <a:cubicBezTo>
                      <a:pt x="515639" y="276205"/>
                      <a:pt x="664354" y="221281"/>
                      <a:pt x="664354" y="153515"/>
                    </a:cubicBezTo>
                    <a:lnTo>
                      <a:pt x="664354" y="0"/>
                    </a:lnTo>
                  </a:path>
                </a:pathLst>
              </a:cu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3" name="Free-form: Shape 18">
                <a:extLst>
                  <a:ext uri="{FF2B5EF4-FFF2-40B4-BE49-F238E27FC236}">
                    <a16:creationId xmlns:a16="http://schemas.microsoft.com/office/drawing/2014/main" id="{5C0B1836-0142-9E43-C3B0-BAEE09FFB54A}"/>
                  </a:ext>
                </a:extLst>
              </p:cNvPr>
              <p:cNvSpPr/>
              <p:nvPr/>
            </p:nvSpPr>
            <p:spPr>
              <a:xfrm>
                <a:off x="8778473" y="2955508"/>
                <a:ext cx="664353" cy="276204"/>
              </a:xfrm>
              <a:custGeom>
                <a:avLst/>
                <a:gdLst>
                  <a:gd name="csX0" fmla="*/ 0 w 664353"/>
                  <a:gd name="csY0" fmla="*/ 0 h 276204"/>
                  <a:gd name="csX1" fmla="*/ 0 w 664353"/>
                  <a:gd name="csY1" fmla="*/ 153515 h 276204"/>
                  <a:gd name="csX2" fmla="*/ 332177 w 664353"/>
                  <a:gd name="csY2" fmla="*/ 276205 h 276204"/>
                  <a:gd name="csX3" fmla="*/ 664354 w 664353"/>
                  <a:gd name="csY3" fmla="*/ 153515 h 276204"/>
                  <a:gd name="csX4" fmla="*/ 664354 w 664353"/>
                  <a:gd name="csY4" fmla="*/ 0 h 2762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664353" h="276204">
                    <a:moveTo>
                      <a:pt x="0" y="0"/>
                    </a:moveTo>
                    <a:lnTo>
                      <a:pt x="0" y="153515"/>
                    </a:lnTo>
                    <a:cubicBezTo>
                      <a:pt x="0" y="221281"/>
                      <a:pt x="148714" y="276205"/>
                      <a:pt x="332177" y="276205"/>
                    </a:cubicBezTo>
                    <a:cubicBezTo>
                      <a:pt x="515639" y="276205"/>
                      <a:pt x="664354" y="221281"/>
                      <a:pt x="664354" y="153515"/>
                    </a:cubicBezTo>
                    <a:lnTo>
                      <a:pt x="664354" y="0"/>
                    </a:lnTo>
                  </a:path>
                </a:pathLst>
              </a:custGeom>
              <a:noFill/>
              <a:ln w="25663" cap="rnd">
                <a:solidFill>
                  <a:schemeClr val="accent1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sp>
          <p:nvSpPr>
            <p:cNvPr id="57" name="Free-form: Shape 19">
              <a:extLst>
                <a:ext uri="{FF2B5EF4-FFF2-40B4-BE49-F238E27FC236}">
                  <a16:creationId xmlns:a16="http://schemas.microsoft.com/office/drawing/2014/main" id="{C326AE86-40CC-848C-E7E1-8F1890EE7F14}"/>
                </a:ext>
              </a:extLst>
            </p:cNvPr>
            <p:cNvSpPr/>
            <p:nvPr/>
          </p:nvSpPr>
          <p:spPr>
            <a:xfrm>
              <a:off x="8841414" y="2788104"/>
              <a:ext cx="2436" cy="19347"/>
            </a:xfrm>
            <a:custGeom>
              <a:avLst/>
              <a:gdLst>
                <a:gd name="csX0" fmla="*/ 0 w 2436"/>
                <a:gd name="csY0" fmla="*/ 0 h 19347"/>
                <a:gd name="csX1" fmla="*/ 0 w 2436"/>
                <a:gd name="csY1" fmla="*/ 19348 h 1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36" h="19347">
                  <a:moveTo>
                    <a:pt x="0" y="0"/>
                  </a:moveTo>
                  <a:lnTo>
                    <a:pt x="0" y="19348"/>
                  </a:lnTo>
                </a:path>
              </a:pathLst>
            </a:custGeom>
            <a:ln w="25663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8" name="Free-form: Shape 20">
              <a:extLst>
                <a:ext uri="{FF2B5EF4-FFF2-40B4-BE49-F238E27FC236}">
                  <a16:creationId xmlns:a16="http://schemas.microsoft.com/office/drawing/2014/main" id="{9DA097A8-ED4F-9007-DE0A-6F99079F30B5}"/>
                </a:ext>
              </a:extLst>
            </p:cNvPr>
            <p:cNvSpPr/>
            <p:nvPr/>
          </p:nvSpPr>
          <p:spPr>
            <a:xfrm>
              <a:off x="8841414" y="2942423"/>
              <a:ext cx="2436" cy="19347"/>
            </a:xfrm>
            <a:custGeom>
              <a:avLst/>
              <a:gdLst>
                <a:gd name="csX0" fmla="*/ 0 w 2436"/>
                <a:gd name="csY0" fmla="*/ 0 h 19347"/>
                <a:gd name="csX1" fmla="*/ 0 w 2436"/>
                <a:gd name="csY1" fmla="*/ 19348 h 1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36" h="19347">
                  <a:moveTo>
                    <a:pt x="0" y="0"/>
                  </a:moveTo>
                  <a:lnTo>
                    <a:pt x="0" y="19348"/>
                  </a:lnTo>
                </a:path>
              </a:pathLst>
            </a:custGeom>
            <a:ln w="25663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59" name="Free-form: Shape 21">
              <a:extLst>
                <a:ext uri="{FF2B5EF4-FFF2-40B4-BE49-F238E27FC236}">
                  <a16:creationId xmlns:a16="http://schemas.microsoft.com/office/drawing/2014/main" id="{6505379B-E506-AE8D-9379-86EE4BD03A4C}"/>
                </a:ext>
              </a:extLst>
            </p:cNvPr>
            <p:cNvSpPr/>
            <p:nvPr/>
          </p:nvSpPr>
          <p:spPr>
            <a:xfrm>
              <a:off x="8841414" y="3093623"/>
              <a:ext cx="2436" cy="19347"/>
            </a:xfrm>
            <a:custGeom>
              <a:avLst/>
              <a:gdLst>
                <a:gd name="csX0" fmla="*/ 0 w 2436"/>
                <a:gd name="csY0" fmla="*/ 0 h 19347"/>
                <a:gd name="csX1" fmla="*/ 0 w 2436"/>
                <a:gd name="csY1" fmla="*/ 19348 h 1934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436" h="19347">
                  <a:moveTo>
                    <a:pt x="0" y="0"/>
                  </a:moveTo>
                  <a:lnTo>
                    <a:pt x="0" y="19348"/>
                  </a:lnTo>
                </a:path>
              </a:pathLst>
            </a:custGeom>
            <a:ln w="25663" cap="rnd">
              <a:solidFill>
                <a:schemeClr val="accent1"/>
              </a:solidFill>
              <a:prstDash val="solid"/>
              <a:round/>
            </a:ln>
          </p:spPr>
          <p:txBody>
            <a:bodyPr/>
            <a:lstStyle/>
            <a:p>
              <a:endParaRPr lang="en-GB" dirty="0"/>
            </a:p>
          </p:txBody>
        </p:sp>
      </p:grpSp>
      <p:pic>
        <p:nvPicPr>
          <p:cNvPr id="64" name="Graphic 63">
            <a:extLst>
              <a:ext uri="{FF2B5EF4-FFF2-40B4-BE49-F238E27FC236}">
                <a16:creationId xmlns:a16="http://schemas.microsoft.com/office/drawing/2014/main" id="{A9A3C9D0-6ACB-433B-C67D-95BE29FA20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4305" y="1556911"/>
            <a:ext cx="519715" cy="497599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3A64CFD-043B-713E-9A53-11BA229FA107}"/>
              </a:ext>
            </a:extLst>
          </p:cNvPr>
          <p:cNvSpPr txBox="1"/>
          <p:nvPr/>
        </p:nvSpPr>
        <p:spPr>
          <a:xfrm>
            <a:off x="916159" y="1556911"/>
            <a:ext cx="2010433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6"/>
                </a:solidFill>
              </a:rPr>
              <a:t>AI-Native Financial Crime Platform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Unified platform for transaction monitoring, screening, investigations and compliance driven by explainable AI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E5A7CF-658A-D372-D641-8135F06F2E87}"/>
              </a:ext>
            </a:extLst>
          </p:cNvPr>
          <p:cNvSpPr txBox="1"/>
          <p:nvPr/>
        </p:nvSpPr>
        <p:spPr>
          <a:xfrm>
            <a:off x="916159" y="2645706"/>
            <a:ext cx="2102642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1"/>
                </a:solidFill>
              </a:rPr>
              <a:t>Embedded Regulatory Intelligence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Proprietary AI and regulatory automation improve detection, reduce false positives and accelerate investigations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E6904AF8-2403-D2CC-4322-0A66AB0C1D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8436" y="1544194"/>
            <a:ext cx="510869" cy="523033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48366EE0-8B0F-35F5-046F-2F60487BB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962" y="2645706"/>
            <a:ext cx="521816" cy="521816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41A99EFE-FEB5-FF81-CC19-2F9DD4E6343D}"/>
              </a:ext>
            </a:extLst>
          </p:cNvPr>
          <p:cNvSpPr txBox="1"/>
          <p:nvPr/>
        </p:nvSpPr>
        <p:spPr>
          <a:xfrm>
            <a:off x="3914672" y="1556911"/>
            <a:ext cx="2010433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1"/>
                </a:solidFill>
              </a:rPr>
              <a:t>End-to-End Compliance Platform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Single platform spanning onboarding, screening, transaction monitoring, investigations and regulatory reporting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57335D-FCCF-06A0-AB4A-F78DAB2F4A01}"/>
              </a:ext>
            </a:extLst>
          </p:cNvPr>
          <p:cNvSpPr txBox="1"/>
          <p:nvPr/>
        </p:nvSpPr>
        <p:spPr>
          <a:xfrm>
            <a:off x="3914672" y="2645706"/>
            <a:ext cx="2010433" cy="8513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b="1" dirty="0">
                <a:solidFill>
                  <a:schemeClr val="accent1"/>
                </a:solidFill>
              </a:rPr>
              <a:t>Scaled Enterprise Growth Platform</a:t>
            </a:r>
          </a:p>
          <a:p>
            <a:pPr>
              <a:lnSpc>
                <a:spcPct val="114000"/>
              </a:lnSpc>
              <a:spcAft>
                <a:spcPts val="200"/>
              </a:spcAft>
              <a:buSzPct val="100000"/>
            </a:pPr>
            <a:r>
              <a:rPr lang="en-US" sz="900" dirty="0"/>
              <a:t>Mission-critical software with durable recurring revenue and meaningful expansion opportunities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2BFA907-66D2-2FB6-F0AE-0F901185797F}"/>
              </a:ext>
            </a:extLst>
          </p:cNvPr>
          <p:cNvSpPr/>
          <p:nvPr/>
        </p:nvSpPr>
        <p:spPr>
          <a:xfrm>
            <a:off x="334305" y="5295039"/>
            <a:ext cx="2683001" cy="942248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0FCC33E-2C3A-4EE3-5E3B-F9BDD25538D8}"/>
              </a:ext>
            </a:extLst>
          </p:cNvPr>
          <p:cNvSpPr/>
          <p:nvPr/>
        </p:nvSpPr>
        <p:spPr>
          <a:xfrm>
            <a:off x="3242104" y="4167287"/>
            <a:ext cx="2683001" cy="860743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F3D5E74-4BAE-9541-C44F-DB689A7C4835}"/>
              </a:ext>
            </a:extLst>
          </p:cNvPr>
          <p:cNvSpPr/>
          <p:nvPr/>
        </p:nvSpPr>
        <p:spPr>
          <a:xfrm>
            <a:off x="334305" y="4167287"/>
            <a:ext cx="2683001" cy="860743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D5D6A76-6B3C-DF5E-E611-E5FA50424199}"/>
              </a:ext>
            </a:extLst>
          </p:cNvPr>
          <p:cNvSpPr/>
          <p:nvPr/>
        </p:nvSpPr>
        <p:spPr>
          <a:xfrm>
            <a:off x="3242104" y="5295039"/>
            <a:ext cx="2683001" cy="942248"/>
          </a:xfrm>
          <a:prstGeom prst="rect">
            <a:avLst/>
          </a:prstGeom>
          <a:solidFill>
            <a:schemeClr val="bg1"/>
          </a:solidFill>
          <a:ln w="6350">
            <a:solidFill>
              <a:srgbClr val="E4E4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endParaRPr lang="en-US" sz="900" dirty="0">
              <a:solidFill>
                <a:schemeClr val="tx1"/>
              </a:solidFill>
              <a:ea typeface="Gulim" panose="020B0600000101010101" pitchFamily="34" charset="-127"/>
            </a:endParaRPr>
          </a:p>
        </p:txBody>
      </p:sp>
      <p:graphicFrame>
        <p:nvGraphicFramePr>
          <p:cNvPr id="78" name="Chart 77">
            <a:extLst>
              <a:ext uri="{FF2B5EF4-FFF2-40B4-BE49-F238E27FC236}">
                <a16:creationId xmlns:a16="http://schemas.microsoft.com/office/drawing/2014/main" id="{ADC93B20-6A55-74C8-7BD9-D34DB87225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7231433"/>
              </p:ext>
            </p:extLst>
          </p:nvPr>
        </p:nvGraphicFramePr>
        <p:xfrm>
          <a:off x="6252753" y="1752601"/>
          <a:ext cx="5704541" cy="18615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E4EF0536-E7AB-4275-E6A5-9DDD80D8434F}"/>
              </a:ext>
            </a:extLst>
          </p:cNvPr>
          <p:cNvSpPr txBox="1"/>
          <p:nvPr/>
        </p:nvSpPr>
        <p:spPr>
          <a:xfrm>
            <a:off x="496072" y="4296827"/>
            <a:ext cx="2359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494949"/>
              </a:buClr>
              <a:buSzPct val="100000"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igtree"/>
                <a:ea typeface="+mn-ea"/>
                <a:cs typeface="+mn-cs"/>
              </a:rPr>
              <a:t>Market Leadership</a:t>
            </a:r>
          </a:p>
          <a:p>
            <a:pPr marL="174625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igtree"/>
                <a:ea typeface="Gulim" panose="020B0600000101010101" pitchFamily="34" charset="-127"/>
                <a:cs typeface="+mn-cs"/>
              </a:rPr>
              <a:t>Trusted by global financial institutions</a:t>
            </a:r>
          </a:p>
          <a:p>
            <a:pPr marL="174625" marR="0" lvl="1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Pct val="100000"/>
              <a:buFont typeface="Symbol" panose="05050102010706020507" pitchFamily="18" charset="2"/>
              <a:buChar char="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94949"/>
                </a:solidFill>
                <a:effectLst/>
                <a:uLnTx/>
                <a:uFillTx/>
                <a:latin typeface="Figtree"/>
                <a:ea typeface="Gulim" panose="020B0600000101010101" pitchFamily="34" charset="-127"/>
                <a:cs typeface="+mn-cs"/>
              </a:rPr>
              <a:t>Cross-border AML leader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1CF1B95-7B28-0E13-091A-0790A8A7A34E}"/>
              </a:ext>
            </a:extLst>
          </p:cNvPr>
          <p:cNvSpPr txBox="1"/>
          <p:nvPr/>
        </p:nvSpPr>
        <p:spPr>
          <a:xfrm>
            <a:off x="3403871" y="4296827"/>
            <a:ext cx="2359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r>
              <a:rPr lang="en-US" sz="900" b="1" dirty="0"/>
              <a:t>Technology Leadership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Proprietary cognitive AI 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AI-powered investigation automation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39237FB-AFAC-191B-299A-6D49C89F1CAC}"/>
              </a:ext>
            </a:extLst>
          </p:cNvPr>
          <p:cNvSpPr txBox="1"/>
          <p:nvPr/>
        </p:nvSpPr>
        <p:spPr>
          <a:xfrm>
            <a:off x="496072" y="5424579"/>
            <a:ext cx="2359467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r>
              <a:rPr lang="en-US" sz="900" b="1" dirty="0"/>
              <a:t>Platform Leadership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Unified financial crime platform 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Best-in-class transaction monitoring and customer screening capabilities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6429A8F-1C22-9FE0-E589-5D32211C2F0C}"/>
              </a:ext>
            </a:extLst>
          </p:cNvPr>
          <p:cNvSpPr txBox="1"/>
          <p:nvPr/>
        </p:nvSpPr>
        <p:spPr>
          <a:xfrm>
            <a:off x="3403871" y="5424579"/>
            <a:ext cx="2359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buClr>
                <a:schemeClr val="tx1"/>
              </a:buClr>
              <a:buSzPct val="100000"/>
            </a:pPr>
            <a:r>
              <a:rPr lang="en-US" sz="900" b="1" dirty="0"/>
              <a:t>Strategic Positioning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Strong regulatory tailwinds</a:t>
            </a:r>
          </a:p>
          <a:p>
            <a:pPr marL="174625" lvl="1" indent="-177800">
              <a:spcAft>
                <a:spcPts val="300"/>
              </a:spcAft>
              <a:buSzPct val="100000"/>
              <a:buFont typeface="Symbol" panose="05050102010706020507" pitchFamily="18" charset="2"/>
              <a:buChar char=""/>
            </a:pPr>
            <a:r>
              <a:rPr lang="en-US" sz="900" dirty="0">
                <a:ea typeface="Gulim" panose="020B0600000101010101" pitchFamily="34" charset="-127"/>
              </a:rPr>
              <a:t>Explainable AI</a:t>
            </a: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D3BBB3E-75BA-496B-08FD-EACAAE4BD001}"/>
              </a:ext>
            </a:extLst>
          </p:cNvPr>
          <p:cNvGrpSpPr/>
          <p:nvPr/>
        </p:nvGrpSpPr>
        <p:grpSpPr>
          <a:xfrm>
            <a:off x="6252753" y="4167288"/>
            <a:ext cx="3016095" cy="2069762"/>
            <a:chOff x="6252753" y="4167287"/>
            <a:chExt cx="3016095" cy="4736849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CB0C739A-2A12-EB53-0D24-455C0E527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52753" y="4175634"/>
              <a:ext cx="0" cy="4728502"/>
            </a:xfrm>
            <a:prstGeom prst="line">
              <a:avLst/>
            </a:prstGeom>
            <a:ln w="6350">
              <a:solidFill>
                <a:srgbClr val="E4E4E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8D47C52-284B-F2FC-92AA-4F65E57AD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8848" y="4167287"/>
              <a:ext cx="0" cy="4728502"/>
            </a:xfrm>
            <a:prstGeom prst="line">
              <a:avLst/>
            </a:prstGeom>
            <a:ln w="6350">
              <a:solidFill>
                <a:srgbClr val="E4E4E4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Oval 11111">
            <a:extLst>
              <a:ext uri="{FF2B5EF4-FFF2-40B4-BE49-F238E27FC236}">
                <a16:creationId xmlns:a16="http://schemas.microsoft.com/office/drawing/2014/main" id="{27AA3B7E-F0B8-55BB-680F-D5637A51F181}"/>
              </a:ext>
            </a:extLst>
          </p:cNvPr>
          <p:cNvSpPr>
            <a:spLocks noChangeAspect="1"/>
          </p:cNvSpPr>
          <p:nvPr/>
        </p:nvSpPr>
        <p:spPr>
          <a:xfrm>
            <a:off x="6363317" y="4167287"/>
            <a:ext cx="2577880" cy="3218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900" b="1" dirty="0">
                <a:solidFill>
                  <a:schemeClr val="bg1"/>
                </a:solidFill>
              </a:rPr>
              <a:t>Illustrative Sponsor Buyer Universe</a:t>
            </a:r>
          </a:p>
        </p:txBody>
      </p:sp>
      <p:sp>
        <p:nvSpPr>
          <p:cNvPr id="120" name="Oval 11112">
            <a:extLst>
              <a:ext uri="{FF2B5EF4-FFF2-40B4-BE49-F238E27FC236}">
                <a16:creationId xmlns:a16="http://schemas.microsoft.com/office/drawing/2014/main" id="{21B3598D-BA20-8205-23D3-9C3E50DEE4BE}"/>
              </a:ext>
            </a:extLst>
          </p:cNvPr>
          <p:cNvSpPr>
            <a:spLocks noChangeAspect="1"/>
          </p:cNvSpPr>
          <p:nvPr/>
        </p:nvSpPr>
        <p:spPr>
          <a:xfrm>
            <a:off x="9379414" y="4167287"/>
            <a:ext cx="2577880" cy="3218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  <a:spcAft>
                <a:spcPts val="600"/>
              </a:spcAft>
              <a:buClr>
                <a:schemeClr val="tx1"/>
              </a:buClr>
              <a:buSzPct val="100000"/>
            </a:pPr>
            <a:r>
              <a:rPr lang="en-GB" sz="900" b="1" dirty="0">
                <a:solidFill>
                  <a:schemeClr val="bg1"/>
                </a:solidFill>
              </a:rPr>
              <a:t>Illustrative Strategic Buyer Universe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1D7A264-EF2F-7FF5-32E1-6A25AA9F053B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52753" y="1544638"/>
            <a:ext cx="5592763" cy="14728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defPPr>
              <a:defRPr lang="en-US"/>
            </a:defPPr>
            <a:lvl1pPr>
              <a:lnSpc>
                <a:spcPct val="114000"/>
              </a:lnSpc>
              <a:spcBef>
                <a:spcPts val="600"/>
              </a:spcBef>
              <a:defRPr sz="900">
                <a:solidFill>
                  <a:srgbClr val="929292"/>
                </a:solidFill>
                <a:cs typeface="Aharoni" panose="02010803020104030203" pitchFamily="2" charset="-79"/>
              </a:defRPr>
            </a:lvl1pPr>
          </a:lstStyle>
          <a:p>
            <a:r>
              <a:rPr lang="en-GB" dirty="0"/>
              <a:t>Revenue &amp; Growth</a:t>
            </a:r>
          </a:p>
        </p:txBody>
      </p:sp>
    </p:spTree>
    <p:extLst>
      <p:ext uri="{BB962C8B-B14F-4D97-AF65-F5344CB8AC3E}">
        <p14:creationId xmlns:p14="http://schemas.microsoft.com/office/powerpoint/2010/main" val="2794536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9C68-95F4-65EC-CEAE-99E7C82F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04180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182444"/>
                </a:solidFill>
                <a:latin typeface="Figtree"/>
              </a:rPr>
              <a:t>For-Profit Conversion is a Reliable and Proven Journey for Successful Long-Term Value Creation</a:t>
            </a:r>
          </a:p>
        </p:txBody>
      </p:sp>
      <p:sp>
        <p:nvSpPr>
          <p:cNvPr id="3" name="Pentagon 2"/>
          <p:cNvSpPr/>
          <p:nvPr/>
        </p:nvSpPr>
        <p:spPr>
          <a:xfrm>
            <a:off x="1271016" y="1188720"/>
            <a:ext cx="2240279" cy="384048"/>
          </a:xfrm>
          <a:prstGeom prst="homePlate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25880" y="1188720"/>
            <a:ext cx="2020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36D3"/>
                </a:solidFill>
                <a:latin typeface="Figtree"/>
              </a:rPr>
              <a:t>Founding</a:t>
            </a:r>
          </a:p>
        </p:txBody>
      </p:sp>
      <p:sp>
        <p:nvSpPr>
          <p:cNvPr id="5" name="Pentagon 4"/>
          <p:cNvSpPr/>
          <p:nvPr/>
        </p:nvSpPr>
        <p:spPr>
          <a:xfrm>
            <a:off x="3602736" y="1188720"/>
            <a:ext cx="2057400" cy="384048"/>
          </a:xfrm>
          <a:prstGeom prst="homePlate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188720"/>
            <a:ext cx="183794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36D3"/>
                </a:solidFill>
                <a:latin typeface="Figtree"/>
              </a:rPr>
              <a:t>Founding Consortium¹</a:t>
            </a:r>
          </a:p>
        </p:txBody>
      </p:sp>
      <p:sp>
        <p:nvSpPr>
          <p:cNvPr id="7" name="Pentagon 6"/>
          <p:cNvSpPr/>
          <p:nvPr/>
        </p:nvSpPr>
        <p:spPr>
          <a:xfrm>
            <a:off x="5751576" y="1188720"/>
            <a:ext cx="1920240" cy="384048"/>
          </a:xfrm>
          <a:prstGeom prst="homePlate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06440" y="118872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36D3"/>
                </a:solidFill>
                <a:latin typeface="Figtree"/>
              </a:rPr>
              <a:t>First PE Investment</a:t>
            </a:r>
          </a:p>
        </p:txBody>
      </p:sp>
      <p:sp>
        <p:nvSpPr>
          <p:cNvPr id="9" name="Pentagon 8"/>
          <p:cNvSpPr/>
          <p:nvPr/>
        </p:nvSpPr>
        <p:spPr>
          <a:xfrm>
            <a:off x="7763256" y="1188720"/>
            <a:ext cx="1920240" cy="384048"/>
          </a:xfrm>
          <a:prstGeom prst="homePlate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1188720"/>
            <a:ext cx="170078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36D3"/>
                </a:solidFill>
                <a:latin typeface="Figtree"/>
              </a:rPr>
              <a:t>Next Buyout</a:t>
            </a:r>
          </a:p>
        </p:txBody>
      </p:sp>
      <p:sp>
        <p:nvSpPr>
          <p:cNvPr id="11" name="Pentagon 10"/>
          <p:cNvSpPr/>
          <p:nvPr/>
        </p:nvSpPr>
        <p:spPr>
          <a:xfrm>
            <a:off x="9774936" y="1188720"/>
            <a:ext cx="1984248" cy="384048"/>
          </a:xfrm>
          <a:prstGeom prst="homePlate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29800" y="1188720"/>
            <a:ext cx="17647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236D3"/>
                </a:solidFill>
                <a:latin typeface="Figtree"/>
              </a:rPr>
              <a:t>Status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1016" y="1755648"/>
            <a:ext cx="105796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GO Elemica"/>
          <p:cNvSpPr/>
          <p:nvPr/>
        </p:nvSpPr>
        <p:spPr>
          <a:xfrm>
            <a:off x="338328" y="1819656"/>
            <a:ext cx="786384" cy="786384"/>
          </a:xfrm>
          <a:prstGeom prst="ellipse">
            <a:avLst/>
          </a:prstGeom>
          <a:solidFill>
            <a:srgbClr val="E2E7FA"/>
          </a:solidFill>
          <a:ln w="12700">
            <a:solidFill>
              <a:srgbClr val="1236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1819656"/>
            <a:ext cx="69494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236D3"/>
                </a:solidFill>
                <a:latin typeface="Figtree"/>
              </a:rPr>
              <a:t>Elemica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0744" y="1828800"/>
            <a:ext cx="2112263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94949"/>
                </a:solidFill>
                <a:latin typeface="Figtree"/>
              </a:rPr>
              <a:t>Founded in 2002, developer of supply chain software by fourteen of the world’s leading chemicals companies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1847088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GO DuPont"/>
          <p:cNvSpPr/>
          <p:nvPr/>
        </p:nvSpPr>
        <p:spPr>
          <a:xfrm>
            <a:off x="3685032" y="1906524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12464" y="190652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DuPont</a:t>
            </a:r>
          </a:p>
        </p:txBody>
      </p:sp>
      <p:sp>
        <p:nvSpPr>
          <p:cNvPr id="20" name="LOGO Mitsubishi Gas Chemical"/>
          <p:cNvSpPr/>
          <p:nvPr/>
        </p:nvSpPr>
        <p:spPr>
          <a:xfrm>
            <a:off x="4709160" y="1906524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190652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Mitsubishi Gas Chemical</a:t>
            </a:r>
          </a:p>
        </p:txBody>
      </p:sp>
      <p:sp>
        <p:nvSpPr>
          <p:cNvPr id="22" name="LOGO Shell Chemicals"/>
          <p:cNvSpPr/>
          <p:nvPr/>
        </p:nvSpPr>
        <p:spPr>
          <a:xfrm>
            <a:off x="4197096" y="2244852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24528" y="2244852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Shell Chemicals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51576" y="1847088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OGO Thoma Bravo"/>
          <p:cNvSpPr/>
          <p:nvPr/>
        </p:nvSpPr>
        <p:spPr>
          <a:xfrm>
            <a:off x="6277356" y="2075688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4788" y="2075688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Thoma Bravo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63256" y="1847088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LOGO Eurazeo"/>
          <p:cNvSpPr/>
          <p:nvPr/>
        </p:nvSpPr>
        <p:spPr>
          <a:xfrm>
            <a:off x="8289036" y="2075688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16467" y="2075688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Eurazeo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74936" y="1847088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84664" y="1828800"/>
            <a:ext cx="185623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494949"/>
                </a:solidFill>
                <a:latin typeface="Figtree"/>
              </a:rPr>
              <a:t>Eurazeo joined the cap table in 2019; company expanded offerings through a series of add-ons in recent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" y="2798064"/>
            <a:ext cx="105796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517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LOGO Exostar"/>
          <p:cNvSpPr/>
          <p:nvPr/>
        </p:nvSpPr>
        <p:spPr>
          <a:xfrm>
            <a:off x="338328" y="2862072"/>
            <a:ext cx="786384" cy="786384"/>
          </a:xfrm>
          <a:prstGeom prst="ellipse">
            <a:avLst/>
          </a:prstGeom>
          <a:solidFill>
            <a:srgbClr val="EAEEF7"/>
          </a:solidFill>
          <a:ln w="12700">
            <a:solidFill>
              <a:srgbClr val="5175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2862072"/>
            <a:ext cx="69494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5175BD"/>
                </a:solidFill>
                <a:latin typeface="Figtree"/>
              </a:rPr>
              <a:t>Exostar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0744" y="2871216"/>
            <a:ext cx="2112263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94949"/>
                </a:solidFill>
                <a:latin typeface="Figtree"/>
              </a:rPr>
              <a:t>Founded as a joint venture among aerospace and defense companies to securely facilitate supply chain transactions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02736" y="2889504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OGO BAE Systems"/>
          <p:cNvSpPr/>
          <p:nvPr/>
        </p:nvSpPr>
        <p:spPr>
          <a:xfrm>
            <a:off x="3685032" y="2948940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12464" y="2948940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BAE Systems</a:t>
            </a:r>
          </a:p>
        </p:txBody>
      </p:sp>
      <p:sp>
        <p:nvSpPr>
          <p:cNvPr id="39" name="LOGO Boeing"/>
          <p:cNvSpPr/>
          <p:nvPr/>
        </p:nvSpPr>
        <p:spPr>
          <a:xfrm>
            <a:off x="4709160" y="2948940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36592" y="2948940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Boeing</a:t>
            </a:r>
          </a:p>
        </p:txBody>
      </p:sp>
      <p:sp>
        <p:nvSpPr>
          <p:cNvPr id="41" name="LOGO Lockheed Martin"/>
          <p:cNvSpPr/>
          <p:nvPr/>
        </p:nvSpPr>
        <p:spPr>
          <a:xfrm>
            <a:off x="3685032" y="3287268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12464" y="3287268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Lockheed Martin</a:t>
            </a:r>
          </a:p>
        </p:txBody>
      </p:sp>
      <p:sp>
        <p:nvSpPr>
          <p:cNvPr id="43" name="LOGO Raytheon"/>
          <p:cNvSpPr/>
          <p:nvPr/>
        </p:nvSpPr>
        <p:spPr>
          <a:xfrm>
            <a:off x="4709160" y="3287268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36592" y="3287268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Raytheon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51576" y="2889504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OGO Thoma Bravo"/>
          <p:cNvSpPr/>
          <p:nvPr/>
        </p:nvSpPr>
        <p:spPr>
          <a:xfrm>
            <a:off x="6277356" y="3118104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4788" y="311810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Thoma Bravo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63256" y="2889504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OGO ACP"/>
          <p:cNvSpPr/>
          <p:nvPr/>
        </p:nvSpPr>
        <p:spPr>
          <a:xfrm>
            <a:off x="8289036" y="3118104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6467" y="311810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ACP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74936" y="2889504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84664" y="2871216"/>
            <a:ext cx="185623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494949"/>
                </a:solidFill>
                <a:latin typeface="Figtree"/>
              </a:rPr>
              <a:t>Since the acquisition in 2023, ACP has augmented the product offerings through acquisitions of ComplyUp and Robot Morning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271016" y="3840480"/>
            <a:ext cx="105796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8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GO GRESB"/>
          <p:cNvSpPr/>
          <p:nvPr/>
        </p:nvSpPr>
        <p:spPr>
          <a:xfrm>
            <a:off x="338328" y="3904488"/>
            <a:ext cx="786384" cy="786384"/>
          </a:xfrm>
          <a:prstGeom prst="ellipse">
            <a:avLst/>
          </a:prstGeom>
          <a:solidFill>
            <a:srgbClr val="E0F0EF"/>
          </a:solidFill>
          <a:ln w="12700">
            <a:solidFill>
              <a:srgbClr val="0084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4048" y="3904488"/>
            <a:ext cx="69494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00847E"/>
                </a:solidFill>
                <a:latin typeface="Figtree"/>
              </a:rPr>
              <a:t>GRESB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80744" y="3913632"/>
            <a:ext cx="2112263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94949"/>
                </a:solidFill>
                <a:latin typeface="Figtree"/>
              </a:rPr>
              <a:t>Provider of sustainability standards established in 2009 by a consortium of institutional investors in collaboration with Maastricht University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02736" y="3931920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LOGO APG"/>
          <p:cNvSpPr/>
          <p:nvPr/>
        </p:nvSpPr>
        <p:spPr>
          <a:xfrm>
            <a:off x="3685032" y="3991356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12464" y="3991356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APG</a:t>
            </a:r>
          </a:p>
        </p:txBody>
      </p:sp>
      <p:sp>
        <p:nvSpPr>
          <p:cNvPr id="60" name="LOGO PGGM"/>
          <p:cNvSpPr/>
          <p:nvPr/>
        </p:nvSpPr>
        <p:spPr>
          <a:xfrm>
            <a:off x="4709160" y="3991356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36592" y="3991356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PGGM</a:t>
            </a:r>
          </a:p>
        </p:txBody>
      </p:sp>
      <p:sp>
        <p:nvSpPr>
          <p:cNvPr id="62" name="LOGO Maastricht University"/>
          <p:cNvSpPr/>
          <p:nvPr/>
        </p:nvSpPr>
        <p:spPr>
          <a:xfrm>
            <a:off x="4197096" y="4329684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24528" y="4329684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Maastricht University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51576" y="3931920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OGO Summit Partners"/>
          <p:cNvSpPr/>
          <p:nvPr/>
        </p:nvSpPr>
        <p:spPr>
          <a:xfrm>
            <a:off x="6277356" y="4160520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4788" y="4160520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Summit Partners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63256" y="3931920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OGO General Atlantic"/>
          <p:cNvSpPr/>
          <p:nvPr/>
        </p:nvSpPr>
        <p:spPr>
          <a:xfrm>
            <a:off x="8289036" y="4160520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16467" y="4160520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General Atlantic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774936" y="3931920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884664" y="3913632"/>
            <a:ext cx="185623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494949"/>
                </a:solidFill>
                <a:latin typeface="Figtree"/>
              </a:rPr>
              <a:t>General Atlantic acquired the business in 2019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271016" y="4882896"/>
            <a:ext cx="1057960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OGO Worldly"/>
          <p:cNvSpPr/>
          <p:nvPr/>
        </p:nvSpPr>
        <p:spPr>
          <a:xfrm>
            <a:off x="338328" y="4946904"/>
            <a:ext cx="786384" cy="786384"/>
          </a:xfrm>
          <a:prstGeom prst="ellipse">
            <a:avLst/>
          </a:prstGeom>
          <a:solidFill>
            <a:srgbClr val="DDE2ED"/>
          </a:solidFill>
          <a:ln w="12700">
            <a:solidFill>
              <a:srgbClr val="182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4048" y="4946904"/>
            <a:ext cx="694944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00" b="1">
                <a:solidFill>
                  <a:srgbClr val="182444"/>
                </a:solidFill>
                <a:latin typeface="Figtree"/>
              </a:rPr>
              <a:t>Worldly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80744" y="4956048"/>
            <a:ext cx="2112263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494949"/>
                </a:solidFill>
                <a:latin typeface="Figtree"/>
              </a:rPr>
              <a:t>Sustainability and insights platform launched in 2019 as a public-benefit technology company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02736" y="4974336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LOGO Cascale"/>
          <p:cNvSpPr/>
          <p:nvPr/>
        </p:nvSpPr>
        <p:spPr>
          <a:xfrm>
            <a:off x="4197096" y="5202936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24528" y="5202936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Cascale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751576" y="4974336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OGO Titan Grove"/>
          <p:cNvSpPr/>
          <p:nvPr/>
        </p:nvSpPr>
        <p:spPr>
          <a:xfrm>
            <a:off x="6277356" y="5202936"/>
            <a:ext cx="960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304788" y="5202936"/>
            <a:ext cx="9052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Titan Grove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63256" y="4974336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OGO Buckhill"/>
          <p:cNvSpPr/>
          <p:nvPr/>
        </p:nvSpPr>
        <p:spPr>
          <a:xfrm>
            <a:off x="7836408" y="5033772"/>
            <a:ext cx="579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63840" y="5033772"/>
            <a:ext cx="524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Buckhill</a:t>
            </a:r>
          </a:p>
        </p:txBody>
      </p:sp>
      <p:sp>
        <p:nvSpPr>
          <p:cNvPr id="85" name="LOGO Galvanize"/>
          <p:cNvSpPr/>
          <p:nvPr/>
        </p:nvSpPr>
        <p:spPr>
          <a:xfrm>
            <a:off x="8479536" y="5033772"/>
            <a:ext cx="579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506968" y="5033772"/>
            <a:ext cx="524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Galvanize</a:t>
            </a:r>
          </a:p>
        </p:txBody>
      </p:sp>
      <p:sp>
        <p:nvSpPr>
          <p:cNvPr id="87" name="LOGO LFX Venture Partners"/>
          <p:cNvSpPr/>
          <p:nvPr/>
        </p:nvSpPr>
        <p:spPr>
          <a:xfrm>
            <a:off x="9122664" y="5033772"/>
            <a:ext cx="579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150096" y="5033772"/>
            <a:ext cx="524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LFX Venture Partners</a:t>
            </a:r>
          </a:p>
        </p:txBody>
      </p:sp>
      <p:sp>
        <p:nvSpPr>
          <p:cNvPr id="89" name="LOGO MissionPoint Partners"/>
          <p:cNvSpPr/>
          <p:nvPr/>
        </p:nvSpPr>
        <p:spPr>
          <a:xfrm>
            <a:off x="8157972" y="5372100"/>
            <a:ext cx="579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85404" y="5372100"/>
            <a:ext cx="524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MissionPoint Partners</a:t>
            </a:r>
          </a:p>
        </p:txBody>
      </p:sp>
      <p:sp>
        <p:nvSpPr>
          <p:cNvPr id="91" name="LOGO Silversmith"/>
          <p:cNvSpPr/>
          <p:nvPr/>
        </p:nvSpPr>
        <p:spPr>
          <a:xfrm>
            <a:off x="8801100" y="5372100"/>
            <a:ext cx="579120" cy="274320"/>
          </a:xfrm>
          <a:prstGeom prst="roundRect">
            <a:avLst>
              <a:gd name="adj" fmla="val 12000"/>
            </a:avLst>
          </a:prstGeom>
          <a:solidFill>
            <a:srgbClr val="F4F5F7"/>
          </a:solidFill>
          <a:ln w="9525">
            <a:solidFill>
              <a:srgbClr val="D2D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828532" y="5372100"/>
            <a:ext cx="52425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50" b="0">
                <a:solidFill>
                  <a:srgbClr val="8A8F98"/>
                </a:solidFill>
                <a:latin typeface="Figtree"/>
              </a:rPr>
              <a:t>Silversmith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74936" y="4974336"/>
            <a:ext cx="6400" cy="731520"/>
          </a:xfrm>
          <a:prstGeom prst="rect">
            <a:avLst/>
          </a:prstGeom>
          <a:solidFill>
            <a:srgbClr val="C9C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884664" y="4956048"/>
            <a:ext cx="1856232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>
                <a:solidFill>
                  <a:srgbClr val="494949"/>
                </a:solidFill>
                <a:latin typeface="Figtree"/>
              </a:rPr>
              <a:t>Raised $55m in a Series B round in 2022; Series A round in 2019 raised $4m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338328" y="6035040"/>
            <a:ext cx="11512296" cy="365760"/>
          </a:xfrm>
          <a:prstGeom prst="roundRect">
            <a:avLst>
              <a:gd name="adj" fmla="val 18000"/>
            </a:avLst>
          </a:prstGeom>
          <a:solidFill>
            <a:srgbClr val="D7E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82444"/>
                </a:solidFill>
                <a:latin typeface="Figtree"/>
              </a:rPr>
              <a:t>Increasing sponsor appetite in non-profit entities provides a proven playbook Sedex is well-positioned to replicate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38328" y="6455664"/>
            <a:ext cx="979322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>
                <a:solidFill>
                  <a:srgbClr val="494949"/>
                </a:solidFill>
                <a:latin typeface="Figtree"/>
              </a:rPr>
              <a:t>Source: Company websites, press releases and public filings.</a:t>
            </a:r>
          </a:p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00">
                <a:solidFill>
                  <a:srgbClr val="494949"/>
                </a:solidFill>
                <a:latin typeface="Figtree"/>
              </a:rPr>
              <a:t>1.  Representative companies listed; does not contain the full list for Elemica and Exostar.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HIDDE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gIrSupTASa4WpBi4SlK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RAYSCALE" val="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UBHEADING" val="SubheadingStyle"/>
</p:tagLst>
</file>

<file path=ppt/theme/theme1.xml><?xml version="1.0" encoding="utf-8"?>
<a:theme xmlns:a="http://schemas.openxmlformats.org/drawingml/2006/main" name="Helio">
  <a:themeElements>
    <a:clrScheme name="ACAMS">
      <a:dk1>
        <a:srgbClr val="494949"/>
      </a:dk1>
      <a:lt1>
        <a:srgbClr val="FFFFFF"/>
      </a:lt1>
      <a:dk2>
        <a:srgbClr val="F7F2E4"/>
      </a:dk2>
      <a:lt2>
        <a:srgbClr val="D7EDFF"/>
      </a:lt2>
      <a:accent1>
        <a:srgbClr val="1236D3"/>
      </a:accent1>
      <a:accent2>
        <a:srgbClr val="182444"/>
      </a:accent2>
      <a:accent3>
        <a:srgbClr val="64FFE8"/>
      </a:accent3>
      <a:accent4>
        <a:srgbClr val="DDFF61"/>
      </a:accent4>
      <a:accent5>
        <a:srgbClr val="00847E"/>
      </a:accent5>
      <a:accent6>
        <a:srgbClr val="5175BD"/>
      </a:accent6>
      <a:hlink>
        <a:srgbClr val="1236D3"/>
      </a:hlink>
      <a:folHlink>
        <a:srgbClr val="D7EDFF"/>
      </a:folHlink>
    </a:clrScheme>
    <a:fontScheme name="ACAMS">
      <a:majorFont>
        <a:latin typeface="Figtree"/>
        <a:ea typeface=""/>
        <a:cs typeface=""/>
      </a:majorFont>
      <a:minorFont>
        <a:latin typeface="Figtree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lnSpc>
            <a:spcPct val="114000"/>
          </a:lnSpc>
          <a:spcAft>
            <a:spcPts val="600"/>
          </a:spcAft>
          <a:buClr>
            <a:schemeClr val="tx1"/>
          </a:buClr>
          <a:buSzPct val="100000"/>
          <a:defRPr sz="1100"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lnSpc>
            <a:spcPct val="114000"/>
          </a:lnSpc>
          <a:spcAft>
            <a:spcPts val="600"/>
          </a:spcAft>
          <a:buSzPct val="100000"/>
          <a:defRPr sz="1100" dirty="0" err="1" smtClean="0"/>
        </a:defPPr>
      </a:lstStyle>
    </a:txDef>
  </a:objectDefaults>
  <a:extraClrSchemeLst/>
  <a:custClrLst>
    <a:custClr name="Sky Blue">
      <a:srgbClr val="C7DBE7"/>
    </a:custClr>
    <a:custClr name="Dark Teal">
      <a:srgbClr val="436E71"/>
    </a:custClr>
    <a:custClr name="Dark Green">
      <a:srgbClr val="5E8C3D"/>
    </a:custClr>
    <a:custClr name="Red">
      <a:srgbClr val="A8412F"/>
    </a:custClr>
    <a:custClr name="Light Green">
      <a:srgbClr val="88B868"/>
    </a:custClr>
    <a:custClr name="Light Red">
      <a:srgbClr val="DA5C47"/>
    </a:custClr>
    <a:custClr name="Brown">
      <a:srgbClr val="BA651C"/>
    </a:custClr>
    <a:custClr name="Orange">
      <a:srgbClr val="F28F3E"/>
    </a:custClr>
    <a:custClr name="Yellow">
      <a:srgbClr val="E5B00E"/>
    </a:custClr>
    <a:custClr name="White">
      <a:srgbClr val="FFFFFF"/>
    </a:custClr>
    <a:custClr name="Custom Color 11">
      <a:srgbClr val="EEF9FE"/>
    </a:custClr>
    <a:custClr name="Custom Color 12">
      <a:srgbClr val="BAE3E4"/>
    </a:custClr>
    <a:custClr name="Custom Color 13">
      <a:srgbClr val="EEF9FE"/>
    </a:custClr>
    <a:custClr name="Custom Color 14">
      <a:srgbClr val="FDE1DD"/>
    </a:custClr>
    <a:custClr name="Custom Color 15">
      <a:srgbClr val="EDF3CE"/>
    </a:custClr>
    <a:custClr name="Custom Color 16">
      <a:srgbClr val="FDDFDC"/>
    </a:custClr>
    <a:custClr name="Custom Color 17">
      <a:srgbClr val="FDD2B4"/>
    </a:custClr>
    <a:custClr name="Custom Color 18">
      <a:srgbClr val="FEDAC2"/>
    </a:custClr>
    <a:custClr name="Custom Color 19">
      <a:srgbClr val="FFF2D8"/>
    </a:custClr>
    <a:custClr name="Custom Color 20">
      <a:srgbClr val="FFFFFF"/>
    </a:custClr>
    <a:custClr name="Custom Color 21">
      <a:srgbClr val="C5DDE9"/>
    </a:custClr>
    <a:custClr name="Custom Color 22">
      <a:srgbClr val="74CAC2"/>
    </a:custClr>
    <a:custClr name="Custom Color 23">
      <a:srgbClr val="B7D774"/>
    </a:custClr>
    <a:custClr name="Custom Color 24">
      <a:srgbClr val="F48472"/>
    </a:custClr>
    <a:custClr name="Custom Color 25">
      <a:srgbClr val="B6D884"/>
    </a:custClr>
    <a:custClr name="Custom Color 26">
      <a:srgbClr val="F7A094"/>
    </a:custClr>
    <a:custClr name="Custom Color 27">
      <a:srgbClr val="E88C47"/>
    </a:custClr>
    <a:custClr name="Custom Color 28">
      <a:srgbClr val="EDA06B"/>
    </a:custClr>
    <a:custClr name="Custom Color 29">
      <a:srgbClr val="FFD880"/>
    </a:custClr>
    <a:custClr name="Custom Color 30">
      <a:srgbClr val="E0E0E0"/>
    </a:custClr>
    <a:custClr name="Custom Color 31">
      <a:srgbClr val="93B0BD"/>
    </a:custClr>
    <a:custClr name="Custom Color 32">
      <a:srgbClr val="55A09A"/>
    </a:custClr>
    <a:custClr name="Custom Color 33">
      <a:srgbClr val="7EC157"/>
    </a:custClr>
    <a:custClr name="Custom Color 34">
      <a:srgbClr val="DD5336"/>
    </a:custClr>
    <a:custClr name="Custom Color 35">
      <a:srgbClr val="8AB769"/>
    </a:custClr>
    <a:custClr name="Custom Color 36">
      <a:srgbClr val="DF5B44"/>
    </a:custClr>
    <a:custClr name="Custom Color 37">
      <a:srgbClr val="B46929"/>
    </a:custClr>
    <a:custClr name="Custom Color 38">
      <a:srgbClr val="F68B36"/>
    </a:custClr>
    <a:custClr name="Custom Color 39">
      <a:srgbClr val="E4B023"/>
    </a:custClr>
    <a:custClr name="Custom Color 40">
      <a:srgbClr val="A5A4A4"/>
    </a:custClr>
    <a:custClr name="Custom Color 51">
      <a:srgbClr val="306470"/>
    </a:custClr>
    <a:custClr name="Custom Color 52">
      <a:srgbClr val="164C48"/>
    </a:custClr>
    <a:custClr name="Custom Color 53">
      <a:srgbClr val="3B6932"/>
    </a:custClr>
    <a:custClr name="Custom Color 54">
      <a:srgbClr val="7B1916"/>
    </a:custClr>
    <a:custClr name="Custom Color 55">
      <a:srgbClr val="345F2E"/>
    </a:custClr>
    <a:custClr name="Custom Color 56">
      <a:srgbClr val="731012"/>
    </a:custClr>
    <a:custClr name="Custom Color 57">
      <a:srgbClr val="602A16"/>
    </a:custClr>
    <a:custClr name="Custom Color 58">
      <a:srgbClr val="6D3917"/>
    </a:custClr>
    <a:custClr name="Custom Color 59">
      <a:srgbClr val="826226"/>
    </a:custClr>
    <a:custClr name="Custom Color 60">
      <a:srgbClr val="232323"/>
    </a:custClr>
  </a:custClrLst>
  <a:extLst>
    <a:ext uri="{05A4C25C-085E-4340-85A3-A5531E510DB2}">
      <thm15:themeFamily xmlns:thm15="http://schemas.microsoft.com/office/thememl/2012/main" name="Houlihan Lokey 2015 Template-Stripped" id="{1E59E553-DBF7-450B-8875-3EDAA28D2128}" vid="{4F015B6A-E27A-44E3-A781-A32F050E242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3D770D3-467D-4C54-B11F-274FDD8B86DF}">
  <we:reference id="36907bf5-2c4b-4ebb-b2d8-8ed6acad83c2" version="1.0.0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7f18e2-49ca-4414-bf4c-8a5f34cab83e">
      <Terms xmlns="http://schemas.microsoft.com/office/infopath/2007/PartnerControls"/>
    </lcf76f155ced4ddcb4097134ff3c332f>
    <TaxCatchAll xmlns="fe2eebdb-c869-4458-8cec-74a95fa5af8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2E1EBB6931C345B7C0FD16257186C7" ma:contentTypeVersion="16" ma:contentTypeDescription="Create a new document." ma:contentTypeScope="" ma:versionID="7e3eb63b320fad1c52bf21d85eefeb7c">
  <xsd:schema xmlns:xsd="http://www.w3.org/2001/XMLSchema" xmlns:xs="http://www.w3.org/2001/XMLSchema" xmlns:p="http://schemas.microsoft.com/office/2006/metadata/properties" xmlns:ns2="7e7f18e2-49ca-4414-bf4c-8a5f34cab83e" xmlns:ns3="fe2eebdb-c869-4458-8cec-74a95fa5af80" targetNamespace="http://schemas.microsoft.com/office/2006/metadata/properties" ma:root="true" ma:fieldsID="ce94aee3993a2e1fb68dd8435999fbf5" ns2:_="" ns3:_="">
    <xsd:import namespace="7e7f18e2-49ca-4414-bf4c-8a5f34cab83e"/>
    <xsd:import namespace="fe2eebdb-c869-4458-8cec-74a95fa5af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7f18e2-49ca-4414-bf4c-8a5f34cab8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25944677-4b13-40f9-9220-4dd2845629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2eebdb-c869-4458-8cec-74a95fa5af80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d0ab9f9-2727-4d41-bd5b-7578314f5406}" ma:internalName="TaxCatchAll" ma:showField="CatchAllData" ma:web="fe2eebdb-c869-4458-8cec-74a95fa5a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87F3BB-8AD1-410C-8F33-FAD1DD4F607F}">
  <ds:schemaRefs>
    <ds:schemaRef ds:uri="http://schemas.microsoft.com/office/2006/metadata/properties"/>
    <ds:schemaRef ds:uri="http://schemas.microsoft.com/office/2006/documentManagement/types"/>
    <ds:schemaRef ds:uri="ad2bd0a4-93f3-4c97-a51a-b95a519deba7"/>
    <ds:schemaRef ds:uri="f7ce4033-f3a1-4fb3-b9ef-5c9a5a281942"/>
    <ds:schemaRef ds:uri="http://purl.org/dc/terms/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e7f18e2-49ca-4414-bf4c-8a5f34cab83e"/>
    <ds:schemaRef ds:uri="fe2eebdb-c869-4458-8cec-74a95fa5af80"/>
  </ds:schemaRefs>
</ds:datastoreItem>
</file>

<file path=customXml/itemProps2.xml><?xml version="1.0" encoding="utf-8"?>
<ds:datastoreItem xmlns:ds="http://schemas.openxmlformats.org/officeDocument/2006/customXml" ds:itemID="{D1959204-B2B3-4031-982E-5503D33DDB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7F79F5-AC05-4B4E-8157-A8FFD72D2E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7f18e2-49ca-4414-bf4c-8a5f34cab83e"/>
    <ds:schemaRef ds:uri="fe2eebdb-c869-4458-8cec-74a95fa5a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2a72f7-6b46-40ef-b706-e00bf8c058ba}" enabled="0" method="" siteId="{e02a72f7-6b46-40ef-b706-e00bf8c058b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Layouts</Template>
  <TotalTime>393</TotalTime>
  <Words>2805</Words>
  <Application>Microsoft Office PowerPoint</Application>
  <PresentationFormat>Widescreen</PresentationFormat>
  <Paragraphs>337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9" baseType="lpstr">
      <vt:lpstr>Gulim</vt:lpstr>
      <vt:lpstr>Aharoni</vt:lpstr>
      <vt:lpstr>Arial</vt:lpstr>
      <vt:lpstr>Calibri</vt:lpstr>
      <vt:lpstr>Figtree</vt:lpstr>
      <vt:lpstr>Inter ExtraBold</vt:lpstr>
      <vt:lpstr>Noto Sans</vt:lpstr>
      <vt:lpstr>Roboto Slab</vt:lpstr>
      <vt:lpstr>Segoe UI</vt:lpstr>
      <vt:lpstr>Segoe UI Semibold</vt:lpstr>
      <vt:lpstr>Symbol</vt:lpstr>
      <vt:lpstr>Wingdings</vt:lpstr>
      <vt:lpstr>Wingdings 2</vt:lpstr>
      <vt:lpstr>Helio</vt:lpstr>
      <vt:lpstr>think-cell Slide</vt:lpstr>
      <vt:lpstr>ACAMS Discussion Materials</vt:lpstr>
      <vt:lpstr>Executive Summary</vt:lpstr>
      <vt:lpstr>The Financial Information Services Market Offers Significant Whitespace Supported by Secular Tailwinds</vt:lpstr>
      <vt:lpstr> Financial Information Services Market Participants Exhibit Premium Valuations</vt:lpstr>
      <vt:lpstr>The Pivot from Not-for-Profit to Public Company Has Been Successfully Executed Across  Multiple Industries</vt:lpstr>
      <vt:lpstr>ACAMS' Business Model is Well Positioned to Excel as a Best-in-Class Financial Information  Services Platform </vt:lpstr>
      <vt:lpstr>Combining ThetaRay with NapierAI Offers a Compelling Strategic Opportunity</vt:lpstr>
      <vt:lpstr>Why Now is the Right Time to Combine ThetaRay and NapierAI</vt:lpstr>
      <vt:lpstr>Houlihan Lokey Has Identified Several Acquisition Targets to Accelerate ACAMS' Financial Information Services Positioning</vt:lpstr>
      <vt:lpstr>Select Transformative Acquisition Targets (these will be $250M max EV range)</vt:lpstr>
      <vt:lpstr>Select String of Pearls Acquisition Targets (these will be $50M max EV range)</vt:lpstr>
      <vt:lpstr>ACAMS Today vs ACAMS of the Future</vt:lpstr>
      <vt:lpstr>As a Specialized Financial Information Services Platform, ACAMS Can Drive a Premium Valuation</vt:lpstr>
      <vt:lpstr>PowerPoint Presentation</vt:lpstr>
    </vt:vector>
  </TitlesOfParts>
  <Company>Houlihan Lokey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Carpe Data - Discussion Materials</dc:title>
  <dc:creator>Sam Vanderheyden</dc:creator>
  <cp:keywords>Carpe Data - Discussion Materials</cp:keywords>
  <cp:lastModifiedBy>Carroll, Ryan</cp:lastModifiedBy>
  <cp:revision>1714</cp:revision>
  <cp:lastPrinted>2025-10-21T15:20:21Z</cp:lastPrinted>
  <dcterms:created xsi:type="dcterms:W3CDTF">2022-06-02T01:45:08Z</dcterms:created>
  <dcterms:modified xsi:type="dcterms:W3CDTF">2026-07-30T14:06:23Z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0x0101004E2E1EBB6931C345B7C0FD16257186C7</vt:lpwstr>
  </property>
  <property fmtid="{D5CDD505-2E9C-101B-9397-08002B2CF9AE}" pid="3" name="MediaServiceImageTags">
    <vt:lpwstr/>
  </property>
</Properties>
</file>