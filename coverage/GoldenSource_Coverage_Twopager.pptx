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  <p:sldId id="257" r:id="rId2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7E8597"/>
              </a:solidFill>
            </c:spPr>
          </c:dPt>
          <c:dPt>
            <c:idx val="1"/>
            <c:spPr>
              <a:solidFill>
                <a:srgbClr val="002855"/>
              </a:solidFill>
            </c:spPr>
          </c:dPt>
          <c:cat>
            <c:strRef>
              <c:f>Sheet1!$A$2:$A$3</c:f>
              <c:strCache>
                <c:ptCount val="2"/>
                <c:pt idx="0">
                  <c:v>2022</c:v>
                </c:pt>
                <c:pt idx="1">
                  <c:v>2026E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380</c:v>
                </c:pt>
                <c:pt idx="1">
                  <c:v>620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800" b="1">
                  <a:solidFill>
                    <a:srgbClr val="002855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CBFC6"/>
            </a:solidFill>
          </a:ln>
        </c:spPr>
        <c:txPr>
          <a:bodyPr/>
          <a:lstStyle/>
          <a:p>
            <a:pPr>
              <a:defRPr sz="750">
                <a:solidFill>
                  <a:srgbClr val="525766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508BC9"/>
              </a:solidFill>
            </c:spPr>
          </c:dPt>
          <c:dPt>
            <c:idx val="1"/>
            <c:spPr>
              <a:solidFill>
                <a:srgbClr val="002855"/>
              </a:solidFill>
            </c:spPr>
          </c:dPt>
          <c:cat>
            <c:strRef>
              <c:f>Sheet1!$A$2:$A$3</c:f>
              <c:strCache>
                <c:ptCount val="2"/>
                <c:pt idx="0">
                  <c:v>≥0.5bp of annual
performance at risk</c:v>
                </c:pt>
                <c:pt idx="1">
                  <c:v>Poor data could drive
wrong AI insights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98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800" b="1">
                  <a:solidFill>
                    <a:srgbClr val="002855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CBFC6"/>
            </a:solidFill>
          </a:ln>
        </c:spPr>
        <c:txPr>
          <a:bodyPr/>
          <a:lstStyle/>
          <a:p>
            <a:pPr>
              <a:defRPr sz="700">
                <a:solidFill>
                  <a:srgbClr val="525766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1800" b="1">
                <a:solidFill>
                  <a:srgbClr val="002855"/>
                </a:solidFill>
                <a:latin typeface="Segoe UI Semibold"/>
              </a:rPr>
              <a:t>GoldenSource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3657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7E8597"/>
                </a:solidFill>
                <a:latin typeface="Segoe UI"/>
              </a:rPr>
              <a:t>Coverage Profile  |  Data &amp; Analytics  | 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22960"/>
            <a:ext cx="8686800" cy="530352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822960"/>
            <a:ext cx="8430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Forty-year enterprise data management franchise for capital markets — sponsor-owned since 2022, coming off a record 2025, and now repositioning its governed data layer as the control plane for AI in financial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26464"/>
            <a:ext cx="8686800" cy="12801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1984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Founded — over 40 years in capital markets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2400300" y="1499616"/>
            <a:ext cx="7315" cy="420624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83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100+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83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Pre-built vendor data feeds and adaptors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499616"/>
            <a:ext cx="7315" cy="420624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00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Offices across North America, EMEA and APAC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43700" y="1499616"/>
            <a:ext cx="7315" cy="420624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17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4 yrs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Gemspring Capital hold period to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048256"/>
            <a:ext cx="49834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048256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COMPANY 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" y="2359152"/>
            <a:ext cx="4946904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Founded in 1984 and headquartered in New York, GoldenSource is one of the original enterprise data management (EDM) vendors in capital markets and is widely credited with defining the category.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Masters, governs and distributes securities, entity, counterparty, client, pricing, position, corporate-action and ESG data for banks, asset managers and insurers.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One platform, two go-to-market lenses: the </a:t>
            </a:r>
            <a:r>
              <a:rPr sz="800" b="1" i="0">
                <a:solidFill>
                  <a:srgbClr val="002855"/>
                </a:solidFill>
                <a:latin typeface="Segoe UI Semibold"/>
              </a:rPr>
              <a:t>Investment Data Platform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 for the buy side and a </a:t>
            </a:r>
            <a:r>
              <a:rPr sz="800" b="1" i="0">
                <a:solidFill>
                  <a:srgbClr val="002855"/>
                </a:solidFill>
                <a:latin typeface="Segoe UI Semibold"/>
              </a:rPr>
              <a:t>Trading, Risk and Regulatory Data Platform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 for the sell side.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Recurring subscription licence plus cloud hosting and managed services, deployed SaaS or on-premise; founding sponsor of the EDM Council.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Leadership refreshed under sponsor ownership: James Corrigan became CEO in September 2024, succeeding John Eley after a decade, with a Chief Customer Officer seat created in 2026.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0" y="2048256"/>
            <a:ext cx="36118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59" y="2048256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COMPANY SNAPSHOT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2331720"/>
            <a:ext cx="3611880" cy="18745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8384" y="2331720"/>
            <a:ext cx="868680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Founded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7064" y="2331720"/>
            <a:ext cx="2633472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1984  |  New York, 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519172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Ownership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2519172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Gemspring Capital (May 2022); previously The Invus Group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2811780"/>
            <a:ext cx="3611880" cy="18745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58384" y="2811780"/>
            <a:ext cx="868680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CEO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7064" y="2811780"/>
            <a:ext cx="2633472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James Corrigan (since Sept. 2024)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58384" y="2999232"/>
            <a:ext cx="868680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Employees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999232"/>
            <a:ext cx="2633472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~620 est., versus 380 at the 2022 close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3186684"/>
            <a:ext cx="3611880" cy="292608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58384" y="3186684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Revenue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7064" y="3186684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~$63M est. (third-party; not company-reported)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8384" y="3479292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Offices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7064" y="3479292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New York, London, Milan, Mumbai, Melbourne, Hong Kong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3771900"/>
            <a:ext cx="3611880" cy="292608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58384" y="3771900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Delivery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27064" y="3771900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SaaS on AWS, Azure and GCP; AWS Marketplace; on-premise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4187952"/>
            <a:ext cx="868680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4187952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PLATFORM AND PRODUCT SUITE — HOW THE DATA MOVES</a:t>
            </a:r>
          </a:p>
        </p:txBody>
      </p:sp>
      <p:sp>
        <p:nvSpPr>
          <p:cNvPr id="43" name="Chevron 42"/>
          <p:cNvSpPr/>
          <p:nvPr/>
        </p:nvSpPr>
        <p:spPr>
          <a:xfrm>
            <a:off x="228600" y="4498848"/>
            <a:ext cx="2240280" cy="310896"/>
          </a:xfrm>
          <a:prstGeom prst="chevron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SOURCE AND CONNECT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2855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Connections and Adaptors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2855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100+ vendor feeds</a:t>
            </a:r>
          </a:p>
        </p:txBody>
      </p:sp>
      <p:sp>
        <p:nvSpPr>
          <p:cNvPr id="45" name="Chevron 44"/>
          <p:cNvSpPr/>
          <p:nvPr/>
        </p:nvSpPr>
        <p:spPr>
          <a:xfrm>
            <a:off x="2377440" y="4498848"/>
            <a:ext cx="2240280" cy="310896"/>
          </a:xfrm>
          <a:prstGeom prst="chevron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MASTER AND GOVERN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4203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1C4470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Securities and Entity Master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1C4470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Price Master, corporate actions, ESG</a:t>
            </a:r>
          </a:p>
        </p:txBody>
      </p:sp>
      <p:sp>
        <p:nvSpPr>
          <p:cNvPr id="47" name="Chevron 46"/>
          <p:cNvSpPr/>
          <p:nvPr/>
        </p:nvSpPr>
        <p:spPr>
          <a:xfrm>
            <a:off x="4526280" y="4498848"/>
            <a:ext cx="2240280" cy="310896"/>
          </a:xfrm>
          <a:prstGeom prst="chevron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DISTRIBUTE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087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38618B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Data Warehouse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38618B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OMNI — Snowflake Native App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38618B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Real-time IBOR</a:t>
            </a:r>
          </a:p>
        </p:txBody>
      </p:sp>
      <p:sp>
        <p:nvSpPr>
          <p:cNvPr id="49" name="Chevron 48"/>
          <p:cNvSpPr/>
          <p:nvPr/>
        </p:nvSpPr>
        <p:spPr>
          <a:xfrm>
            <a:off x="6675120" y="4498848"/>
            <a:ext cx="2240280" cy="310896"/>
          </a:xfrm>
          <a:prstGeom prst="chevron">
            <a:avLst/>
          </a:prstGeom>
          <a:solidFill>
            <a:srgbClr val="508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CONSUME AND REASON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971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Scout on Amazon Bedrock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Chat plus MCP agent builder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28600" y="5358384"/>
            <a:ext cx="553212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5358384"/>
            <a:ext cx="5349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SELECTED MILESTONES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1812" y="5852160"/>
            <a:ext cx="4425696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092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5176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1984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5176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Founded in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New York</a:t>
            </a:r>
          </a:p>
        </p:txBody>
      </p:sp>
      <p:sp>
        <p:nvSpPr>
          <p:cNvPr id="57" name="Oval 56"/>
          <p:cNvSpPr/>
          <p:nvPr/>
        </p:nvSpPr>
        <p:spPr>
          <a:xfrm>
            <a:off x="1842516" y="5811012"/>
            <a:ext cx="91440" cy="91440"/>
          </a:xfrm>
          <a:prstGeom prst="ellipse">
            <a:avLst/>
          </a:prstGeom>
          <a:solidFill>
            <a:srgbClr val="24B1B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71600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24B1B1"/>
                </a:solidFill>
                <a:latin typeface="Segoe UI Semibold"/>
              </a:rPr>
              <a:t>2022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71600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Gemspring buys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from Invus</a:t>
            </a:r>
          </a:p>
        </p:txBody>
      </p:sp>
      <p:sp>
        <p:nvSpPr>
          <p:cNvPr id="60" name="Oval 59"/>
          <p:cNvSpPr/>
          <p:nvPr/>
        </p:nvSpPr>
        <p:spPr>
          <a:xfrm>
            <a:off x="2948940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8024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2023–24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78024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IBOR, OMNI and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V10; new CEO</a:t>
            </a:r>
          </a:p>
        </p:txBody>
      </p:sp>
      <p:sp>
        <p:nvSpPr>
          <p:cNvPr id="63" name="Oval 62"/>
          <p:cNvSpPr/>
          <p:nvPr/>
        </p:nvSpPr>
        <p:spPr>
          <a:xfrm>
            <a:off x="4055363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84448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2025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Record year;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flagship wins</a:t>
            </a:r>
          </a:p>
        </p:txBody>
      </p:sp>
      <p:sp>
        <p:nvSpPr>
          <p:cNvPr id="66" name="Oval 65"/>
          <p:cNvSpPr/>
          <p:nvPr/>
        </p:nvSpPr>
        <p:spPr>
          <a:xfrm>
            <a:off x="5161788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90872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90872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Scout AI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launches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89320" y="5358384"/>
            <a:ext cx="29260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80759" y="53583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HEADCOUNT UNDER GEMSPRING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5961888" y="5586984"/>
          <a:ext cx="2980944" cy="731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1874519" y="6492240"/>
            <a:ext cx="7040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7E8597"/>
                </a:solidFill>
                <a:latin typeface="Segoe UI"/>
              </a:rPr>
              <a:t>Sources: GoldenSource and Gemspring Capital press releases; Businesswire; Finextra; WatersTechnology; company website. Employee and revenue figures are third-party estimates and are not company-reported — confirm in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1800" b="1">
                <a:solidFill>
                  <a:srgbClr val="002855"/>
                </a:solidFill>
                <a:latin typeface="Segoe UI Semibold"/>
              </a:rPr>
              <a:t>GoldenSource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3657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7E8597"/>
                </a:solidFill>
                <a:latin typeface="Segoe UI"/>
              </a:rPr>
              <a:t>Market Position and Coverage Angle  | 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22960"/>
            <a:ext cx="8686800" cy="530352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822960"/>
            <a:ext cx="8430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The data layer is being re-underwritten for AI — and the category’s scaled independents have consolidated into strategic and sponsor hands over the last 36 months, leaving GoldenSource one of the few remaining at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26464"/>
            <a:ext cx="49834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426464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MARKET CONTEXT AND DEMAND DRIVERS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1737360"/>
            <a:ext cx="494690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AI moved the buying centre.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Data governance is now a board line item rather than an operations budget, because model output is only as defensible as the data underneath it.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Regulatory and cost pressure is structural.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Rising vendor data costs, T+1, and widening entity, counterparty and ESG reporting obligations all reward a single mastered source.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Cloud re-platforming reopened a mature category.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Snowflake and Databricks made “where the data lives” a live decision again, and vendors that ship natively into those environments earn a second look.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Vendor consolidation cuts both ways.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Front-to-back platforms squeeze point solutions, but raise the premium on neutral, multi-vendor mastering that spans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426464"/>
            <a:ext cx="36118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59" y="142646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THE AI TRUST GAP — INVESTOPS 2026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368" y="1682496"/>
          <a:ext cx="3703320" cy="144475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228600" y="3218688"/>
            <a:ext cx="868680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218688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THE INDEPENDENTS HAVE CONSOLIDATED — SELECTED PRECEDENT TRANSACTIONS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2499" y="3712463"/>
            <a:ext cx="7239000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6779" y="3671315"/>
            <a:ext cx="91440" cy="91440"/>
          </a:xfrm>
          <a:prstGeom prst="ellipse">
            <a:avLst/>
          </a:prstGeom>
          <a:solidFill>
            <a:srgbClr val="24B1B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24B1B1"/>
                </a:solidFill>
                <a:latin typeface="Segoe UI Semibold"/>
              </a:rPr>
              <a:t>May-22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24B1B1"/>
                </a:solidFill>
                <a:latin typeface="Segoe UI Semibold"/>
              </a:rPr>
              <a:t>GoldenSource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Gemspring Capital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18" name="Oval 17"/>
          <p:cNvSpPr/>
          <p:nvPr/>
        </p:nvSpPr>
        <p:spPr>
          <a:xfrm>
            <a:off x="2354580" y="3671315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12976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Apr-23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12976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SimCorp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Deutsche Börse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€3.9B</a:t>
            </a:r>
          </a:p>
        </p:txBody>
      </p:sp>
      <p:sp>
        <p:nvSpPr>
          <p:cNvPr id="21" name="Oval 20"/>
          <p:cNvSpPr/>
          <p:nvPr/>
        </p:nvSpPr>
        <p:spPr>
          <a:xfrm>
            <a:off x="3802380" y="3671315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60776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Jul-24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0776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Gresham Technologies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STG, with Alveo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£141.9M</a:t>
            </a:r>
          </a:p>
        </p:txBody>
      </p:sp>
      <p:sp>
        <p:nvSpPr>
          <p:cNvPr id="24" name="Oval 23"/>
          <p:cNvSpPr/>
          <p:nvPr/>
        </p:nvSpPr>
        <p:spPr>
          <a:xfrm>
            <a:off x="5250180" y="3671315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Oct-24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8576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EZOPS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NeoXam (Eurazeo)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27" name="Oval 26"/>
          <p:cNvSpPr/>
          <p:nvPr/>
        </p:nvSpPr>
        <p:spPr>
          <a:xfrm>
            <a:off x="6697980" y="3671315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56376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Jan-25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6376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Enfusion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Clearwater Analytics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$1.5B</a:t>
            </a:r>
          </a:p>
        </p:txBody>
      </p:sp>
      <p:sp>
        <p:nvSpPr>
          <p:cNvPr id="30" name="Oval 29"/>
          <p:cNvSpPr/>
          <p:nvPr/>
        </p:nvSpPr>
        <p:spPr>
          <a:xfrm>
            <a:off x="8145779" y="3671315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04175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Jan-26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04175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S&amp;P EDM / thinkFolio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STG / Gresham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4590288"/>
            <a:ext cx="36118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4590288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COMPETITIVE LANDSCAPE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" y="4901183"/>
            <a:ext cx="3575304" cy="1453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Scaled strategics.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Bloomberg (Data License, PolarLake), FactSet, LSEG, SimCorp under Deutsche Börse, Clearwater after Enfusion.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Sponsor-backed independents.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Gresham under STG — now the consolidator; NeoXam under Eurazeo; Rimes, Xceptor, Duco, Solidatus.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Platform substitution.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In-house builds on Snowflake and Databricks lakehouses, packaged by integrators.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24B1B1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GoldenSource.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One of the few independent, cross-asset, multi-vendor masters left carrying both a buy-side and a sell-side installed base.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60520" y="4590288"/>
            <a:ext cx="47548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51959" y="459028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COVERAGE ANGLE — WHY NOW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8808" y="4901183"/>
            <a:ext cx="4718304" cy="1453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Hold period.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Gemspring entered in May 2022. At four-plus years and off a record 2025, GoldenSource is squarely in the window for a sponsor-to-sponsor or strategic process.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The story is fresh, not stale.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Scout, OMNI, V10 and the IBOR support a credible “modernised under this sponsor” narrative, with headcount up roughly 60% since close.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Scarcity.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With S&amp;P’s EDM franchise now inside STG/Gresham, the independent field is close to consolidated.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Test in diligence.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Licence versus services mix; cloud ARR share against on-premise maintenance; net revenue retention; and how much of Scout has shipped.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24B1B1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Houlihan Lokey is already in this market.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Rule 3 adviser to Gresham on its 2024 take-private by STG, and co-adviser to STG/Gresham on the 2026 S&amp;P EDM and thinkFolio carve-out.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6492240"/>
            <a:ext cx="7040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7E8597"/>
                </a:solidFill>
                <a:latin typeface="Segoe UI"/>
              </a:rPr>
              <a:t>Sources: Houlihan Lokey transaction disclosures; S&amp;P Global, Clearwater Analytics, Deutsche Börse and STG press releases; Businesswire; Finextra; A-Team Insight; InvestOps 2026 research cited by GoldenSource. Values as disclosed; n.d. = not disclosed. Ownership shown where publicly confirmed.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