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media/image3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3"/>
    <p:sldId id="257" r:id="rId2"/>
  </p:sldIdLst>
  <p:sldSz cx="9144000" cy="6858000" type="letter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11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7E8597"/>
              </a:solidFill>
            </c:spPr>
          </c:dPt>
          <c:dPt>
            <c:idx val="1"/>
            <c:spPr>
              <a:solidFill>
                <a:srgbClr val="002855"/>
              </a:solidFill>
            </c:spPr>
          </c:dPt>
          <c:cat>
            <c:strRef>
              <c:f>Sheet1!$A$2:$A$3</c:f>
              <c:strCache>
                <c:ptCount val="2"/>
                <c:pt idx="0">
                  <c:v>2022</c:v>
                </c:pt>
                <c:pt idx="1">
                  <c:v>2026E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380</c:v>
                </c:pt>
                <c:pt idx="1">
                  <c:v>620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800" b="1">
                  <a:solidFill>
                    <a:srgbClr val="002855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BCBFC6"/>
            </a:solidFill>
          </a:ln>
        </c:spPr>
        <c:txPr>
          <a:bodyPr/>
          <a:lstStyle/>
          <a:p>
            <a:pPr>
              <a:defRPr sz="750">
                <a:solidFill>
                  <a:srgbClr val="525766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sv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6.svg"/><Relationship Id="rId4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">
    <p:bg>
      <p:bgPr>
        <a:blipFill dpi="0" rotWithShape="1">
          <a:blip>
            <a:lum contrast="-3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EE0168A-2989-1295-CF19-94D494291656}"/>
              </a:ext>
            </a:extLst>
          </p:cNvPr>
          <p:cNvSpPr/>
          <p:nvPr/>
        </p:nvSpPr>
        <p:spPr>
          <a:xfrm>
            <a:off x="12191" y="-1"/>
            <a:ext cx="5047250" cy="26714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E773212-06D7-5234-7492-E9EFE3A5D56B}"/>
              </a:ext>
            </a:extLst>
          </p:cNvPr>
          <p:cNvSpPr/>
          <p:nvPr/>
        </p:nvSpPr>
        <p:spPr>
          <a:xfrm>
            <a:off x="0" y="0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E668351-DD66-6BDB-C68C-9E00B33166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3047999" cy="6858000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pic>
        <p:nvPicPr>
          <p:cNvPr id="6" name="Picture 5"/>
          <p:cNvPicPr>
            <a:picLocks/>
          </p:cNvPicPr>
          <p:nvPr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 bwMode="white">
          <a:xfrm>
            <a:off x="1010739" y="1331649"/>
            <a:ext cx="6099048" cy="41946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044951" y="4078224"/>
            <a:ext cx="3374136" cy="365760"/>
          </a:xfrm>
          <a:noFill/>
          <a:ln>
            <a:noFill/>
          </a:ln>
        </p:spPr>
        <p:txBody>
          <a:bodyPr wrap="square" lIns="0" tIns="182880" rIns="0" bIns="0">
            <a:spAutoFit/>
          </a:bodyPr>
          <a:lstStyle>
            <a:lvl1pPr>
              <a:defRPr sz="2400" b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044952" y="4791456"/>
            <a:ext cx="3374136" cy="257058"/>
          </a:xfrm>
        </p:spPr>
        <p:txBody>
          <a:bodyPr wrap="square">
            <a:spAutoFit/>
          </a:bodyPr>
          <a:lstStyle>
            <a:lvl1pPr marL="0" indent="0" algn="l">
              <a:buNone/>
              <a:defRPr sz="1600" b="0" cap="none" spc="0" baseline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Subtitle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>
            <a:off x="1014984" y="557784"/>
            <a:ext cx="1737360" cy="219456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>
              <a:defRPr lang="en-US" sz="1400">
                <a:solidFill>
                  <a:schemeClr val="tx2"/>
                </a:solidFill>
              </a:defRPr>
            </a:lvl1pPr>
          </a:lstStyle>
          <a:p>
            <a:fld id="{6F840CD7-8D22-4AAF-BBD3-CC800D806532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1681D7-ADF0-712D-804F-64AA33B1A4C3}"/>
              </a:ext>
            </a:extLst>
          </p:cNvPr>
          <p:cNvSpPr txBox="1"/>
          <p:nvPr/>
        </p:nvSpPr>
        <p:spPr>
          <a:xfrm>
            <a:off x="1014984" y="6388628"/>
            <a:ext cx="2843784" cy="173736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>
              <a:buSzPct val="100000"/>
            </a:pPr>
            <a:r>
              <a:rPr lang="en-GB" sz="1100" dirty="0">
                <a:solidFill>
                  <a:schemeClr val="accent3"/>
                </a:solidFill>
              </a:rPr>
              <a:t>Strictly Confidential. Not for Distribution.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D5625E4-9E71-4871-1681-CBA75449C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86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6572" y="438912"/>
            <a:ext cx="5724144" cy="1581912"/>
          </a:xfrm>
        </p:spPr>
        <p:txBody>
          <a:bodyPr tIns="0" rIns="0" bIns="0" anchor="b" anchorCtr="0"/>
          <a:lstStyle>
            <a:lvl1pPr algn="l">
              <a:defRPr sz="2200" b="1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"/>
            </p:custDataLst>
          </p:nvPr>
        </p:nvSpPr>
        <p:spPr>
          <a:xfrm>
            <a:off x="766572" y="2404872"/>
            <a:ext cx="5689736" cy="283464"/>
          </a:xfrm>
        </p:spPr>
        <p:txBody>
          <a:bodyPr anchor="b">
            <a:no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7" name="Straight Connector 6"/>
          <p:cNvCxnSpPr/>
          <p:nvPr>
            <p:custDataLst>
              <p:tags r:id="rId2"/>
            </p:custDataLst>
          </p:nvPr>
        </p:nvCxnSpPr>
        <p:spPr>
          <a:xfrm>
            <a:off x="774725" y="2199780"/>
            <a:ext cx="56739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3116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hapter_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2DA67EB-C05C-B0E7-6D0A-63E5D3D5A320}"/>
              </a:ext>
            </a:extLst>
          </p:cNvPr>
          <p:cNvSpPr/>
          <p:nvPr/>
        </p:nvSpPr>
        <p:spPr>
          <a:xfrm>
            <a:off x="0" y="-1"/>
            <a:ext cx="3044952" cy="1335024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4F88748-AF38-092E-3E1B-38E5037EA6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1876" y="217805"/>
            <a:ext cx="1984248" cy="898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442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i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6728FD6-2F3F-4E1D-20F0-3855A12B291B}"/>
              </a:ext>
            </a:extLst>
          </p:cNvPr>
          <p:cNvSpPr/>
          <p:nvPr/>
        </p:nvSpPr>
        <p:spPr>
          <a:xfrm>
            <a:off x="2928530" y="1188602"/>
            <a:ext cx="6215470" cy="1691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4C5FCFB-FB73-CD55-5ABC-8638625B4789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14996"/>
          <a:stretch/>
        </p:blipFill>
        <p:spPr>
          <a:xfrm flipH="1">
            <a:off x="5867400" y="5003869"/>
            <a:ext cx="3276600" cy="185413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76600" y="3285545"/>
            <a:ext cx="5486400" cy="3320399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100" dirty="0" smtClean="0">
                <a:solidFill>
                  <a:schemeClr val="tx1"/>
                </a:solidFill>
              </a:defRPr>
            </a:lvl1pPr>
            <a:lvl2pPr>
              <a:buClrTx/>
              <a:defRPr lang="en-US" sz="1100" dirty="0" smtClean="0">
                <a:solidFill>
                  <a:schemeClr val="tx1"/>
                </a:solidFill>
              </a:defRPr>
            </a:lvl2pPr>
            <a:lvl3pPr>
              <a:buClrTx/>
              <a:defRPr lang="en-US" sz="1100" dirty="0" smtClean="0">
                <a:solidFill>
                  <a:schemeClr val="tx1"/>
                </a:solidFill>
              </a:defRPr>
            </a:lvl3pPr>
            <a:lvl4pPr>
              <a:buClrTx/>
              <a:defRPr lang="en-US" sz="1100" dirty="0" smtClean="0">
                <a:solidFill>
                  <a:schemeClr val="tx1"/>
                </a:solidFill>
              </a:defRPr>
            </a:lvl4pPr>
            <a:lvl5pPr>
              <a:buClrTx/>
              <a:defRPr lang="en-US" sz="11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8" name="Title 57"/>
          <p:cNvSpPr>
            <a:spLocks noGrp="1"/>
          </p:cNvSpPr>
          <p:nvPr>
            <p:ph type="title" hasCustomPrompt="1"/>
          </p:nvPr>
        </p:nvSpPr>
        <p:spPr>
          <a:xfrm>
            <a:off x="3394075" y="1257272"/>
            <a:ext cx="5368924" cy="56215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 dirty="0" err="1"/>
              <a:t>Firstname</a:t>
            </a:r>
            <a:r>
              <a:rPr lang="en-US" dirty="0"/>
              <a:t> </a:t>
            </a:r>
            <a:r>
              <a:rPr lang="en-US" dirty="0" err="1"/>
              <a:t>Lastname</a:t>
            </a:r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3394075" y="1860962"/>
            <a:ext cx="5368924" cy="501238"/>
          </a:xfrm>
        </p:spPr>
        <p:txBody>
          <a:bodyPr>
            <a:noAutofit/>
          </a:bodyPr>
          <a:lstStyle>
            <a:lvl1pPr marL="0" indent="0">
              <a:lnSpc>
                <a:spcPct val="105000"/>
              </a:lnSpc>
              <a:spcAft>
                <a:spcPts val="0"/>
              </a:spcAft>
              <a:buNone/>
              <a:defRPr sz="1300" b="1">
                <a:solidFill>
                  <a:schemeClr val="bg1"/>
                </a:solidFill>
              </a:defRPr>
            </a:lvl1pPr>
            <a:lvl2pPr marL="0" indent="0">
              <a:lnSpc>
                <a:spcPct val="105000"/>
              </a:lnSpc>
              <a:spcAft>
                <a:spcPts val="0"/>
              </a:spcAft>
              <a:buNone/>
              <a:defRPr sz="1300" b="0" cap="all" baseline="0">
                <a:solidFill>
                  <a:schemeClr val="accent1"/>
                </a:solidFill>
              </a:defRPr>
            </a:lvl2pPr>
          </a:lstStyle>
          <a:p>
            <a:pPr lvl="0"/>
            <a:r>
              <a:rPr lang="en-US" dirty="0"/>
              <a:t>Primary Role</a:t>
            </a:r>
          </a:p>
          <a:p>
            <a:pPr lvl="1"/>
            <a:r>
              <a:rPr lang="en-US" dirty="0"/>
              <a:t>Group or Office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14D28F-FBD0-02E9-AC83-D474BBED0CB4}"/>
              </a:ext>
            </a:extLst>
          </p:cNvPr>
          <p:cNvSpPr/>
          <p:nvPr/>
        </p:nvSpPr>
        <p:spPr>
          <a:xfrm>
            <a:off x="0" y="1188602"/>
            <a:ext cx="1046398" cy="1691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450C8202-8F74-2924-34B5-4B1481E6F0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0D8C699-CF06-FD34-31F8-9259C341F7C8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437A7F6A-1AC6-632C-873F-87D2ADD11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67B6D7-B70B-6955-3792-EE9BD952417F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894F1CB-78F6-BE01-43AB-9F391D64BE09}"/>
              </a:ext>
            </a:extLst>
          </p:cNvPr>
          <p:cNvSpPr txBox="1"/>
          <p:nvPr/>
        </p:nvSpPr>
        <p:spPr>
          <a:xfrm>
            <a:off x="1598058" y="3299834"/>
            <a:ext cx="1229504" cy="15388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0" lvl="0" algn="r"/>
            <a:r>
              <a:rPr lang="en-US" sz="1000" b="1" kern="1200" spc="1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QUALIFICATIONS</a:t>
            </a:r>
          </a:p>
        </p:txBody>
      </p:sp>
    </p:spTree>
    <p:extLst>
      <p:ext uri="{BB962C8B-B14F-4D97-AF65-F5344CB8AC3E}">
        <p14:creationId xmlns:p14="http://schemas.microsoft.com/office/powerpoint/2010/main" val="1719315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035485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39084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77CC17-D37E-BDEC-935F-C3D3950B9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CBE0CFC2-5E19-470E-2B63-8FED66D2A0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057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4228A951-9461-5506-B323-B16B5C8037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54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452628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D2691EF-A53C-C846-79C9-E47DEBAF3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132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4D5EC5B-D34D-EF90-121A-F9296D605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786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408CDB2-F5FA-B6B9-0B02-DA27ECEC13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450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F4B34A95-7314-A4FC-D826-E373A5B0E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556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1D9A41C-26B2-27BB-CA27-980E069AEE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615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263D4F69-49C5-97C5-2A5D-290826247C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7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DDE95835-E1F0-853E-E2CE-05F99D5E21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1460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3409A97-1FFC-1428-59C8-325E422EFB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7305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0991CC7B-2E94-1B0F-E1B4-064322FD8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850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47CD7CD-310D-068D-F3C5-5EE8F50A77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8051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589788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EECFC77A-0689-575B-D670-2B9445156A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0511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86070-FE35-CDF7-C205-C4FC09A711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Disclaimer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AB2AC0-9514-FFFA-3AE3-67832DFC14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4EF5080E-69E4-582A-D201-90AD2B4D7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021080"/>
            <a:ext cx="8686800" cy="5074920"/>
          </a:xfrm>
        </p:spPr>
        <p:txBody>
          <a:bodyPr/>
          <a:lstStyle/>
          <a:p>
            <a:pPr lvl="0">
              <a:lnSpc>
                <a:spcPct val="110000"/>
              </a:lnSpc>
            </a:pPr>
            <a:r>
              <a:rPr lang="en-US"/>
              <a:t>Click to edit Master text styles</a:t>
            </a:r>
          </a:p>
          <a:p>
            <a:pPr lvl="1">
              <a:lnSpc>
                <a:spcPct val="110000"/>
              </a:lnSpc>
            </a:pPr>
            <a:r>
              <a:rPr lang="en-US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/>
              <a:t>Fourth level</a:t>
            </a:r>
          </a:p>
          <a:p>
            <a:pPr lvl="4">
              <a:lnSpc>
                <a:spcPct val="110000"/>
              </a:lnSpc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2812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5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5926714-CC3F-8D87-9D1F-F3DB8C244F94}"/>
              </a:ext>
            </a:extLst>
          </p:cNvPr>
          <p:cNvSpPr/>
          <p:nvPr/>
        </p:nvSpPr>
        <p:spPr>
          <a:xfrm>
            <a:off x="0" y="-1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3CAA4D3A-A561-A3C3-0189-D177AD1AE83E}"/>
              </a:ext>
            </a:extLst>
          </p:cNvPr>
          <p:cNvPicPr>
            <a:picLocks/>
          </p:cNvPicPr>
          <p:nvPr userDrawn="1"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white">
          <a:xfrm>
            <a:off x="1010738" y="1331649"/>
            <a:ext cx="8133261" cy="552635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6A81ACD-1C1D-67B8-6162-8C703906709A}"/>
              </a:ext>
            </a:extLst>
          </p:cNvPr>
          <p:cNvCxnSpPr/>
          <p:nvPr/>
        </p:nvCxnSpPr>
        <p:spPr>
          <a:xfrm flipV="1">
            <a:off x="6102045" y="5522976"/>
            <a:ext cx="0" cy="1335024"/>
          </a:xfrm>
          <a:prstGeom prst="straightConnector1">
            <a:avLst/>
          </a:prstGeom>
          <a:ln w="12700">
            <a:solidFill>
              <a:schemeClr val="bg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D7FCD07F-B1C1-4F0F-EDF2-F240BDEB947D}"/>
              </a:ext>
            </a:extLst>
          </p:cNvPr>
          <p:cNvSpPr/>
          <p:nvPr/>
        </p:nvSpPr>
        <p:spPr>
          <a:xfrm>
            <a:off x="6235815" y="5486400"/>
            <a:ext cx="2441448" cy="11255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CORPORATE FINANCE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RESTRUCTURING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AND VALUATION ADVISORY</a:t>
            </a:r>
            <a:b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</a:br>
            <a:endParaRPr kumimoji="0" lang="en-US" sz="1000" b="0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HL.com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2A3B9C3-D5AA-0AB0-815C-F77426821E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6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tags" Target="../tags/tag1.xml"/><Relationship Id="rId23" Type="http://schemas.openxmlformats.org/officeDocument/2006/relationships/tags" Target="../tags/tag2.xml"/><Relationship Id="rId24" Type="http://schemas.openxmlformats.org/officeDocument/2006/relationships/oleObject" Target="../embeddings/oleObject1.bin"/><Relationship Id="rId25" Type="http://schemas.openxmlformats.org/officeDocument/2006/relationships/image" Target="../media/image1.emf"/><Relationship Id="rId26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22"/>
            </p:custDataLst>
            <p:extLst>
              <p:ext uri="{D42A27DB-BD31-4B8C-83A1-F6EECF244321}">
                <p14:modId xmlns:p14="http://schemas.microsoft.com/office/powerpoint/2010/main" val="371747754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4" imgW="270" imgH="270" progId="TCLayout.ActiveDocument.1">
                  <p:embed/>
                </p:oleObj>
              </mc:Choice>
              <mc:Fallback>
                <p:oleObj name="think-cell Slide" r:id="rId24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id" hidden="1"/>
          <p:cNvGrpSpPr/>
          <p:nvPr>
            <p:custDataLst>
              <p:tags r:id="rId23"/>
            </p:custDataLst>
          </p:nvPr>
        </p:nvGrpSpPr>
        <p:grpSpPr>
          <a:xfrm>
            <a:off x="-714726" y="-1858282"/>
            <a:ext cx="10573101" cy="10608018"/>
            <a:chOff x="-714726" y="-1858282"/>
            <a:chExt cx="10573101" cy="10608018"/>
          </a:xfrm>
        </p:grpSpPr>
        <p:sp>
          <p:nvSpPr>
            <p:cNvPr id="9" name="Line 5" hidden="1"/>
            <p:cNvSpPr>
              <a:spLocks noChangeShapeType="1"/>
            </p:cNvSpPr>
            <p:nvPr/>
          </p:nvSpPr>
          <p:spPr bwMode="auto">
            <a:xfrm>
              <a:off x="279062" y="1523284"/>
              <a:ext cx="8617756" cy="0"/>
            </a:xfrm>
            <a:prstGeom prst="line">
              <a:avLst/>
            </a:prstGeom>
            <a:noFill/>
            <a:ln w="11113" cap="flat">
              <a:solidFill>
                <a:srgbClr val="DCD5CE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7" hidden="1"/>
            <p:cNvSpPr>
              <a:spLocks noChangeShapeType="1"/>
            </p:cNvSpPr>
            <p:nvPr/>
          </p:nvSpPr>
          <p:spPr bwMode="auto">
            <a:xfrm flipH="1">
              <a:off x="-714726" y="50800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8" hidden="1"/>
            <p:cNvSpPr>
              <a:spLocks noChangeShapeType="1"/>
            </p:cNvSpPr>
            <p:nvPr/>
          </p:nvSpPr>
          <p:spPr bwMode="auto">
            <a:xfrm flipH="1">
              <a:off x="-714726" y="76182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9" hidden="1"/>
            <p:cNvSpPr>
              <a:spLocks noChangeShapeType="1"/>
            </p:cNvSpPr>
            <p:nvPr/>
          </p:nvSpPr>
          <p:spPr bwMode="auto">
            <a:xfrm flipH="1">
              <a:off x="-714726" y="101564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0" hidden="1"/>
            <p:cNvSpPr>
              <a:spLocks noChangeShapeType="1"/>
            </p:cNvSpPr>
            <p:nvPr/>
          </p:nvSpPr>
          <p:spPr bwMode="auto">
            <a:xfrm flipH="1">
              <a:off x="-714726" y="126946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1" hidden="1"/>
            <p:cNvSpPr>
              <a:spLocks noChangeShapeType="1"/>
            </p:cNvSpPr>
            <p:nvPr/>
          </p:nvSpPr>
          <p:spPr bwMode="auto">
            <a:xfrm flipH="1">
              <a:off x="-714726" y="152328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2" hidden="1"/>
            <p:cNvSpPr>
              <a:spLocks noChangeShapeType="1"/>
            </p:cNvSpPr>
            <p:nvPr/>
          </p:nvSpPr>
          <p:spPr bwMode="auto">
            <a:xfrm flipH="1">
              <a:off x="-714726" y="177710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3" hidden="1"/>
            <p:cNvSpPr>
              <a:spLocks noChangeShapeType="1"/>
            </p:cNvSpPr>
            <p:nvPr/>
          </p:nvSpPr>
          <p:spPr bwMode="auto">
            <a:xfrm flipH="1">
              <a:off x="-714726" y="20309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4" hidden="1"/>
            <p:cNvSpPr>
              <a:spLocks noChangeShapeType="1"/>
            </p:cNvSpPr>
            <p:nvPr/>
          </p:nvSpPr>
          <p:spPr bwMode="auto">
            <a:xfrm flipH="1">
              <a:off x="-714726" y="253990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5" hidden="1"/>
            <p:cNvSpPr>
              <a:spLocks noChangeShapeType="1"/>
            </p:cNvSpPr>
            <p:nvPr/>
          </p:nvSpPr>
          <p:spPr bwMode="auto">
            <a:xfrm flipH="1">
              <a:off x="-714726" y="27937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6" hidden="1"/>
            <p:cNvSpPr>
              <a:spLocks noChangeShapeType="1"/>
            </p:cNvSpPr>
            <p:nvPr/>
          </p:nvSpPr>
          <p:spPr bwMode="auto">
            <a:xfrm flipH="1">
              <a:off x="-714726" y="304754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7" hidden="1"/>
            <p:cNvSpPr>
              <a:spLocks noChangeShapeType="1"/>
            </p:cNvSpPr>
            <p:nvPr/>
          </p:nvSpPr>
          <p:spPr bwMode="auto">
            <a:xfrm flipH="1">
              <a:off x="-714726" y="330135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8" hidden="1"/>
            <p:cNvSpPr>
              <a:spLocks noChangeShapeType="1"/>
            </p:cNvSpPr>
            <p:nvPr/>
          </p:nvSpPr>
          <p:spPr bwMode="auto">
            <a:xfrm flipH="1">
              <a:off x="-714726" y="355517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9" hidden="1"/>
            <p:cNvSpPr>
              <a:spLocks noChangeShapeType="1"/>
            </p:cNvSpPr>
            <p:nvPr/>
          </p:nvSpPr>
          <p:spPr bwMode="auto">
            <a:xfrm flipH="1">
              <a:off x="-714726" y="380899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20" hidden="1"/>
            <p:cNvSpPr>
              <a:spLocks noChangeShapeType="1"/>
            </p:cNvSpPr>
            <p:nvPr/>
          </p:nvSpPr>
          <p:spPr bwMode="auto">
            <a:xfrm flipH="1">
              <a:off x="-714726" y="406281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21" hidden="1"/>
            <p:cNvSpPr>
              <a:spLocks noChangeShapeType="1"/>
            </p:cNvSpPr>
            <p:nvPr/>
          </p:nvSpPr>
          <p:spPr bwMode="auto">
            <a:xfrm flipH="1">
              <a:off x="-714726" y="43166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2" hidden="1"/>
            <p:cNvSpPr>
              <a:spLocks noChangeShapeType="1"/>
            </p:cNvSpPr>
            <p:nvPr/>
          </p:nvSpPr>
          <p:spPr bwMode="auto">
            <a:xfrm flipH="1">
              <a:off x="-714726" y="482561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3" hidden="1"/>
            <p:cNvSpPr>
              <a:spLocks noChangeShapeType="1"/>
            </p:cNvSpPr>
            <p:nvPr/>
          </p:nvSpPr>
          <p:spPr bwMode="auto">
            <a:xfrm flipH="1">
              <a:off x="-714726" y="50794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4" hidden="1"/>
            <p:cNvSpPr>
              <a:spLocks noChangeShapeType="1"/>
            </p:cNvSpPr>
            <p:nvPr/>
          </p:nvSpPr>
          <p:spPr bwMode="auto">
            <a:xfrm flipH="1">
              <a:off x="-714726" y="533325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5" hidden="1"/>
            <p:cNvSpPr>
              <a:spLocks noChangeShapeType="1"/>
            </p:cNvSpPr>
            <p:nvPr/>
          </p:nvSpPr>
          <p:spPr bwMode="auto">
            <a:xfrm flipH="1">
              <a:off x="-714726" y="558707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26" hidden="1"/>
            <p:cNvSpPr>
              <a:spLocks noChangeShapeType="1"/>
            </p:cNvSpPr>
            <p:nvPr/>
          </p:nvSpPr>
          <p:spPr bwMode="auto">
            <a:xfrm flipH="1">
              <a:off x="-714726" y="584089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27" hidden="1"/>
            <p:cNvSpPr>
              <a:spLocks noChangeShapeType="1"/>
            </p:cNvSpPr>
            <p:nvPr/>
          </p:nvSpPr>
          <p:spPr bwMode="auto">
            <a:xfrm flipH="1">
              <a:off x="-714726" y="609471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Line 28" hidden="1"/>
            <p:cNvSpPr>
              <a:spLocks noChangeShapeType="1"/>
            </p:cNvSpPr>
            <p:nvPr/>
          </p:nvSpPr>
          <p:spPr bwMode="auto">
            <a:xfrm flipH="1">
              <a:off x="-714726" y="634852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Line 29" hidden="1"/>
            <p:cNvSpPr>
              <a:spLocks noChangeShapeType="1"/>
            </p:cNvSpPr>
            <p:nvPr/>
          </p:nvSpPr>
          <p:spPr bwMode="auto">
            <a:xfrm flipV="1">
              <a:off x="761184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Line 30" hidden="1"/>
            <p:cNvSpPr>
              <a:spLocks noChangeShapeType="1"/>
            </p:cNvSpPr>
            <p:nvPr/>
          </p:nvSpPr>
          <p:spPr bwMode="auto">
            <a:xfrm flipV="1">
              <a:off x="152398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Line 31" hidden="1"/>
            <p:cNvSpPr>
              <a:spLocks noChangeShapeType="1"/>
            </p:cNvSpPr>
            <p:nvPr/>
          </p:nvSpPr>
          <p:spPr bwMode="auto">
            <a:xfrm flipV="1">
              <a:off x="3048240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Line 32" hidden="1"/>
            <p:cNvSpPr>
              <a:spLocks noChangeShapeType="1"/>
            </p:cNvSpPr>
            <p:nvPr/>
          </p:nvSpPr>
          <p:spPr bwMode="auto">
            <a:xfrm flipV="1">
              <a:off x="380969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Line 33" hidden="1"/>
            <p:cNvSpPr>
              <a:spLocks noChangeShapeType="1"/>
            </p:cNvSpPr>
            <p:nvPr/>
          </p:nvSpPr>
          <p:spPr bwMode="auto">
            <a:xfrm flipV="1">
              <a:off x="533395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34" hidden="1"/>
            <p:cNvSpPr>
              <a:spLocks noChangeShapeType="1"/>
            </p:cNvSpPr>
            <p:nvPr/>
          </p:nvSpPr>
          <p:spPr bwMode="auto">
            <a:xfrm flipV="1">
              <a:off x="6095409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Line 35" hidden="1"/>
            <p:cNvSpPr>
              <a:spLocks noChangeShapeType="1"/>
            </p:cNvSpPr>
            <p:nvPr/>
          </p:nvSpPr>
          <p:spPr bwMode="auto">
            <a:xfrm flipV="1">
              <a:off x="761966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36" hidden="1"/>
            <p:cNvSpPr>
              <a:spLocks noChangeShapeType="1"/>
            </p:cNvSpPr>
            <p:nvPr/>
          </p:nvSpPr>
          <p:spPr bwMode="auto">
            <a:xfrm flipV="1">
              <a:off x="8382465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Freeform 37" hidden="1"/>
            <p:cNvSpPr>
              <a:spLocks/>
            </p:cNvSpPr>
            <p:nvPr/>
          </p:nvSpPr>
          <p:spPr bwMode="auto">
            <a:xfrm>
              <a:off x="-273" y="2291455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Freeform 40" hidden="1"/>
            <p:cNvSpPr>
              <a:spLocks/>
            </p:cNvSpPr>
            <p:nvPr/>
          </p:nvSpPr>
          <p:spPr bwMode="auto">
            <a:xfrm>
              <a:off x="-273" y="4577168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Freeform 41" hidden="1"/>
            <p:cNvSpPr>
              <a:spLocks/>
            </p:cNvSpPr>
            <p:nvPr/>
          </p:nvSpPr>
          <p:spPr bwMode="auto">
            <a:xfrm>
              <a:off x="2280068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Freeform 43" hidden="1"/>
            <p:cNvSpPr>
              <a:spLocks/>
            </p:cNvSpPr>
            <p:nvPr/>
          </p:nvSpPr>
          <p:spPr bwMode="auto">
            <a:xfrm>
              <a:off x="4565781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Freeform 45" hidden="1"/>
            <p:cNvSpPr>
              <a:spLocks/>
            </p:cNvSpPr>
            <p:nvPr/>
          </p:nvSpPr>
          <p:spPr bwMode="auto">
            <a:xfrm>
              <a:off x="6851494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45" name="Group 44" hidden="1"/>
            <p:cNvGrpSpPr/>
            <p:nvPr/>
          </p:nvGrpSpPr>
          <p:grpSpPr>
            <a:xfrm>
              <a:off x="-257908" y="2291455"/>
              <a:ext cx="9703057" cy="2285713"/>
              <a:chOff x="-1435894" y="2293837"/>
              <a:chExt cx="11291583" cy="2285713"/>
            </a:xfrm>
          </p:grpSpPr>
          <p:sp>
            <p:nvSpPr>
              <p:cNvPr id="54" name="Line 38" hidden="1"/>
              <p:cNvSpPr>
                <a:spLocks noChangeShapeType="1"/>
              </p:cNvSpPr>
              <p:nvPr/>
            </p:nvSpPr>
            <p:spPr bwMode="auto">
              <a:xfrm>
                <a:off x="-1435894" y="2293837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5" name="Line 40" hidden="1"/>
              <p:cNvSpPr>
                <a:spLocks noChangeShapeType="1"/>
              </p:cNvSpPr>
              <p:nvPr/>
            </p:nvSpPr>
            <p:spPr bwMode="auto">
              <a:xfrm>
                <a:off x="-1435894" y="4579550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46" name="Group 45" hidden="1"/>
            <p:cNvGrpSpPr/>
            <p:nvPr/>
          </p:nvGrpSpPr>
          <p:grpSpPr>
            <a:xfrm>
              <a:off x="2280068" y="-375658"/>
              <a:ext cx="4571426" cy="7722004"/>
              <a:chOff x="2280068" y="-1991539"/>
              <a:chExt cx="4571426" cy="10958530"/>
            </a:xfrm>
          </p:grpSpPr>
          <p:sp>
            <p:nvSpPr>
              <p:cNvPr id="51" name="Line 42" hidden="1"/>
              <p:cNvSpPr>
                <a:spLocks noChangeShapeType="1"/>
              </p:cNvSpPr>
              <p:nvPr/>
            </p:nvSpPr>
            <p:spPr bwMode="auto">
              <a:xfrm>
                <a:off x="2280068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2" name="Line 44" hidden="1"/>
              <p:cNvSpPr>
                <a:spLocks noChangeShapeType="1"/>
              </p:cNvSpPr>
              <p:nvPr/>
            </p:nvSpPr>
            <p:spPr bwMode="auto">
              <a:xfrm>
                <a:off x="4565781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3" name="Line 46" hidden="1"/>
              <p:cNvSpPr>
                <a:spLocks noChangeShapeType="1"/>
              </p:cNvSpPr>
              <p:nvPr/>
            </p:nvSpPr>
            <p:spPr bwMode="auto">
              <a:xfrm>
                <a:off x="6851494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47" name="Rectangle 47"/>
            <p:cNvSpPr>
              <a:spLocks noChangeArrowheads="1"/>
            </p:cNvSpPr>
            <p:nvPr/>
          </p:nvSpPr>
          <p:spPr bwMode="auto">
            <a:xfrm>
              <a:off x="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Rectangle 48"/>
            <p:cNvSpPr>
              <a:spLocks noChangeArrowheads="1"/>
            </p:cNvSpPr>
            <p:nvPr/>
          </p:nvSpPr>
          <p:spPr bwMode="auto">
            <a:xfrm>
              <a:off x="891540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Rectangle 49"/>
            <p:cNvSpPr>
              <a:spLocks noChangeArrowheads="1"/>
            </p:cNvSpPr>
            <p:nvPr/>
          </p:nvSpPr>
          <p:spPr bwMode="auto">
            <a:xfrm>
              <a:off x="-273" y="0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Rectangle 50"/>
            <p:cNvSpPr>
              <a:spLocks noChangeArrowheads="1"/>
            </p:cNvSpPr>
            <p:nvPr/>
          </p:nvSpPr>
          <p:spPr bwMode="auto">
            <a:xfrm>
              <a:off x="-273" y="6604181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  <a:prstGeom prst="rect">
            <a:avLst/>
          </a:prstGeom>
        </p:spPr>
        <p:txBody>
          <a:bodyPr vert="horz" lIns="0" tIns="45720" rIns="91440" bIns="45720" rtlCol="0" anchor="b">
            <a:no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" y="1058846"/>
            <a:ext cx="8686800" cy="5029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sz="1100" dirty="0"/>
          </a:p>
        </p:txBody>
      </p:sp>
      <p:sp>
        <p:nvSpPr>
          <p:cNvPr id="5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7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56" name="Table 55" hidden="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59362"/>
              </p:ext>
            </p:extLst>
          </p:nvPr>
        </p:nvGraphicFramePr>
        <p:xfrm>
          <a:off x="0" y="579422"/>
          <a:ext cx="9146782" cy="552558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228600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</a:tblGrid>
              <a:tr h="47078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7D4CCBF-7967-1BFA-E29B-A7B175929DD0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Picture 62">
            <a:extLst>
              <a:ext uri="{FF2B5EF4-FFF2-40B4-BE49-F238E27FC236}">
                <a16:creationId xmlns:a16="http://schemas.microsoft.com/office/drawing/2014/main" id="{D9DC170F-5C10-FAAE-F8BC-21455BBB571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2BD50ED-C5F0-E50F-0C14-54B536E682C0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565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  <p:sldLayoutId id="2147483691" r:id="rId19"/>
    <p:sldLayoutId id="2147483692" r:id="rId20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1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SzPct val="100000"/>
        <a:buFont typeface="Wingdings 2" panose="05020102010507070707" pitchFamily="18" charset="2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ymbol" panose="05050102010706020507" pitchFamily="18" charset="2"/>
        <a:buChar char="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·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594360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713232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832104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950976" indent="-112713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1">
          <p15:clr>
            <a:srgbClr val="F26B43"/>
          </p15:clr>
        </p15:guide>
        <p15:guide id="3" pos="1446">
          <p15:clr>
            <a:srgbClr val="F26B43"/>
          </p15:clr>
        </p15:guide>
        <p15:guide id="4" pos="2880">
          <p15:clr>
            <a:srgbClr val="F26B43"/>
          </p15:clr>
        </p15:guide>
        <p15:guide id="5" pos="4313">
          <p15:clr>
            <a:srgbClr val="F26B43"/>
          </p15:clr>
        </p15:guide>
        <p15:guide id="6" orient="horz" pos="4061">
          <p15:clr>
            <a:srgbClr val="F26B43"/>
          </p15:clr>
        </p15:guide>
        <p15:guide id="7" pos="144">
          <p15:clr>
            <a:srgbClr val="F26B43"/>
          </p15:clr>
        </p15:guide>
        <p15:guide id="8" pos="5616">
          <p15:clr>
            <a:srgbClr val="F26B43"/>
          </p15:clr>
        </p15:guide>
        <p15:guide id="9" orient="horz" pos="156">
          <p15:clr>
            <a:srgbClr val="F26B43"/>
          </p15:clr>
        </p15:guide>
        <p15:guide id="10" orient="horz" pos="4140">
          <p15:clr>
            <a:srgbClr val="F26B43"/>
          </p15:clr>
        </p15:guide>
        <p15:guide id="11" orient="horz" pos="508">
          <p15:clr>
            <a:srgbClr val="F26B43"/>
          </p15:clr>
        </p15:guide>
        <p15:guide id="12" orient="horz" pos="2886">
          <p15:clr>
            <a:srgbClr val="F26B43"/>
          </p15:clr>
        </p15:guide>
        <p15:guide id="13" orient="horz" pos="1443">
          <p15:clr>
            <a:srgbClr val="F26B43"/>
          </p15:clr>
        </p15:guide>
        <p15:guide id="14" orient="horz" pos="3840">
          <p15:clr>
            <a:srgbClr val="F26B43"/>
          </p15:clr>
        </p15:guide>
        <p15:guide id="15" orient="horz" pos="216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1800" b="1">
                <a:solidFill>
                  <a:srgbClr val="002855"/>
                </a:solidFill>
                <a:latin typeface="Segoe UI Semibold"/>
              </a:rPr>
              <a:t>GoldenSource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0" y="365760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7E8597"/>
                </a:solidFill>
                <a:latin typeface="Segoe UI"/>
              </a:rPr>
              <a:t>Coverage Profile  |  Data &amp; Analytics  |  July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22960"/>
            <a:ext cx="8686800" cy="530352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822960"/>
            <a:ext cx="8430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Forty-year enterprise data management franchise for capital markets — sponsor-owned since 2022, coming off a record 2025, and now repositioning its governed data layer as the control plane for AI in financial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426464"/>
            <a:ext cx="8686800" cy="12801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" y="1490472"/>
            <a:ext cx="191566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02855"/>
                </a:solidFill>
                <a:latin typeface="Segoe UI Semibold"/>
              </a:rPr>
              <a:t>1984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" y="1709928"/>
            <a:ext cx="1915667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Founded — over 40 years in capital markets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2400300" y="1499616"/>
            <a:ext cx="7315" cy="420624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28316" y="1490472"/>
            <a:ext cx="191566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02855"/>
                </a:solidFill>
                <a:latin typeface="Segoe UI Semibold"/>
              </a:rPr>
              <a:t>100+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28316" y="1709928"/>
            <a:ext cx="1915667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Pre-built vendor data feeds and adaptors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499616"/>
            <a:ext cx="7315" cy="420624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0016" y="1490472"/>
            <a:ext cx="191566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02855"/>
                </a:solidFill>
                <a:latin typeface="Segoe UI Semibol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1709928"/>
            <a:ext cx="1915667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Offices across North America, EMEA and APAC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43700" y="1499616"/>
            <a:ext cx="7315" cy="420624"/>
          </a:xfrm>
          <a:prstGeom prst="rect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1716" y="1490472"/>
            <a:ext cx="191566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02855"/>
                </a:solidFill>
                <a:latin typeface="Segoe UI Semibold"/>
              </a:rPr>
              <a:t>4 yrs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709928"/>
            <a:ext cx="1915667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Gemspring Capital hold period to 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2048256"/>
            <a:ext cx="498348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048256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COMPANY 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" y="2359152"/>
            <a:ext cx="4946904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Founded in 1984 and headquartered in New York, GoldenSource is one of the original enterprise data management (EDM) vendors in capital markets and is widely credited with defining the category.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Masters, governs and distributes securities, entity, counterparty, client, pricing, position, corporate-action and ESG data for banks, asset managers and insurers.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One platform, two go-to-market lenses: the </a:t>
            </a:r>
            <a:r>
              <a:rPr sz="800" b="1" i="0">
                <a:solidFill>
                  <a:srgbClr val="002855"/>
                </a:solidFill>
                <a:latin typeface="Segoe UI Semibold"/>
              </a:rPr>
              <a:t>Investment Data Platform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 for the buy side and a </a:t>
            </a:r>
            <a:r>
              <a:rPr sz="800" b="1" i="0">
                <a:solidFill>
                  <a:srgbClr val="002855"/>
                </a:solidFill>
                <a:latin typeface="Segoe UI Semibold"/>
              </a:rPr>
              <a:t>Trading, Risk and Regulatory Data Platform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 for the sell side.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Recurring subscription licence plus cloud hosting and managed services, deployed SaaS or on-premise; founding sponsor of the EDM Council.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Leadership refreshed under sponsor ownership: James Corrigan became CEO in September 2024, succeeding John Eley after a decade, with a Chief Customer Officer seat created in 2026.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0" y="2048256"/>
            <a:ext cx="361188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59" y="2048256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COMPANY SNAPSHOT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0" y="2331720"/>
            <a:ext cx="3611880" cy="18745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58384" y="2331720"/>
            <a:ext cx="868680" cy="187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Founded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27064" y="2331720"/>
            <a:ext cx="2633472" cy="187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1984  |  New York, NY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2519172"/>
            <a:ext cx="868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Ownership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7064" y="2519172"/>
            <a:ext cx="26334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Gemspring Capital (May 2022); previously The Invus Group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0" y="2811780"/>
            <a:ext cx="3611880" cy="18745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58384" y="2811780"/>
            <a:ext cx="868680" cy="187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CEO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27064" y="2811780"/>
            <a:ext cx="2633472" cy="187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James Corrigan (since Sept. 2024)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58384" y="2999232"/>
            <a:ext cx="868680" cy="187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Employees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7064" y="2999232"/>
            <a:ext cx="2633472" cy="187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~620 est., versus 380 at the 2022 close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03520" y="3186684"/>
            <a:ext cx="3611880" cy="292608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58384" y="3186684"/>
            <a:ext cx="868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Revenue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27064" y="3186684"/>
            <a:ext cx="26334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~$63M est. (third-party; not company-reported)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58384" y="3479292"/>
            <a:ext cx="868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Offices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7064" y="3479292"/>
            <a:ext cx="26334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New York, London, Milan, Mumbai, Melbourne, Hong Kong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03520" y="3771900"/>
            <a:ext cx="3611880" cy="292608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58384" y="3771900"/>
            <a:ext cx="868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Delivery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27064" y="3771900"/>
            <a:ext cx="26334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SaaS on AWS, Azure and GCP; AWS Marketplace; on-premise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8600" y="4187952"/>
            <a:ext cx="868680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4187952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PLATFORM AND PRODUCT SUITE — HOW THE DATA MOVES</a:t>
            </a:r>
          </a:p>
        </p:txBody>
      </p:sp>
      <p:sp>
        <p:nvSpPr>
          <p:cNvPr id="43" name="Chevron 42"/>
          <p:cNvSpPr/>
          <p:nvPr/>
        </p:nvSpPr>
        <p:spPr>
          <a:xfrm>
            <a:off x="228600" y="4498848"/>
            <a:ext cx="2240280" cy="310896"/>
          </a:xfrm>
          <a:prstGeom prst="chevron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54864" tIns="0" bIns="0"/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FFFFFF"/>
                </a:solidFill>
                <a:latin typeface="Segoe UI Semibold"/>
              </a:rPr>
              <a:t>SOURCE AND CONNECT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3192" y="4873752"/>
            <a:ext cx="1965960" cy="39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2855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Connections and Adaptors</a:t>
            </a:r>
          </a:p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2855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100+ vendor feeds</a:t>
            </a:r>
          </a:p>
        </p:txBody>
      </p:sp>
      <p:sp>
        <p:nvSpPr>
          <p:cNvPr id="45" name="Chevron 44"/>
          <p:cNvSpPr/>
          <p:nvPr/>
        </p:nvSpPr>
        <p:spPr>
          <a:xfrm>
            <a:off x="2377440" y="4498848"/>
            <a:ext cx="2240280" cy="310896"/>
          </a:xfrm>
          <a:prstGeom prst="chevron">
            <a:avLst/>
          </a:prstGeom>
          <a:solidFill>
            <a:srgbClr val="1C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54864" tIns="0" bIns="0"/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FFFFFF"/>
                </a:solidFill>
                <a:latin typeface="Segoe UI Semibold"/>
              </a:rPr>
              <a:t>MASTER AND GOVERN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42032" y="4873752"/>
            <a:ext cx="1965960" cy="39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1C4470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Securities and Entity Master</a:t>
            </a:r>
          </a:p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1C4470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Price Master, corporate actions, ESG</a:t>
            </a:r>
          </a:p>
        </p:txBody>
      </p:sp>
      <p:sp>
        <p:nvSpPr>
          <p:cNvPr id="47" name="Chevron 46"/>
          <p:cNvSpPr/>
          <p:nvPr/>
        </p:nvSpPr>
        <p:spPr>
          <a:xfrm>
            <a:off x="4526280" y="4498848"/>
            <a:ext cx="2240280" cy="310896"/>
          </a:xfrm>
          <a:prstGeom prst="chevron">
            <a:avLst/>
          </a:prstGeom>
          <a:solidFill>
            <a:srgbClr val="386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54864" tIns="0" bIns="0"/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FFFFFF"/>
                </a:solidFill>
                <a:latin typeface="Segoe UI Semibold"/>
              </a:rPr>
              <a:t>DISTRIBUTE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0872" y="4873752"/>
            <a:ext cx="1965960" cy="39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38618B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Data Warehouse</a:t>
            </a:r>
          </a:p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38618B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OMNI — Snowflake Native App</a:t>
            </a:r>
          </a:p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38618B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Real-time IBOR</a:t>
            </a:r>
          </a:p>
        </p:txBody>
      </p:sp>
      <p:sp>
        <p:nvSpPr>
          <p:cNvPr id="49" name="Chevron 48"/>
          <p:cNvSpPr/>
          <p:nvPr/>
        </p:nvSpPr>
        <p:spPr>
          <a:xfrm>
            <a:off x="6675120" y="4498848"/>
            <a:ext cx="2240280" cy="310896"/>
          </a:xfrm>
          <a:prstGeom prst="chevron">
            <a:avLst/>
          </a:prstGeom>
          <a:solidFill>
            <a:srgbClr val="508B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54864" tIns="0" bIns="0"/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FFFFFF"/>
                </a:solidFill>
                <a:latin typeface="Segoe UI Semibold"/>
              </a:rPr>
              <a:t>CONSUME AND REASON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39712" y="4873752"/>
            <a:ext cx="1965960" cy="39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Scout on Amazon Bedrock</a:t>
            </a:r>
          </a:p>
          <a:p>
            <a:pPr algn="l" marL="105156" indent="-105156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Chat plus MCP agent builder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28600" y="5358384"/>
            <a:ext cx="553212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5358384"/>
            <a:ext cx="5349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SELECTED MILESTONES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1812" y="5852160"/>
            <a:ext cx="4425696" cy="10058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6092" y="5811012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65176" y="5650992"/>
            <a:ext cx="1033271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1984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5176" y="5971032"/>
            <a:ext cx="1033271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Founded in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New York</a:t>
            </a:r>
          </a:p>
        </p:txBody>
      </p:sp>
      <p:sp>
        <p:nvSpPr>
          <p:cNvPr id="57" name="Oval 56"/>
          <p:cNvSpPr/>
          <p:nvPr/>
        </p:nvSpPr>
        <p:spPr>
          <a:xfrm>
            <a:off x="1842516" y="5811012"/>
            <a:ext cx="91440" cy="91440"/>
          </a:xfrm>
          <a:prstGeom prst="ellipse">
            <a:avLst/>
          </a:prstGeom>
          <a:solidFill>
            <a:srgbClr val="24B1B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371600" y="5650992"/>
            <a:ext cx="1033271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24B1B1"/>
                </a:solidFill>
                <a:latin typeface="Segoe UI Semibold"/>
              </a:rPr>
              <a:t>2022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71600" y="5971032"/>
            <a:ext cx="1033271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Gemspring buys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from Invus</a:t>
            </a:r>
          </a:p>
        </p:txBody>
      </p:sp>
      <p:sp>
        <p:nvSpPr>
          <p:cNvPr id="60" name="Oval 59"/>
          <p:cNvSpPr/>
          <p:nvPr/>
        </p:nvSpPr>
        <p:spPr>
          <a:xfrm>
            <a:off x="2948940" y="5811012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8024" y="5650992"/>
            <a:ext cx="1033271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2023–24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78024" y="5971032"/>
            <a:ext cx="1033271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IBOR, OMNI and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V10; new CEO</a:t>
            </a:r>
          </a:p>
        </p:txBody>
      </p:sp>
      <p:sp>
        <p:nvSpPr>
          <p:cNvPr id="63" name="Oval 62"/>
          <p:cNvSpPr/>
          <p:nvPr/>
        </p:nvSpPr>
        <p:spPr>
          <a:xfrm>
            <a:off x="4055363" y="5811012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584448" y="5650992"/>
            <a:ext cx="1033271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2025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84448" y="5971032"/>
            <a:ext cx="1033271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Record year;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flagship wins</a:t>
            </a:r>
          </a:p>
        </p:txBody>
      </p:sp>
      <p:sp>
        <p:nvSpPr>
          <p:cNvPr id="66" name="Oval 65"/>
          <p:cNvSpPr/>
          <p:nvPr/>
        </p:nvSpPr>
        <p:spPr>
          <a:xfrm>
            <a:off x="5161788" y="5811012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90872" y="5650992"/>
            <a:ext cx="1033271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690872" y="5971032"/>
            <a:ext cx="1033271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Scout AI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launches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989320" y="5358384"/>
            <a:ext cx="292608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080759" y="535838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HEADCOUNT UNDER GEMSPRING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5961888" y="5586984"/>
          <a:ext cx="2980944" cy="731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1874519" y="6492240"/>
            <a:ext cx="7040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1">
                <a:solidFill>
                  <a:srgbClr val="7E8597"/>
                </a:solidFill>
                <a:latin typeface="Segoe UI"/>
              </a:rPr>
              <a:t>Sources: GoldenSource and Gemspring Capital press releases; Businesswire; Finextra; WatersTechnology; company website. Employee and revenue figures are third-party estimates and are not company-reported — confirm in diligence.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1800" b="1">
                <a:solidFill>
                  <a:srgbClr val="002855"/>
                </a:solidFill>
                <a:latin typeface="Segoe UI Semibold"/>
              </a:rPr>
              <a:t>GoldenSource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0" y="365760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7E8597"/>
                </a:solidFill>
                <a:latin typeface="Segoe UI"/>
              </a:rPr>
              <a:t>Market Position and Coverage Angle  |  July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22960"/>
            <a:ext cx="8686800" cy="530352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822960"/>
            <a:ext cx="8430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The data layer is being re-underwritten for AI — and the category’s scaled independents have consolidated into strategic and sponsor hands over the last 36 months, leaving GoldenSource one of the few remaining at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426464"/>
            <a:ext cx="498348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426464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MARKET CONTEXT AND DEMAND DRIVERS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" y="1737360"/>
            <a:ext cx="4946904" cy="138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AI moved the buying centre.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Data governance is now a board line item rather than an operations budget: InvestOps 2026 found 98% of firms concerned that poor data drives incorrect AI insights, because model output is only as defensible as the data underneath it.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Regulatory and cost pressure is structural.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Rising vendor data costs, T+1, and widening entity, counterparty and ESG reporting obligations all reward a single mastered source.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Cloud re-platforming reopened a mature category.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Snowflake and Databricks made “where the data lives” a live decision again, and vendors that ship natively into those environments earn a second look.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Vendor consolidation cuts both ways.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Front-to-back platforms squeeze point solutions, but raise the premium on neutral, multi-vendor mastering that spans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1426464"/>
            <a:ext cx="361188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59" y="1426464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INDICATIVE BUYER UNIVERSE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0" y="1737360"/>
            <a:ext cx="1133856" cy="414528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FFFFFF"/>
                </a:solidFill>
                <a:latin typeface="Segoe UI Semibold"/>
              </a:rPr>
              <a:t>DATA STRATEGICS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1737360"/>
            <a:ext cx="2386584" cy="414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S&amp;P Global, LSEG, FactSet, Bloomberg, Deutsche Börse (SimCorp)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0" y="2225040"/>
            <a:ext cx="1133856" cy="414528"/>
          </a:xfrm>
          <a:prstGeom prst="rect">
            <a:avLst/>
          </a:prstGeom>
          <a:solidFill>
            <a:srgbClr val="1C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FFFFFF"/>
                </a:solidFill>
                <a:latin typeface="Segoe UI Semibold"/>
              </a:rPr>
              <a:t>PLATFORM CONSOLIDATORS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8816" y="2225040"/>
            <a:ext cx="2386584" cy="414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Clearwater Analytics, SS&amp;C, Broadridge, FIS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2712720"/>
            <a:ext cx="1133856" cy="414528"/>
          </a:xfrm>
          <a:prstGeom prst="rect">
            <a:avLst/>
          </a:prstGeom>
          <a:solidFill>
            <a:srgbClr val="386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FFFFFF"/>
                </a:solidFill>
                <a:latin typeface="Segoe UI Semibold"/>
              </a:rPr>
              <a:t>CATEGORY SPONSORS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712720"/>
            <a:ext cx="2386584" cy="414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STG (Alveo, Gresham, S&amp;P EDM), Eurazeo (NeoXam), large-cap software funds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3218688"/>
            <a:ext cx="868680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3218688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THE INDEPENDENTS HAVE CONSOLIDATED — SELECTED PRECEDENT TRANSACTIONS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2499" y="3712463"/>
            <a:ext cx="7239000" cy="10058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6779" y="3671315"/>
            <a:ext cx="91440" cy="91440"/>
          </a:xfrm>
          <a:prstGeom prst="ellipse">
            <a:avLst/>
          </a:prstGeom>
          <a:solidFill>
            <a:srgbClr val="24B1B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5176" y="3511296"/>
            <a:ext cx="1374647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24B1B1"/>
                </a:solidFill>
                <a:latin typeface="Segoe UI Semibold"/>
              </a:rPr>
              <a:t>May-22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" y="3831335"/>
            <a:ext cx="1374647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1" i="0">
                <a:solidFill>
                  <a:srgbClr val="24B1B1"/>
                </a:solidFill>
                <a:latin typeface="Segoe UI Semibold"/>
              </a:rPr>
              <a:t>GoldenSource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Gemspring Capital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n.d.</a:t>
            </a:r>
          </a:p>
        </p:txBody>
      </p:sp>
      <p:sp>
        <p:nvSpPr>
          <p:cNvPr id="23" name="Oval 22"/>
          <p:cNvSpPr/>
          <p:nvPr/>
        </p:nvSpPr>
        <p:spPr>
          <a:xfrm>
            <a:off x="2354580" y="3671315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12976" y="3511296"/>
            <a:ext cx="1374647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Apr-23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12976" y="3831335"/>
            <a:ext cx="1374647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SimCorp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Deutsche Börse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€3.9B</a:t>
            </a:r>
          </a:p>
        </p:txBody>
      </p:sp>
      <p:sp>
        <p:nvSpPr>
          <p:cNvPr id="26" name="Oval 25"/>
          <p:cNvSpPr/>
          <p:nvPr/>
        </p:nvSpPr>
        <p:spPr>
          <a:xfrm>
            <a:off x="3802380" y="3671315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60776" y="3511296"/>
            <a:ext cx="1374647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Jul-24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60776" y="3831335"/>
            <a:ext cx="1374647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Gresham Technologies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STG, with Alveo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£141.9M</a:t>
            </a:r>
          </a:p>
        </p:txBody>
      </p:sp>
      <p:sp>
        <p:nvSpPr>
          <p:cNvPr id="29" name="Oval 28"/>
          <p:cNvSpPr/>
          <p:nvPr/>
        </p:nvSpPr>
        <p:spPr>
          <a:xfrm>
            <a:off x="5250180" y="3671315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08576" y="3511296"/>
            <a:ext cx="1374647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Oct-24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08576" y="3831335"/>
            <a:ext cx="1374647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EZOPS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NeoXam (Eurazeo)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n.d.</a:t>
            </a:r>
          </a:p>
        </p:txBody>
      </p:sp>
      <p:sp>
        <p:nvSpPr>
          <p:cNvPr id="32" name="Oval 31"/>
          <p:cNvSpPr/>
          <p:nvPr/>
        </p:nvSpPr>
        <p:spPr>
          <a:xfrm>
            <a:off x="6697980" y="3671315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56376" y="3511296"/>
            <a:ext cx="1374647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Jan-25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6376" y="3831335"/>
            <a:ext cx="1374647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Enfusion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Clearwater Analytics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$1.5B</a:t>
            </a:r>
          </a:p>
        </p:txBody>
      </p:sp>
      <p:sp>
        <p:nvSpPr>
          <p:cNvPr id="35" name="Oval 34"/>
          <p:cNvSpPr/>
          <p:nvPr/>
        </p:nvSpPr>
        <p:spPr>
          <a:xfrm>
            <a:off x="8145779" y="3671315"/>
            <a:ext cx="91440" cy="9144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04175" y="3511296"/>
            <a:ext cx="1374647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Jan-26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4175" y="3831335"/>
            <a:ext cx="1374647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S&amp;P EDM / thinkFolio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STG / Gresham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5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n.d.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" y="4590288"/>
            <a:ext cx="361188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4590288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COMPETITIVE LANDSCAPE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888" y="4901183"/>
            <a:ext cx="3575304" cy="1453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Scaled strategics.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Bloomberg (Data License, PolarLake), FactSet, LSEG, SimCorp under Deutsche Börse, Clearwater after Enfusion.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Sponsor-backed independents.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Gresham under STG — now the consolidator; NeoXam under Eurazeo; Rimes, Xceptor, Duco, Solidatus.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Platform substitution.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In-house builds on Snowflake and Databricks lakehouses, packaged by integrators.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24B1B1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GoldenSource.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One of the few independent, cross-asset, multi-vendor masters left carrying both a buy-side and a sell-side installed base.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0520" y="4590288"/>
            <a:ext cx="475488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51959" y="459028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Segoe UI Semibold"/>
              </a:rPr>
              <a:t>COVERAGE ANGLE — WHY NOW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8808" y="4901183"/>
            <a:ext cx="4718304" cy="1453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Hold period.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Gemspring entered in May 2022. At four-plus years and off a record 2025, GoldenSource is squarely in the window for a sponsor-to-sponsor or strategic process.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The story is fresh, not stale.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Scout, OMNI, V10 and the IBOR support a credible “modernised under this sponsor” narrative, with headcount up roughly 60% since close.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Scarcity.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With S&amp;P’s EDM franchise now inside STG/Gresham, the independent field is close to consolidated.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Test in diligence.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Licence versus services mix; cloud ARR share against on-premise maintenance; net revenue retention; and how much of Scout has shipped.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24B1B1"/>
              </a:buClr>
              <a:buSzPct val="90000"/>
              <a:buFont typeface="Arial"/>
              <a:buChar char="▪"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Houlihan Lokey is already in this market.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Rule 3 adviser to Gresham on its 2024 take-private by STG, and co-adviser to STG/Gresham on the 2026 S&amp;P EDM and thinkFolio carve-out.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74519" y="6492240"/>
            <a:ext cx="7040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1">
                <a:solidFill>
                  <a:srgbClr val="7E8597"/>
                </a:solidFill>
                <a:latin typeface="Segoe UI"/>
              </a:rPr>
              <a:t>Sources: Houlihan Lokey transaction disclosures; S&amp;P Global, Clearwater Analytics, Deutsche Börse and STG press releases; Businesswire; Finextra; A-Team Insight; InvestOps 2026. Values as disclosed; n.d. = not disclosed. Buyer universe is HL analysis, not a disclosed or solicited process.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SERHIDDE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HAPTER_SUBTITLE" val="Y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_LINE" val="Y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heme/theme1.xml><?xml version="1.0" encoding="utf-8"?>
<a:theme xmlns:a="http://schemas.openxmlformats.org/drawingml/2006/main" name="PowerPresent">
  <a:themeElements>
    <a:clrScheme name="HL Refresh 2023">
      <a:dk1>
        <a:srgbClr val="525766"/>
      </a:dk1>
      <a:lt1>
        <a:sysClr val="window" lastClr="FFFFFF"/>
      </a:lt1>
      <a:dk2>
        <a:srgbClr val="002855"/>
      </a:dk2>
      <a:lt2>
        <a:srgbClr val="0067A5"/>
      </a:lt2>
      <a:accent1>
        <a:srgbClr val="508BC9"/>
      </a:accent1>
      <a:accent2>
        <a:srgbClr val="BCBFC6"/>
      </a:accent2>
      <a:accent3>
        <a:srgbClr val="7E8597"/>
      </a:accent3>
      <a:accent4>
        <a:srgbClr val="24B1B1"/>
      </a:accent4>
      <a:accent5>
        <a:srgbClr val="6C1E36"/>
      </a:accent5>
      <a:accent6>
        <a:srgbClr val="9FC3DA"/>
      </a:accent6>
      <a:hlink>
        <a:srgbClr val="0067A5"/>
      </a:hlink>
      <a:folHlink>
        <a:srgbClr val="7CACC6"/>
      </a:folHlink>
    </a:clrScheme>
    <a:fontScheme name="Present 201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20000"/>
            <a:lumOff val="80000"/>
          </a:schemeClr>
        </a:solidFill>
        <a:ln w="6350">
          <a:solidFill>
            <a:schemeClr val="accent2">
              <a:lumMod val="75000"/>
            </a:schemeClr>
          </a:solidFill>
        </a:ln>
      </a:spPr>
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eaLnBrk="1" fontAlgn="base" latinLnBrk="0" hangingPunct="1">
          <a:lnSpc>
            <a:spcPct val="113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100" b="0" i="0" u="none" strike="noStrike" kern="0" cap="none" spc="0" normalizeH="0" baseline="0" noProof="0" smtClean="0">
            <a:ln>
              <a:noFill/>
            </a:ln>
            <a:solidFill>
              <a:srgbClr val="BCBFC6">
                <a:lumMod val="75000"/>
              </a:srgbClr>
            </a:solidFill>
            <a:effectLst/>
            <a:uLnTx/>
            <a:uFillTx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tx2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noAutofit/>
      </a:bodyPr>
      <a:lstStyle>
        <a:defPPr algn="l">
          <a:lnSpc>
            <a:spcPct val="114000"/>
          </a:lnSpc>
          <a:spcAft>
            <a:spcPts val="600"/>
          </a:spcAft>
          <a:buSzPct val="100000"/>
          <a:defRPr sz="1000" dirty="0" err="1" smtClean="0"/>
        </a:defPPr>
      </a:lstStyle>
    </a:txDef>
  </a:objectDefaults>
  <a:extraClrSchemeLst/>
  <a:custClrLst>
    <a:custClr name="Metalic Seaweed">
      <a:srgbClr val="1F808F"/>
    </a:custClr>
    <a:custClr name="Rust">
      <a:srgbClr val="B54E15"/>
    </a:custClr>
    <a:custClr name="English Lavender">
      <a:srgbClr val="B58D9A"/>
    </a:custClr>
    <a:custClr name="Swiss Coffee">
      <a:srgbClr val="D2C0B2"/>
    </a:custClr>
    <a:custClr name="Maize">
      <a:srgbClr val="E6C25B"/>
    </a:custClr>
    <a:custClr name="Metalic Sunburst">
      <a:srgbClr val="8C7337"/>
    </a:custClr>
    <a:custClr name="Maximum Green">
      <a:srgbClr val="508225"/>
    </a:custClr>
    <a:custClr name="Strikemaster">
      <a:srgbClr val="8E6C88"/>
    </a:custClr>
    <a:custClr name="Onyx">
      <a:srgbClr val="424142"/>
    </a:custClr>
    <a:custClr name="Oxford Blue">
      <a:srgbClr val="002855"/>
    </a:custClr>
    <a:custClr name="Custom Color 11">
      <a:srgbClr val="C7EDF3"/>
    </a:custClr>
    <a:custClr name="Custom Color 12">
      <a:srgbClr val="F8D9C7"/>
    </a:custClr>
    <a:custClr name="Custom Color 13">
      <a:srgbClr val="F0E8EA"/>
    </a:custClr>
    <a:custClr name="Custom Color 14">
      <a:srgbClr val="F6F2EF"/>
    </a:custClr>
    <a:custClr name="Custom Color 15">
      <a:srgbClr val="FAF2DE"/>
    </a:custClr>
    <a:custClr name="Custom Color 16">
      <a:srgbClr val="EDE5D1"/>
    </a:custClr>
    <a:custClr name="Custom Color 17">
      <a:srgbClr val="DBEFC9"/>
    </a:custClr>
    <a:custClr name="Custom Color 18">
      <a:srgbClr val="E8E1E7"/>
    </a:custClr>
    <a:custClr name="Custom Color 19">
      <a:srgbClr val="EAE9EA"/>
    </a:custClr>
    <a:custClr name="Custom Color 20">
      <a:srgbClr val="D4E8FF"/>
    </a:custClr>
    <a:custClr name="Custom Color 21">
      <a:srgbClr val="59C9DB"/>
    </a:custClr>
    <a:custClr name="Custom Color 22">
      <a:srgbClr val="EB8D59"/>
    </a:custClr>
    <a:custClr name="Custom Color 23">
      <a:srgbClr val="D2BAC2"/>
    </a:custClr>
    <a:custClr name="Custom Color 24">
      <a:srgbClr val="E3D9D0"/>
    </a:custClr>
    <a:custClr name="Custom Color 25">
      <a:srgbClr val="F0DA9C"/>
    </a:custClr>
    <a:custClr name="Custom Color 26">
      <a:srgbClr val="C9B177"/>
    </a:custClr>
    <a:custClr name="Custom Color 27">
      <a:srgbClr val="93D15E"/>
    </a:custClr>
    <a:custClr name="Custom Color 28">
      <a:srgbClr val="BBA6B7"/>
    </a:custClr>
    <a:custClr name="Custom Color 29">
      <a:srgbClr val="969496"/>
    </a:custClr>
    <a:custClr name="Custom Color 30">
      <a:srgbClr val="2A8EFE"/>
    </a:custClr>
    <a:custClr name="Custom Color 31">
      <a:srgbClr val="17606B"/>
    </a:custClr>
    <a:custClr name="Custom Color 32">
      <a:srgbClr val="873A0F"/>
    </a:custClr>
    <a:custClr name="Custom Color 33">
      <a:srgbClr val="925F6F"/>
    </a:custClr>
    <a:custClr name="Custom Color 34">
      <a:srgbClr val="AE8D74"/>
    </a:custClr>
    <a:custClr name="Custom Color 35">
      <a:srgbClr val="D0A31F"/>
    </a:custClr>
    <a:custClr name="Custom Color 36">
      <a:srgbClr val="614D1D"/>
    </a:custClr>
    <a:custClr name="Custom Color 37">
      <a:srgbClr val="3B611B"/>
    </a:custClr>
    <a:custClr name="Custom Color 38">
      <a:srgbClr val="6A5166"/>
    </a:custClr>
    <a:custClr name="Custom Color 39">
      <a:srgbClr val="615F61"/>
    </a:custClr>
    <a:custClr name="Custom Color 40">
      <a:srgbClr val="0059BF"/>
    </a:custClr>
    <a:custClr name="Custom Color 51">
      <a:srgbClr val="0F4047"/>
    </a:custClr>
    <a:custClr name="Custom Color 52">
      <a:srgbClr val="5A270A"/>
    </a:custClr>
    <a:custClr name="Custom Color 53">
      <a:srgbClr val="613F4A"/>
    </a:custClr>
    <a:custClr name="Custom Color 54">
      <a:srgbClr val="7A5D47"/>
    </a:custClr>
    <a:custClr name="Custom Color 55">
      <a:srgbClr val="8B6C15"/>
    </a:custClr>
    <a:custClr name="Custom Color 56">
      <a:srgbClr val="46391B"/>
    </a:custClr>
    <a:custClr name="Custom Color 57">
      <a:srgbClr val="274112"/>
    </a:custClr>
    <a:custClr name="Custom Color 58">
      <a:srgbClr val="473644"/>
    </a:custClr>
    <a:custClr name="Custom Color 59">
      <a:srgbClr val="413F41"/>
    </a:custClr>
    <a:custClr name="Custom Color 60">
      <a:srgbClr val="003C7F"/>
    </a:custClr>
  </a:custClrLst>
  <a:extLst>
    <a:ext uri="{05A4C25C-085E-4340-85A3-A5531E510DB2}">
      <thm15:themeFamily xmlns:thm15="http://schemas.microsoft.com/office/thememl/2012/main" name="Layouts.potx" id="{C2504081-24E1-415D-B095-15A927436BA8}" vid="{479493CE-5301-4313-898C-C7E8CBD7326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Layouts</Template>
  <TotalTime>32</TotalTime>
  <Words>2</Words>
  <Application>Microsoft Office PowerPoint</Application>
  <PresentationFormat>Letter Paper (8.5x11 in)</PresentationFormat>
  <Paragraphs>1</Paragraphs>
  <Slides>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Segoe UI</vt:lpstr>
      <vt:lpstr>Segoe UI Semibold</vt:lpstr>
      <vt:lpstr>Symbol</vt:lpstr>
      <vt:lpstr>Wingdings 2</vt:lpstr>
      <vt:lpstr>PowerPresent</vt:lpstr>
      <vt:lpstr>think-cell Slide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Carroll, Ryan</dc:creator>
  <cp:lastModifiedBy>Carroll, Ryan</cp:lastModifiedBy>
  <cp:revision>2</cp:revision>
  <dcterms:created xsi:type="dcterms:W3CDTF">2026-07-28T20:05:48Z</dcterms:created>
  <dcterms:modified xsi:type="dcterms:W3CDTF">2026-07-28T20:38:42Z</dcterms:modified>
</cp:coreProperties>
</file>