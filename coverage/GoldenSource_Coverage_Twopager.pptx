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  <p:sldId id="257" r:id="rId2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7E8597"/>
              </a:solidFill>
            </c:spPr>
          </c:dPt>
          <c:dPt>
            <c:idx val="1"/>
            <c:spPr>
              <a:solidFill>
                <a:srgbClr val="002855"/>
              </a:solidFill>
            </c:spPr>
          </c:dPt>
          <c:cat>
            <c:strRef>
              <c:f>Sheet1!$A$2:$A$3</c:f>
              <c:strCache>
                <c:ptCount val="2"/>
                <c:pt idx="0">
                  <c:v>2022</c:v>
                </c:pt>
                <c:pt idx="1">
                  <c:v>2026E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380</c:v>
                </c:pt>
                <c:pt idx="1">
                  <c:v>620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800" b="1">
                  <a:solidFill>
                    <a:srgbClr val="002855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CBFC6"/>
            </a:solidFill>
          </a:ln>
        </c:spPr>
        <c:txPr>
          <a:bodyPr/>
          <a:lstStyle/>
          <a:p>
            <a:pPr>
              <a:defRPr sz="750">
                <a:solidFill>
                  <a:srgbClr val="525766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Coverage Profile  |  Data &amp; Analytics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GoldenSource has mastered securities, pricing and entity data for capital markets since 1984. Gemspring Capital has owned it since May 2022; headcount is up roughly 60% over that period and 2025 was a record year.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26464"/>
            <a:ext cx="8686800" cy="12801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1984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Founded; over 40 years in capital markets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24003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83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100+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83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Pre-built vendor data feeds and adaptors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00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Offices across North America, EMEA and APAC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37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17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4 yrs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 hold period to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048256"/>
            <a:ext cx="49834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048256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COMPANY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" y="2359152"/>
            <a:ext cx="4946904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Founded in 1984 and headquartered in New York, GoldenSource is one of the original enterprise data management (EDM) vendors in capital markets and is credited with popularising the term.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Masters, governs and distributes securities, entity, counterparty, client, pricing, position, corporate-action and ESG data for banks, asset managers and insurers.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One platform, two go-to-market lenses: the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Investment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buy side and a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Trading, Risk and Regulatory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sell side.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Recurring subscription licence plus cloud hosting and managed services, deployed SaaS or on-premise; founding sponsor of the EDM Council.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Leadership refreshed under sponsor ownership: James Corrigan became CEO in September 2024, succeeding John Eley after a decade, with a Chief Customer Officer seat created in 2026.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2048256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59" y="2048256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COMPANY SNAPSHOT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331720"/>
            <a:ext cx="3611880" cy="18745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4" y="2331720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Founded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7064" y="2331720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1984  |  New York, 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519172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Ownership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2519172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 (May 2022); previously The Invus Group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2811780"/>
            <a:ext cx="3611880" cy="18745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58384" y="2811780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CEO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7064" y="2811780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James Corrigan (since Sept. 2024)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58384" y="2999232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Employees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999232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~620 est., versus 380 at the 2022 close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3186684"/>
            <a:ext cx="3611880" cy="29260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58384" y="3186684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Revenue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3186684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~$63M est. (third-party; not company-reported)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8384" y="3479292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Offices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3479292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New York, London, Milan, Mumbai, Melbourne, Hong Kong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3771900"/>
            <a:ext cx="3611880" cy="29260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58384" y="3771900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Delivery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27064" y="3771900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SaaS on AWS, Azure and GCP; AWS Marketplace; on-premise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4187952"/>
            <a:ext cx="868680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187952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PLATFORM AND PRODUCT SUITE</a:t>
            </a:r>
          </a:p>
        </p:txBody>
      </p:sp>
      <p:sp>
        <p:nvSpPr>
          <p:cNvPr id="43" name="Chevron 42"/>
          <p:cNvSpPr/>
          <p:nvPr/>
        </p:nvSpPr>
        <p:spPr>
          <a:xfrm>
            <a:off x="228600" y="4498848"/>
            <a:ext cx="2240280" cy="310896"/>
          </a:xfrm>
          <a:prstGeom prst="chevron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SOURCE AND CONNECT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2855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Connections and Adaptors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2855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100+ vendor feeds</a:t>
            </a:r>
          </a:p>
        </p:txBody>
      </p:sp>
      <p:sp>
        <p:nvSpPr>
          <p:cNvPr id="45" name="Chevron 44"/>
          <p:cNvSpPr/>
          <p:nvPr/>
        </p:nvSpPr>
        <p:spPr>
          <a:xfrm>
            <a:off x="2377440" y="4498848"/>
            <a:ext cx="2240280" cy="310896"/>
          </a:xfrm>
          <a:prstGeom prst="chevron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MASTER AND GOVERN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4203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1C4470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 and Entity Master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1C4470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Price Master, corporate actions, ESG</a:t>
            </a:r>
          </a:p>
        </p:txBody>
      </p:sp>
      <p:sp>
        <p:nvSpPr>
          <p:cNvPr id="47" name="Chevron 46"/>
          <p:cNvSpPr/>
          <p:nvPr/>
        </p:nvSpPr>
        <p:spPr>
          <a:xfrm>
            <a:off x="4526280" y="4498848"/>
            <a:ext cx="2240280" cy="310896"/>
          </a:xfrm>
          <a:prstGeom prst="chevron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DISTRIBUTE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087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Data Warehouse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OMNI (Snowflake Native App)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IBOR</a:t>
            </a:r>
          </a:p>
        </p:txBody>
      </p:sp>
      <p:sp>
        <p:nvSpPr>
          <p:cNvPr id="49" name="Chevron 48"/>
          <p:cNvSpPr/>
          <p:nvPr/>
        </p:nvSpPr>
        <p:spPr>
          <a:xfrm>
            <a:off x="6675120" y="4498848"/>
            <a:ext cx="2240280" cy="310896"/>
          </a:xfrm>
          <a:prstGeom prst="chevron">
            <a:avLst/>
          </a:prstGeom>
          <a:solidFill>
            <a:srgbClr val="508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CONSUME AND REASON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971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Scout on Amazon Bedrock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Chat plus MCP agent builder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8600" y="5358384"/>
            <a:ext cx="553212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5358384"/>
            <a:ext cx="5349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SELECTED MILESTONES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1812" y="5852160"/>
            <a:ext cx="4425696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092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5176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1984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6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Founded in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New York</a:t>
            </a:r>
          </a:p>
        </p:txBody>
      </p:sp>
      <p:sp>
        <p:nvSpPr>
          <p:cNvPr id="57" name="Oval 56"/>
          <p:cNvSpPr/>
          <p:nvPr/>
        </p:nvSpPr>
        <p:spPr>
          <a:xfrm>
            <a:off x="1842516" y="5811012"/>
            <a:ext cx="91440" cy="91440"/>
          </a:xfrm>
          <a:prstGeom prst="ellipse">
            <a:avLst/>
          </a:prstGeom>
          <a:solidFill>
            <a:srgbClr val="24B1B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71600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24B1B1"/>
                </a:solidFill>
                <a:latin typeface="Segoe UI Semibold"/>
              </a:rPr>
              <a:t>2022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0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Gemspring buys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from Invus</a:t>
            </a:r>
          </a:p>
        </p:txBody>
      </p:sp>
      <p:sp>
        <p:nvSpPr>
          <p:cNvPr id="60" name="Oval 59"/>
          <p:cNvSpPr/>
          <p:nvPr/>
        </p:nvSpPr>
        <p:spPr>
          <a:xfrm>
            <a:off x="2948940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8024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2023–24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78024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IBOR, OMNI and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V10; new CEO</a:t>
            </a:r>
          </a:p>
        </p:txBody>
      </p:sp>
      <p:sp>
        <p:nvSpPr>
          <p:cNvPr id="63" name="Oval 62"/>
          <p:cNvSpPr/>
          <p:nvPr/>
        </p:nvSpPr>
        <p:spPr>
          <a:xfrm>
            <a:off x="4055363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84448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Record year;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flagship wins</a:t>
            </a:r>
          </a:p>
        </p:txBody>
      </p:sp>
      <p:sp>
        <p:nvSpPr>
          <p:cNvPr id="66" name="Oval 65"/>
          <p:cNvSpPr/>
          <p:nvPr/>
        </p:nvSpPr>
        <p:spPr>
          <a:xfrm>
            <a:off x="5161788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90872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90872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Scout AI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launches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89320" y="5358384"/>
            <a:ext cx="29260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80759" y="53583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HEADCOUNT UNDER GEMSPRING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5961888" y="5586984"/>
          <a:ext cx="2980944" cy="731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GoldenSource and Gemspring Capital press releases; Businesswire; Finextra; WatersTechnology; company website. Employee and revenue figures are third-party estimates and are not company-reported; confirm in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Market Position and Coverage Angle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Six of the category’s scaled independents have changed hands since 2022, most recently S&amp;P Global’s EDM business to STG in January 2026. GoldenSource is one of three that is neither strategic-owned nor tied to a front-to-back platform.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26464"/>
            <a:ext cx="49834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426464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COMPETITIVE LANDSCAPE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20924" y="1737360"/>
            <a:ext cx="2391156" cy="850391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3220" y="1819656"/>
            <a:ext cx="22265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INDEPENDENT ENTERPRISE MASTERS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3220" y="2020824"/>
            <a:ext cx="2226564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GoldenSource</a:t>
            </a:r>
            <a:r>
              <a:rPr sz="700" b="0" i="0">
                <a:solidFill>
                  <a:srgbClr val="525766"/>
                </a:solidFill>
                <a:latin typeface="Segoe UI"/>
              </a:rPr>
              <a:t>, Gresham (STG), NeoXam (Eurazeo). Cross-asset mastering sold on its own merits, not as a hook into proprietary data or an execution platform.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3220" y="2670048"/>
            <a:ext cx="22265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PLATFORM-TIED AND CAPTIVE SUITES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3220" y="2871216"/>
            <a:ext cx="2226564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Bloomberg, S&amp;P Global, FactSet, LSEG, SimCorp (Deutsche Börse), Clearwater. Broad coverage, but the data model serves the owner’s feed or front-to-back stack.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3" y="1819656"/>
            <a:ext cx="22265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POINT TOOLS AND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3" y="2020824"/>
            <a:ext cx="2226564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Snowflake, Databricks, Duco, Solidatus, Xceptor, Rimes. Neutral and increasingly capable, but each solves one slice; mastering is left to the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3" y="2670048"/>
            <a:ext cx="22265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SINGLE-SOURCE FEEDS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3" y="2871216"/>
            <a:ext cx="2226564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Vendor-native reference data delivery and in-house builds on one provider. Cheapest to start, hardest to reconcile once a second source arrives.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" y="2587752"/>
            <a:ext cx="4782312" cy="7315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0924" y="1737360"/>
            <a:ext cx="7315" cy="1700783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" y="1737360"/>
            <a:ext cx="4782312" cy="1700783"/>
          </a:xfrm>
          <a:prstGeom prst="rect">
            <a:avLst/>
          </a:prstGeom>
          <a:noFill/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3474720"/>
            <a:ext cx="4782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7E8597"/>
                </a:solidFill>
                <a:latin typeface="Segoe UI Semibold"/>
              </a:rPr>
              <a:t>Breadth of mastered data (narrow to cross-asset)</a:t>
            </a:r>
          </a:p>
        </p:txBody>
      </p:sp>
      <p:sp>
        <p:nvSpPr>
          <p:cNvPr id="21" name="TextBox 20"/>
          <p:cNvSpPr txBox="1"/>
          <p:nvPr/>
        </p:nvSpPr>
        <p:spPr>
          <a:xfrm rot="16200000">
            <a:off x="-521207" y="2496312"/>
            <a:ext cx="1700783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7E8597"/>
                </a:solidFill>
                <a:latin typeface="Segoe UI Semibold"/>
              </a:rPr>
              <a:t>Vendor neutrality (low to high)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0" y="1426464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59" y="142646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DEMAND DRIVERS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1737360"/>
            <a:ext cx="3575304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Data quality now gates AI.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InvestOps 2026 found 98% of firms concerned that poor data drives incorrect AI insights, moving governance from an operations budget to a board line item.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Regulatory and cost pressure.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Rising vendor data costs, T+1, and widening entity, counterparty and ESG reporting obligations all reward a single mastered source.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Cloud re-platforming.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Snowflake and Databricks made where the data lives a live decision again, and vendors that ship natively into those environments earn a second look.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Vendor consolidation.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Front-to-back platforms squeeze point solutions but raise the premium on neutral mastering that spans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712463"/>
            <a:ext cx="868680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712463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SELECTED PRECEDENT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499" y="4206240"/>
            <a:ext cx="7239000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6779" y="4165091"/>
            <a:ext cx="91440" cy="91440"/>
          </a:xfrm>
          <a:prstGeom prst="ellipse">
            <a:avLst/>
          </a:prstGeom>
          <a:solidFill>
            <a:srgbClr val="24B1B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" y="4005072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24B1B1"/>
                </a:solidFill>
                <a:latin typeface="Segoe UI Semibold"/>
              </a:rPr>
              <a:t>May-22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" y="4325112"/>
            <a:ext cx="137464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GoldenSource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Gemspring Capital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31" name="Oval 30"/>
          <p:cNvSpPr/>
          <p:nvPr/>
        </p:nvSpPr>
        <p:spPr>
          <a:xfrm>
            <a:off x="2354580" y="4165091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12976" y="4005072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Apr-23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12976" y="4325112"/>
            <a:ext cx="137464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SimCorp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Deutsche Börse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€3.9B</a:t>
            </a:r>
          </a:p>
        </p:txBody>
      </p:sp>
      <p:sp>
        <p:nvSpPr>
          <p:cNvPr id="34" name="Oval 33"/>
          <p:cNvSpPr/>
          <p:nvPr/>
        </p:nvSpPr>
        <p:spPr>
          <a:xfrm>
            <a:off x="3802380" y="4165091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60776" y="4005072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Jul-24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60776" y="4325112"/>
            <a:ext cx="137464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Gresham Technologies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STG, with Alveo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£141.9M</a:t>
            </a:r>
          </a:p>
        </p:txBody>
      </p:sp>
      <p:sp>
        <p:nvSpPr>
          <p:cNvPr id="37" name="Oval 36"/>
          <p:cNvSpPr/>
          <p:nvPr/>
        </p:nvSpPr>
        <p:spPr>
          <a:xfrm>
            <a:off x="5250180" y="4165091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08576" y="4005072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Oct-24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8576" y="4325112"/>
            <a:ext cx="137464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EZOPS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NeoXam (Eurazeo)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40" name="Oval 39"/>
          <p:cNvSpPr/>
          <p:nvPr/>
        </p:nvSpPr>
        <p:spPr>
          <a:xfrm>
            <a:off x="6697980" y="4165091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6376" y="4005072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Jan-25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6376" y="4325112"/>
            <a:ext cx="137464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Enfusion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Clearwater Analytics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$1.5B</a:t>
            </a:r>
          </a:p>
        </p:txBody>
      </p:sp>
      <p:sp>
        <p:nvSpPr>
          <p:cNvPr id="43" name="Oval 42"/>
          <p:cNvSpPr/>
          <p:nvPr/>
        </p:nvSpPr>
        <p:spPr>
          <a:xfrm>
            <a:off x="8145779" y="4165091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04175" y="4005072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Jan-26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04175" y="4325112"/>
            <a:ext cx="137464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S&amp;P EDM / thinkFolio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STG / Gresham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4809744"/>
            <a:ext cx="38404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80974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INDICATIVE BUYER UNIVERSE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5120640"/>
            <a:ext cx="1133856" cy="374904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DATA STRATEGICS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53896" y="5120640"/>
            <a:ext cx="2615184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S&amp;P Global, LSEG, FactSet, Bloomberg, Deutsche Börse (SimCorp)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5550407"/>
            <a:ext cx="1133856" cy="374904"/>
          </a:xfrm>
          <a:prstGeom prst="rect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PLATFORM CONSOLIDATORS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53896" y="5550407"/>
            <a:ext cx="2615184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Clearwater Analytics, SS&amp;C, Broadridge, FIS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" y="5980176"/>
            <a:ext cx="1133856" cy="374904"/>
          </a:xfrm>
          <a:prstGeom prst="rect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CATEGORY SPONSORS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53896" y="5980176"/>
            <a:ext cx="2615184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STG (Alveo, Gresham, S&amp;P EDM), Eurazeo (NeoXam), large-cap software funds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0" y="4809744"/>
            <a:ext cx="466344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43400" y="4809744"/>
            <a:ext cx="448055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COVERAGE ANGLE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70248" y="5120640"/>
            <a:ext cx="4626864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Hold period.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Gemspring entered in May 2022; at four-plus years and off a record 2025, the asset is in the window for a sponsor-to-sponsor or strategic process.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Recent investment.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Scout, OMNI, V10 and the IBOR account for what the sponsor funded; headcount is up roughly 60% since close.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Limited remaining supply.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The top-right quadrant above is down to three names, two of them already consolidated.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Test in diligence.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Licence versus services mix; cloud ARR share against on-premise maintenance; net revenue retention; and how much of Scout has shipped.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  <a:buClr>
                <a:srgbClr val="24B1B1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Relevant HL experience.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Rule 3 adviser to Gresham on its 2024 take-private by STG, and co-adviser to STG/Gresham on the 2026 S&amp;P EDM and thinkFolio carve-out.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Houlihan Lokey transaction disclosures; S&amp;P Global, Clearwater Analytics, Deutsche Börse and STG press releases; Businesswire; Finextra; A-Team Insight; InvestOps 2026. Values as disclosed; n.d. = not disclosed. Competitive positioning and buyer universe are HL analysis.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