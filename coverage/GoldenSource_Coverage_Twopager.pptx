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media/image3.svg" ContentType="image/svg+xml"/>
  <Override PartName="/ppt/media/image6.svg" ContentType="image/svg+xml"/>
  <Override PartName="/ppt/media/image7.svg" ContentType="image/svg+xml"/>
  <Override PartName="/ppt/media/image8.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3"/>
    <p:sldId id="257" r:id="rId2"/>
    <p:sldId id="258" r:id="rId8"/>
  </p:sldIdLst>
  <p:sldSz cx="9144000" cy="6858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119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Series 1</c:v>
                </c:pt>
              </c:strCache>
            </c:strRef>
          </c:tx>
          <c:dPt>
            <c:idx val="0"/>
            <c:spPr>
              <a:solidFill>
                <a:srgbClr val="7E8597"/>
              </a:solidFill>
            </c:spPr>
          </c:dPt>
          <c:dPt>
            <c:idx val="1"/>
            <c:spPr>
              <a:solidFill>
                <a:srgbClr val="002855"/>
              </a:solidFill>
            </c:spPr>
          </c:dPt>
          <c:cat>
            <c:strRef>
              <c:f>Sheet1!$A$2:$A$3</c:f>
              <c:strCache>
                <c:ptCount val="2"/>
                <c:pt idx="0">
                  <c:v>2022</c:v>
                </c:pt>
                <c:pt idx="1">
                  <c:v>2026E</c:v>
                </c:pt>
              </c:strCache>
            </c:strRef>
          </c:cat>
          <c:val>
            <c:numRef>
              <c:f>Sheet1!$B$2:$B$3</c:f>
              <c:numCache>
                <c:formatCode>General</c:formatCode>
                <c:ptCount val="2"/>
                <c:pt idx="0">
                  <c:v>380</c:v>
                </c:pt>
                <c:pt idx="1">
                  <c:v>620</c:v>
                </c:pt>
              </c:numCache>
            </c:numRef>
          </c:val>
        </c:ser>
        <c:dLbls>
          <c:numFmt formatCode="General" sourceLinked="0"/>
          <c:txPr>
            <a:bodyPr/>
            <a:lstStyle/>
            <a:p>
              <a:pPr>
                <a:defRPr sz="800" b="1">
                  <a:solidFill>
                    <a:srgbClr val="002855"/>
                  </a:solidFill>
                  <a:latin typeface="Segoe UI Semibol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BCBFC6"/>
            </a:solidFill>
          </a:ln>
        </c:spPr>
        <c:txPr>
          <a:bodyPr/>
          <a:lstStyle/>
          <a:p>
            <a:pPr>
              <a:defRPr sz="750">
                <a:solidFill>
                  <a:srgbClr val="525766"/>
                </a:solidFill>
                <a:latin typeface="Segoe U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6.svg"/><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bg>
      <p:bgPr>
        <a:blipFill dpi="0" rotWithShape="1">
          <a:blip>
            <a:lum contrast="-3000"/>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E0168A-2989-1295-CF19-94D494291656}"/>
              </a:ext>
            </a:extLst>
          </p:cNvPr>
          <p:cNvSpPr/>
          <p:nvPr/>
        </p:nvSpPr>
        <p:spPr>
          <a:xfrm>
            <a:off x="12191" y="-1"/>
            <a:ext cx="5047250" cy="26714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CE773212-06D7-5234-7492-E9EFE3A5D56B}"/>
              </a:ext>
            </a:extLst>
          </p:cNvPr>
          <p:cNvSpPr/>
          <p:nvPr/>
        </p:nvSpPr>
        <p:spPr>
          <a:xfrm>
            <a:off x="0" y="0"/>
            <a:ext cx="3044952" cy="2671405"/>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2E668351-DD66-6BDB-C68C-9E00B331662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6000" y="0"/>
            <a:ext cx="3047999" cy="6858000"/>
          </a:xfrm>
          <a:prstGeom prst="rect">
            <a:avLst/>
          </a:prstGeom>
          <a:blipFill>
            <a:blip r:embed="rId5"/>
            <a:stretch>
              <a:fillRect/>
            </a:stretch>
          </a:blipFill>
        </p:spPr>
      </p:pic>
      <p:pic>
        <p:nvPicPr>
          <p:cNvPr id="6" name="Picture 5"/>
          <p:cNvPicPr>
            <a:picLocks/>
          </p:cNvPicPr>
          <p:nvPr>
            <p:custDataLst>
              <p:tags r:id="rId1"/>
            </p:custDataLst>
          </p:nvPr>
        </p:nvPicPr>
        <p:blipFill>
          <a:blip>
            <a:extLst>
              <a:ext uri="{96DAC541-7B7A-43D3-8B79-37D633B846F1}">
                <asvg:svgBlip xmlns:asvg="http://schemas.microsoft.com/office/drawing/2016/SVG/main" r:embed="rId6"/>
              </a:ext>
            </a:extLst>
          </a:blip>
          <a:stretch>
            <a:fillRect/>
          </a:stretch>
        </p:blipFill>
        <p:spPr bwMode="white">
          <a:xfrm>
            <a:off x="1010739" y="1331649"/>
            <a:ext cx="6099048" cy="4194697"/>
          </a:xfrm>
          <a:prstGeom prst="rect">
            <a:avLst/>
          </a:prstGeom>
        </p:spPr>
      </p:pic>
      <p:sp>
        <p:nvSpPr>
          <p:cNvPr id="2" name="Title 1"/>
          <p:cNvSpPr>
            <a:spLocks noGrp="1"/>
          </p:cNvSpPr>
          <p:nvPr>
            <p:ph type="ctrTitle" hasCustomPrompt="1"/>
          </p:nvPr>
        </p:nvSpPr>
        <p:spPr bwMode="gray">
          <a:xfrm>
            <a:off x="3044951" y="4078224"/>
            <a:ext cx="3374136" cy="365760"/>
          </a:xfrm>
          <a:noFill/>
          <a:ln>
            <a:noFill/>
          </a:ln>
        </p:spPr>
        <p:txBody>
          <a:bodyPr wrap="square" lIns="0" tIns="182880" rIns="0" bIns="0">
            <a:spAutoFit/>
          </a:bodyPr>
          <a:lstStyle>
            <a:lvl1pPr>
              <a:defRPr sz="2400" b="0">
                <a:solidFill>
                  <a:schemeClr val="bg1"/>
                </a:solidFill>
                <a:latin typeface="Segoe UI" panose="020B0502040204020203" pitchFamily="34" charset="0"/>
                <a:cs typeface="Segoe UI" panose="020B0502040204020203" pitchFamily="34" charset="0"/>
              </a:defRPr>
            </a:lvl1pPr>
          </a:lstStyle>
          <a:p>
            <a:r>
              <a:rPr lang="en-US" dirty="0"/>
              <a:t>Title</a:t>
            </a:r>
          </a:p>
        </p:txBody>
      </p:sp>
      <p:sp>
        <p:nvSpPr>
          <p:cNvPr id="3" name="Subtitle 2"/>
          <p:cNvSpPr>
            <a:spLocks noGrp="1"/>
          </p:cNvSpPr>
          <p:nvPr>
            <p:ph type="subTitle" idx="1" hasCustomPrompt="1"/>
          </p:nvPr>
        </p:nvSpPr>
        <p:spPr bwMode="gray">
          <a:xfrm>
            <a:off x="3044952" y="4791456"/>
            <a:ext cx="3374136" cy="257058"/>
          </a:xfrm>
        </p:spPr>
        <p:txBody>
          <a:bodyPr wrap="square">
            <a:spAutoFit/>
          </a:bodyPr>
          <a:lstStyle>
            <a:lvl1pPr marL="0" indent="0" algn="l">
              <a:buNone/>
              <a:defRPr sz="1600" b="0" cap="none" spc="0" baseline="0">
                <a:solidFill>
                  <a:schemeClr val="bg1"/>
                </a:solidFill>
                <a:latin typeface="Segoe UI" panose="020B0502040204020203" pitchFamily="34" charset="0"/>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4" name="Date Placeholder 3"/>
          <p:cNvSpPr>
            <a:spLocks noGrp="1"/>
          </p:cNvSpPr>
          <p:nvPr>
            <p:ph type="dt" sz="half" idx="10"/>
          </p:nvPr>
        </p:nvSpPr>
        <p:spPr bwMode="gray">
          <a:xfrm>
            <a:off x="1014984" y="557784"/>
            <a:ext cx="1737360" cy="219456"/>
          </a:xfrm>
          <a:prstGeom prst="rect">
            <a:avLst/>
          </a:prstGeom>
        </p:spPr>
        <p:txBody>
          <a:bodyPr wrap="square" lIns="0" tIns="0" rIns="0" bIns="0" anchor="ctr">
            <a:spAutoFit/>
          </a:bodyPr>
          <a:lstStyle>
            <a:lvl1pPr>
              <a:defRPr lang="en-US" sz="1400">
                <a:solidFill>
                  <a:schemeClr val="tx2"/>
                </a:solidFill>
              </a:defRPr>
            </a:lvl1pPr>
          </a:lstStyle>
          <a:p>
            <a:fld id="{6F840CD7-8D22-4AAF-BBD3-CC800D806532}" type="datetimeFigureOut">
              <a:rPr lang="en-US" smtClean="0"/>
              <a:t>7/28/2026</a:t>
            </a:fld>
            <a:endParaRPr lang="en-US"/>
          </a:p>
        </p:txBody>
      </p:sp>
      <p:sp>
        <p:nvSpPr>
          <p:cNvPr id="9" name="TextBox 8">
            <a:extLst>
              <a:ext uri="{FF2B5EF4-FFF2-40B4-BE49-F238E27FC236}">
                <a16:creationId xmlns:a16="http://schemas.microsoft.com/office/drawing/2014/main" id="{BC1681D7-ADF0-712D-804F-64AA33B1A4C3}"/>
              </a:ext>
            </a:extLst>
          </p:cNvPr>
          <p:cNvSpPr txBox="1"/>
          <p:nvPr/>
        </p:nvSpPr>
        <p:spPr>
          <a:xfrm>
            <a:off x="1014984" y="6388628"/>
            <a:ext cx="2843784" cy="173736"/>
          </a:xfrm>
          <a:prstGeom prst="rect">
            <a:avLst/>
          </a:prstGeom>
        </p:spPr>
        <p:txBody>
          <a:bodyPr vert="horz" wrap="square" lIns="0" tIns="0" rIns="0" bIns="0" rtlCol="0" anchor="ctr">
            <a:noAutofit/>
          </a:bodyPr>
          <a:lstStyle/>
          <a:p>
            <a:pPr>
              <a:buSzPct val="100000"/>
            </a:pPr>
            <a:r>
              <a:rPr lang="en-GB" sz="1100" dirty="0">
                <a:solidFill>
                  <a:schemeClr val="accent3"/>
                </a:solidFill>
              </a:rPr>
              <a:t>Strictly Confidential. Not for Distribution.</a:t>
            </a:r>
          </a:p>
        </p:txBody>
      </p:sp>
      <p:pic>
        <p:nvPicPr>
          <p:cNvPr id="10" name="Graphic 9">
            <a:extLst>
              <a:ext uri="{FF2B5EF4-FFF2-40B4-BE49-F238E27FC236}">
                <a16:creationId xmlns:a16="http://schemas.microsoft.com/office/drawing/2014/main" id="{BD5625E4-9E71-4871-1681-CBA75449C2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8256" y="1728216"/>
            <a:ext cx="2395728" cy="1084274"/>
          </a:xfrm>
          <a:prstGeom prst="rect">
            <a:avLst/>
          </a:prstGeom>
        </p:spPr>
      </p:pic>
    </p:spTree>
    <p:extLst>
      <p:ext uri="{BB962C8B-B14F-4D97-AF65-F5344CB8AC3E}">
        <p14:creationId xmlns:p14="http://schemas.microsoft.com/office/powerpoint/2010/main" val="1319868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hap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6572" y="438912"/>
            <a:ext cx="5724144" cy="1581912"/>
          </a:xfrm>
        </p:spPr>
        <p:txBody>
          <a:bodyPr tIns="0" rIns="0" bIns="0" anchor="b" anchorCtr="0"/>
          <a:lstStyle>
            <a:lvl1pPr algn="l">
              <a:defRPr sz="2200" b="1" cap="none">
                <a:solidFill>
                  <a:schemeClr val="tx1"/>
                </a:solidFill>
              </a:defRPr>
            </a:lvl1pPr>
          </a:lstStyle>
          <a:p>
            <a:r>
              <a:rPr lang="en-US" dirty="0"/>
              <a:t>Click to Edit Master title style</a:t>
            </a:r>
          </a:p>
        </p:txBody>
      </p:sp>
      <p:sp>
        <p:nvSpPr>
          <p:cNvPr id="3" name="Text Placeholder 2"/>
          <p:cNvSpPr>
            <a:spLocks noGrp="1"/>
          </p:cNvSpPr>
          <p:nvPr>
            <p:ph type="body" idx="1"/>
            <p:custDataLst>
              <p:tags r:id="rId1"/>
            </p:custDataLst>
          </p:nvPr>
        </p:nvSpPr>
        <p:spPr>
          <a:xfrm>
            <a:off x="766572" y="2404872"/>
            <a:ext cx="5689736" cy="283464"/>
          </a:xfrm>
        </p:spPr>
        <p:txBody>
          <a:bodyPr anchor="b">
            <a:noAutofit/>
          </a:bodyPr>
          <a:lstStyle>
            <a:lvl1pPr marL="0" indent="0">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7" name="Straight Connector 6"/>
          <p:cNvCxnSpPr/>
          <p:nvPr>
            <p:custDataLst>
              <p:tags r:id="rId2"/>
            </p:custDataLst>
          </p:nvPr>
        </p:nvCxnSpPr>
        <p:spPr>
          <a:xfrm>
            <a:off x="774725" y="2199780"/>
            <a:ext cx="5673963"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11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_TO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DA67EB-C05C-B0E7-6D0A-63E5D3D5A320}"/>
              </a:ext>
            </a:extLst>
          </p:cNvPr>
          <p:cNvSpPr/>
          <p:nvPr/>
        </p:nvSpPr>
        <p:spPr>
          <a:xfrm>
            <a:off x="0" y="-1"/>
            <a:ext cx="3044952" cy="1335024"/>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phic 1">
            <a:extLst>
              <a:ext uri="{FF2B5EF4-FFF2-40B4-BE49-F238E27FC236}">
                <a16:creationId xmlns:a16="http://schemas.microsoft.com/office/drawing/2014/main" id="{E4F88748-AF38-092E-3E1B-38E5037EA6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1876" y="217805"/>
            <a:ext cx="1984248" cy="898043"/>
          </a:xfrm>
          <a:prstGeom prst="rect">
            <a:avLst/>
          </a:prstGeom>
        </p:spPr>
      </p:pic>
    </p:spTree>
    <p:extLst>
      <p:ext uri="{BB962C8B-B14F-4D97-AF65-F5344CB8AC3E}">
        <p14:creationId xmlns:p14="http://schemas.microsoft.com/office/powerpoint/2010/main" val="3580442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Biograph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728FD6-2F3F-4E1D-20F0-3855A12B291B}"/>
              </a:ext>
            </a:extLst>
          </p:cNvPr>
          <p:cNvSpPr/>
          <p:nvPr/>
        </p:nvSpPr>
        <p:spPr>
          <a:xfrm>
            <a:off x="2928530" y="1188602"/>
            <a:ext cx="6215470" cy="169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a:lnSpc>
                <a:spcPct val="114000"/>
              </a:lnSpc>
              <a:spcAft>
                <a:spcPts val="600"/>
              </a:spcAft>
              <a:buClr>
                <a:schemeClr val="tx1"/>
              </a:buClr>
              <a:buSzPct val="100000"/>
            </a:pPr>
            <a:endParaRPr lang="en-GB" sz="1100" err="1">
              <a:solidFill>
                <a:schemeClr val="tx1"/>
              </a:solidFill>
            </a:endParaRPr>
          </a:p>
        </p:txBody>
      </p:sp>
      <p:pic>
        <p:nvPicPr>
          <p:cNvPr id="2" name="Graphic 1">
            <a:extLst>
              <a:ext uri="{FF2B5EF4-FFF2-40B4-BE49-F238E27FC236}">
                <a16:creationId xmlns:a16="http://schemas.microsoft.com/office/drawing/2014/main" id="{D4C5FCFB-FB73-CD55-5ABC-8638625B4789}"/>
              </a:ext>
            </a:extLst>
          </p:cNvPr>
          <p:cNvPicPr>
            <a:picLocks noChangeAspect="1"/>
          </p:cNvPicPr>
          <p:nvPr/>
        </p:nvPicPr>
        <p:blipFill rotWithShape="1">
          <a:blip>
            <a:extLst>
              <a:ext uri="{96DAC541-7B7A-43D3-8B79-37D633B846F1}">
                <asvg:svgBlip xmlns:asvg="http://schemas.microsoft.com/office/drawing/2016/SVG/main" r:embed="rId2"/>
              </a:ext>
            </a:extLst>
          </a:blip>
          <a:srcRect b="14996"/>
          <a:stretch/>
        </p:blipFill>
        <p:spPr>
          <a:xfrm flipH="1">
            <a:off x="5867400" y="5003869"/>
            <a:ext cx="3276600" cy="1854131"/>
          </a:xfrm>
          <a:prstGeom prst="rect">
            <a:avLst/>
          </a:prstGeom>
        </p:spPr>
      </p:pic>
      <p:sp>
        <p:nvSpPr>
          <p:cNvPr id="3" name="Content Placeholder 2"/>
          <p:cNvSpPr>
            <a:spLocks noGrp="1"/>
          </p:cNvSpPr>
          <p:nvPr>
            <p:ph idx="1"/>
          </p:nvPr>
        </p:nvSpPr>
        <p:spPr>
          <a:xfrm>
            <a:off x="3276600" y="3285545"/>
            <a:ext cx="5486400" cy="3320399"/>
          </a:xfrm>
        </p:spPr>
        <p:txBody>
          <a:bodyPr vert="horz" lIns="0" tIns="0" rIns="0" bIns="0" rtlCol="0">
            <a:noAutofit/>
          </a:bodyPr>
          <a:lstStyle>
            <a:lvl1pPr marL="0" indent="0">
              <a:buNone/>
              <a:defRPr lang="en-US" sz="1100" dirty="0" smtClean="0">
                <a:solidFill>
                  <a:schemeClr val="tx1"/>
                </a:solidFill>
              </a:defRPr>
            </a:lvl1pPr>
            <a:lvl2pPr>
              <a:buClrTx/>
              <a:defRPr lang="en-US" sz="1100" dirty="0" smtClean="0">
                <a:solidFill>
                  <a:schemeClr val="tx1"/>
                </a:solidFill>
              </a:defRPr>
            </a:lvl2pPr>
            <a:lvl3pPr>
              <a:buClrTx/>
              <a:defRPr lang="en-US" sz="1100" dirty="0" smtClean="0">
                <a:solidFill>
                  <a:schemeClr val="tx1"/>
                </a:solidFill>
              </a:defRPr>
            </a:lvl3pPr>
            <a:lvl4pPr>
              <a:buClrTx/>
              <a:defRPr lang="en-US" sz="1100" dirty="0" smtClean="0">
                <a:solidFill>
                  <a:schemeClr val="tx1"/>
                </a:solidFill>
              </a:defRPr>
            </a:lvl4pPr>
            <a:lvl5pPr>
              <a:buClrTx/>
              <a:defRPr lang="en-US" sz="11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8" name="Title 57"/>
          <p:cNvSpPr>
            <a:spLocks noGrp="1"/>
          </p:cNvSpPr>
          <p:nvPr>
            <p:ph type="title" hasCustomPrompt="1"/>
          </p:nvPr>
        </p:nvSpPr>
        <p:spPr>
          <a:xfrm>
            <a:off x="3394075" y="1257272"/>
            <a:ext cx="5368924" cy="562157"/>
          </a:xfrm>
        </p:spPr>
        <p:txBody>
          <a:bodyPr/>
          <a:lstStyle>
            <a:lvl1pPr>
              <a:defRPr baseline="0">
                <a:solidFill>
                  <a:schemeClr val="bg1"/>
                </a:solidFill>
              </a:defRPr>
            </a:lvl1pPr>
          </a:lstStyle>
          <a:p>
            <a:r>
              <a:rPr lang="en-US" dirty="0" err="1"/>
              <a:t>Firstname</a:t>
            </a:r>
            <a:r>
              <a:rPr lang="en-US" dirty="0"/>
              <a:t> </a:t>
            </a:r>
            <a:r>
              <a:rPr lang="en-US" dirty="0" err="1"/>
              <a:t>Lastname</a:t>
            </a:r>
            <a:endParaRPr lang="en-US" dirty="0"/>
          </a:p>
        </p:txBody>
      </p:sp>
      <p:sp>
        <p:nvSpPr>
          <p:cNvPr id="11" name="Text Placeholder 10"/>
          <p:cNvSpPr>
            <a:spLocks noGrp="1"/>
          </p:cNvSpPr>
          <p:nvPr>
            <p:ph type="body" sz="quarter" idx="14" hasCustomPrompt="1"/>
          </p:nvPr>
        </p:nvSpPr>
        <p:spPr>
          <a:xfrm>
            <a:off x="3394075" y="1860962"/>
            <a:ext cx="5368924" cy="501238"/>
          </a:xfrm>
        </p:spPr>
        <p:txBody>
          <a:bodyPr>
            <a:noAutofit/>
          </a:bodyPr>
          <a:lstStyle>
            <a:lvl1pPr marL="0" indent="0">
              <a:lnSpc>
                <a:spcPct val="105000"/>
              </a:lnSpc>
              <a:spcAft>
                <a:spcPts val="0"/>
              </a:spcAft>
              <a:buNone/>
              <a:defRPr sz="1300" b="1">
                <a:solidFill>
                  <a:schemeClr val="bg1"/>
                </a:solidFill>
              </a:defRPr>
            </a:lvl1pPr>
            <a:lvl2pPr marL="0" indent="0">
              <a:lnSpc>
                <a:spcPct val="105000"/>
              </a:lnSpc>
              <a:spcAft>
                <a:spcPts val="0"/>
              </a:spcAft>
              <a:buNone/>
              <a:defRPr sz="1300" b="0" cap="all" baseline="0">
                <a:solidFill>
                  <a:schemeClr val="accent1"/>
                </a:solidFill>
              </a:defRPr>
            </a:lvl2pPr>
          </a:lstStyle>
          <a:p>
            <a:pPr lvl="0"/>
            <a:r>
              <a:rPr lang="en-US" dirty="0"/>
              <a:t>Primary Role</a:t>
            </a:r>
          </a:p>
          <a:p>
            <a:pPr lvl="1"/>
            <a:r>
              <a:rPr lang="en-US" dirty="0"/>
              <a:t>Group or Office</a:t>
            </a:r>
          </a:p>
        </p:txBody>
      </p:sp>
      <p:sp>
        <p:nvSpPr>
          <p:cNvPr id="6" name="Rectangle 5">
            <a:extLst>
              <a:ext uri="{FF2B5EF4-FFF2-40B4-BE49-F238E27FC236}">
                <a16:creationId xmlns:a16="http://schemas.microsoft.com/office/drawing/2014/main" id="{E314D28F-FBD0-02E9-AC83-D474BBED0CB4}"/>
              </a:ext>
            </a:extLst>
          </p:cNvPr>
          <p:cNvSpPr/>
          <p:nvPr/>
        </p:nvSpPr>
        <p:spPr>
          <a:xfrm>
            <a:off x="0" y="1188602"/>
            <a:ext cx="1046398" cy="1691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a:lnSpc>
                <a:spcPct val="114000"/>
              </a:lnSpc>
              <a:spcAft>
                <a:spcPts val="600"/>
              </a:spcAft>
              <a:buClr>
                <a:schemeClr val="tx1"/>
              </a:buClr>
              <a:buSzPct val="100000"/>
            </a:pPr>
            <a:endParaRPr lang="en-GB" sz="1100" err="1">
              <a:solidFill>
                <a:schemeClr val="tx1"/>
              </a:solidFill>
            </a:endParaRPr>
          </a:p>
        </p:txBody>
      </p:sp>
      <p:sp>
        <p:nvSpPr>
          <p:cNvPr id="7" name="Slide Number Placeholder 2">
            <a:extLst>
              <a:ext uri="{FF2B5EF4-FFF2-40B4-BE49-F238E27FC236}">
                <a16:creationId xmlns:a16="http://schemas.microsoft.com/office/drawing/2014/main" id="{450C8202-8F74-2924-34B5-4B1481E6F0F3}"/>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cxnSp>
        <p:nvCxnSpPr>
          <p:cNvPr id="8" name="Straight Connector 7">
            <a:extLst>
              <a:ext uri="{FF2B5EF4-FFF2-40B4-BE49-F238E27FC236}">
                <a16:creationId xmlns:a16="http://schemas.microsoft.com/office/drawing/2014/main" id="{40D8C699-CF06-FD34-31F8-9259C341F7C8}"/>
              </a:ext>
            </a:extLst>
          </p:cNvPr>
          <p:cNvCxnSpPr>
            <a:cxnSpLocks/>
          </p:cNvCxnSpPr>
          <p:nvPr/>
        </p:nvCxnSpPr>
        <p:spPr>
          <a:xfrm>
            <a:off x="228600" y="6572797"/>
            <a:ext cx="1501140"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37A7F6A-1AC6-632C-873F-87D2ADD11F8F}"/>
              </a:ext>
            </a:extLst>
          </p:cNvPr>
          <p:cNvPicPr>
            <a:picLocks noChangeAspect="1"/>
          </p:cNvPicPr>
          <p:nvPr/>
        </p:nvPicPr>
        <p:blipFill>
          <a:blip r:embed="rId3"/>
          <a:stretch>
            <a:fillRect/>
          </a:stretch>
        </p:blipFill>
        <p:spPr>
          <a:xfrm>
            <a:off x="618528" y="6626803"/>
            <a:ext cx="1088434" cy="185473"/>
          </a:xfrm>
          <a:prstGeom prst="rect">
            <a:avLst/>
          </a:prstGeom>
        </p:spPr>
      </p:pic>
      <p:cxnSp>
        <p:nvCxnSpPr>
          <p:cNvPr id="13" name="Straight Connector 12">
            <a:extLst>
              <a:ext uri="{FF2B5EF4-FFF2-40B4-BE49-F238E27FC236}">
                <a16:creationId xmlns:a16="http://schemas.microsoft.com/office/drawing/2014/main" id="{8267B6D7-B70B-6955-3792-EE9BD952417F}"/>
              </a:ext>
            </a:extLst>
          </p:cNvPr>
          <p:cNvCxnSpPr>
            <a:cxnSpLocks/>
          </p:cNvCxnSpPr>
          <p:nvPr/>
        </p:nvCxnSpPr>
        <p:spPr>
          <a:xfrm>
            <a:off x="519699" y="6605945"/>
            <a:ext cx="0" cy="206337"/>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894F1CB-78F6-BE01-43AB-9F391D64BE09}"/>
              </a:ext>
            </a:extLst>
          </p:cNvPr>
          <p:cNvSpPr txBox="1"/>
          <p:nvPr/>
        </p:nvSpPr>
        <p:spPr>
          <a:xfrm>
            <a:off x="1598058" y="3299834"/>
            <a:ext cx="1229504" cy="153888"/>
          </a:xfrm>
          <a:prstGeom prst="rect">
            <a:avLst/>
          </a:prstGeom>
        </p:spPr>
        <p:txBody>
          <a:bodyPr vert="horz" wrap="none" lIns="0" tIns="0" rIns="0" bIns="0" rtlCol="0">
            <a:spAutoFit/>
          </a:bodyPr>
          <a:lstStyle/>
          <a:p>
            <a:pPr marL="0" lvl="0" algn="r"/>
            <a:r>
              <a:rPr lang="en-US" sz="1000" b="1" kern="1200" spc="100" baseline="0" dirty="0">
                <a:solidFill>
                  <a:schemeClr val="accent1"/>
                </a:solidFill>
                <a:latin typeface="+mn-lt"/>
                <a:ea typeface="+mn-ea"/>
                <a:cs typeface="+mn-cs"/>
              </a:rPr>
              <a:t>QUALIFICATIONS</a:t>
            </a:r>
          </a:p>
        </p:txBody>
      </p:sp>
    </p:spTree>
    <p:extLst>
      <p:ext uri="{BB962C8B-B14F-4D97-AF65-F5344CB8AC3E}">
        <p14:creationId xmlns:p14="http://schemas.microsoft.com/office/powerpoint/2010/main" val="1719315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4603548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1739084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chemeClr val="accent3"/>
              </a:solidFill>
              <a:effectLst/>
              <a:uLnTx/>
              <a:uFillTx/>
              <a:latin typeface="+mn-lt"/>
              <a:ea typeface="+mn-ea"/>
              <a:cs typeface="+mn-cs"/>
            </a:endParaRPr>
          </a:p>
        </p:txBody>
      </p:sp>
      <p:sp>
        <p:nvSpPr>
          <p:cNvPr id="2" name="Title 1">
            <a:extLst>
              <a:ext uri="{FF2B5EF4-FFF2-40B4-BE49-F238E27FC236}">
                <a16:creationId xmlns:a16="http://schemas.microsoft.com/office/drawing/2014/main" id="{B977CC17-D37E-BDEC-935F-C3D3950B9648}"/>
              </a:ext>
            </a:extLst>
          </p:cNvPr>
          <p:cNvSpPr>
            <a:spLocks noGrp="1"/>
          </p:cNvSpPr>
          <p:nvPr>
            <p:ph type="title"/>
          </p:nvPr>
        </p:nvSpPr>
        <p:spPr/>
        <p:txBody>
          <a:bodyPr/>
          <a:lstStyle/>
          <a:p>
            <a:r>
              <a:rPr lang="en-US"/>
              <a:t>Click to edit Master title style</a:t>
            </a:r>
          </a:p>
        </p:txBody>
      </p:sp>
      <p:sp>
        <p:nvSpPr>
          <p:cNvPr id="4" name="Slide Number Placeholder 2">
            <a:extLst>
              <a:ext uri="{FF2B5EF4-FFF2-40B4-BE49-F238E27FC236}">
                <a16:creationId xmlns:a16="http://schemas.microsoft.com/office/drawing/2014/main" id="{CBE0CFC2-5E19-470E-2B63-8FED66D2A0D8}"/>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04005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ingle">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80160"/>
            <a:ext cx="5852160" cy="4800600"/>
          </a:xfrm>
        </p:spPr>
        <p:txBody>
          <a:bodyPr>
            <a:noAutofit/>
          </a:bodyPr>
          <a:lstStyle>
            <a:lvl1pP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4228A951-9461-5506-B323-B16B5C8037E9}"/>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341354018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ingle Horizont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54480"/>
            <a:ext cx="5852160" cy="4526280"/>
          </a:xfrm>
        </p:spPr>
        <p:txBody>
          <a:bodyPr>
            <a:noAutofit/>
          </a:bodyPr>
          <a:lstStyle>
            <a:lvl1pP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CD2691EF-A53C-C846-79C9-E47DEBAF3BEC}"/>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79913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ingle Vertic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1280160"/>
            <a:ext cx="6400800" cy="4800600"/>
          </a:xfrm>
        </p:spPr>
        <p:txBody>
          <a:bodyPr>
            <a:noAutofit/>
          </a:bodyPr>
          <a:lstStyle>
            <a:lvl1pP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C4D5EC5B-D34D-EF90-121A-F9296D605433}"/>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12078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ouble Vertical ">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80160"/>
            <a:ext cx="4114800" cy="48006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4800600" y="1280160"/>
            <a:ext cx="4114800" cy="48006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a:xfrm>
            <a:off x="228600" y="0"/>
            <a:ext cx="8686800" cy="685800"/>
          </a:xfrm>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A408CDB2-F5FA-B6B9-0B02-DA27ECEC13C2}"/>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4764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ouble Vertical Horizont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54480"/>
            <a:ext cx="4114800" cy="452628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4800600" y="1554480"/>
            <a:ext cx="4114800" cy="452628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a:xfrm>
            <a:off x="228600" y="0"/>
            <a:ext cx="8686800" cy="685800"/>
          </a:xfrm>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F4B34A95-7314-A4FC-D826-E373A5B0EA78}"/>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04055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ouble Vertical Vertical Takeaway">
    <p:spTree>
      <p:nvGrpSpPr>
        <p:cNvPr id="1" name=""/>
        <p:cNvGrpSpPr/>
        <p:nvPr/>
      </p:nvGrpSpPr>
      <p:grpSpPr>
        <a:xfrm>
          <a:off x="0" y="0"/>
          <a:ext cx="0" cy="0"/>
          <a:chOff x="0" y="0"/>
          <a:chExt cx="0" cy="0"/>
        </a:xfrm>
      </p:grpSpPr>
      <p:sp>
        <p:nvSpPr>
          <p:cNvPr id="9" name="Content Placeholder 2"/>
          <p:cNvSpPr>
            <a:spLocks noGrp="1"/>
          </p:cNvSpPr>
          <p:nvPr>
            <p:ph idx="13"/>
          </p:nvPr>
        </p:nvSpPr>
        <p:spPr>
          <a:xfrm>
            <a:off x="5897880" y="1280160"/>
            <a:ext cx="3017520" cy="48006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idx="1"/>
          </p:nvPr>
        </p:nvSpPr>
        <p:spPr>
          <a:xfrm>
            <a:off x="2514600" y="1280160"/>
            <a:ext cx="3017520" cy="48006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B1D9A41C-26B2-27BB-CA27-980E069AEEEB}"/>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23861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ouble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80160"/>
            <a:ext cx="585216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28600" y="3931920"/>
            <a:ext cx="585216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chemeClr val="accent3"/>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263D4F69-49C5-97C5-2A5D-290826247C10}"/>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413876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uble Horizontal Horizont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54480"/>
            <a:ext cx="585216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28600" y="4023360"/>
            <a:ext cx="585216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DDE95835-E1F0-853E-E2CE-05F99D5E2187}"/>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3295146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uble Horizontal Vertic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1280160"/>
            <a:ext cx="6400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514600" y="3931920"/>
            <a:ext cx="6400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A3409A97-1FFC-1428-59C8-325E422EFBA6}"/>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3693730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Qua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80160"/>
            <a:ext cx="4114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4800600" y="1280160"/>
            <a:ext cx="4114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28600" y="3931920"/>
            <a:ext cx="4114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5"/>
          </p:nvPr>
        </p:nvSpPr>
        <p:spPr>
          <a:xfrm>
            <a:off x="4800600" y="3931920"/>
            <a:ext cx="411480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0991CC7B-2E94-1B0F-E1B4-064322FD8C78}"/>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04185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ad Horizont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54480"/>
            <a:ext cx="411480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4800600" y="1554480"/>
            <a:ext cx="411480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28600" y="4023360"/>
            <a:ext cx="411480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5"/>
          </p:nvPr>
        </p:nvSpPr>
        <p:spPr>
          <a:xfrm>
            <a:off x="4800600" y="4023360"/>
            <a:ext cx="4114800" cy="205740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B47CD7CD-310D-068D-F3C5-5EE8F50A771E}"/>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009805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 Vertical 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1280160"/>
            <a:ext cx="301752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5897880" y="1280160"/>
            <a:ext cx="301752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2514600" y="3931920"/>
            <a:ext cx="301752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5"/>
          </p:nvPr>
        </p:nvSpPr>
        <p:spPr>
          <a:xfrm>
            <a:off x="5897880" y="3931920"/>
            <a:ext cx="3017520" cy="2148840"/>
          </a:xfrm>
        </p:spPr>
        <p:txBody>
          <a:bodyPr vert="horz" lIns="0" tIns="0" rIns="0" bIns="0" rtlCol="0">
            <a:noAutofit/>
          </a:bodyPr>
          <a:lstStyle>
            <a:lvl1pPr>
              <a:defRPr lang="en-US" dirty="0" smtClean="0">
                <a:solidFill>
                  <a:schemeClr val="tx1"/>
                </a:solidFill>
              </a:defRPr>
            </a:lvl1pPr>
            <a:lvl2pPr>
              <a:buClrTx/>
              <a:defRPr lang="en-US" dirty="0" smtClean="0">
                <a:solidFill>
                  <a:schemeClr val="tx1"/>
                </a:solidFill>
              </a:defRPr>
            </a:lvl2pPr>
            <a:lvl3pPr>
              <a:buClrTx/>
              <a:defRPr lang="en-US" dirty="0" smtClean="0">
                <a:solidFill>
                  <a:schemeClr val="tx1"/>
                </a:solidFill>
              </a:defRPr>
            </a:lvl3pPr>
            <a:lvl4pPr>
              <a:buClrTx/>
              <a:defRPr lang="en-US" dirty="0" smtClean="0">
                <a:solidFill>
                  <a:schemeClr val="tx1"/>
                </a:solidFill>
              </a:defRPr>
            </a:lvl4pPr>
            <a:lvl5pPr>
              <a:buClrTx/>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rgbClr val="BEB7AF"/>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5" name="Slide Number Placeholder 2">
            <a:extLst>
              <a:ext uri="{FF2B5EF4-FFF2-40B4-BE49-F238E27FC236}">
                <a16:creationId xmlns:a16="http://schemas.microsoft.com/office/drawing/2014/main" id="{EECFC77A-0689-575B-D670-2B9445156A2F}"/>
              </a:ext>
            </a:extLst>
          </p:cNvPr>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spTree>
    <p:extLst>
      <p:ext uri="{BB962C8B-B14F-4D97-AF65-F5344CB8AC3E}">
        <p14:creationId xmlns:p14="http://schemas.microsoft.com/office/powerpoint/2010/main" val="14820511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6070-FE35-CDF7-C205-C4FC09A711AB}"/>
              </a:ext>
            </a:extLst>
          </p:cNvPr>
          <p:cNvSpPr>
            <a:spLocks noGrp="1"/>
          </p:cNvSpPr>
          <p:nvPr>
            <p:ph type="title" hasCustomPrompt="1"/>
          </p:nvPr>
        </p:nvSpPr>
        <p:spPr/>
        <p:txBody>
          <a:bodyPr/>
          <a:lstStyle>
            <a:lvl1pPr>
              <a:defRPr/>
            </a:lvl1pPr>
          </a:lstStyle>
          <a:p>
            <a:r>
              <a:rPr lang="en-US" dirty="0"/>
              <a:t>Disclaimer</a:t>
            </a:r>
          </a:p>
        </p:txBody>
      </p:sp>
      <p:sp>
        <p:nvSpPr>
          <p:cNvPr id="3" name="Slide Number Placeholder 2">
            <a:extLst>
              <a:ext uri="{FF2B5EF4-FFF2-40B4-BE49-F238E27FC236}">
                <a16:creationId xmlns:a16="http://schemas.microsoft.com/office/drawing/2014/main" id="{4EAB2AC0-9514-FFFA-3AE3-67832DFC1470}"/>
              </a:ext>
            </a:extLst>
          </p:cNvPr>
          <p:cNvSpPr>
            <a:spLocks noGrp="1"/>
          </p:cNvSpPr>
          <p:nvPr>
            <p:ph type="sldNum" sz="quarter" idx="10"/>
          </p:nvPr>
        </p:nvSpPr>
        <p:spPr/>
        <p:txBody>
          <a:bodyPr/>
          <a:lstStyle/>
          <a:p>
            <a:fld id="{8D508841-7C58-4AFF-A5FE-7816CAD1C394}" type="slidenum">
              <a:rPr lang="en-US" smtClean="0"/>
              <a:t>‹#›</a:t>
            </a:fld>
            <a:endParaRPr lang="en-US"/>
          </a:p>
        </p:txBody>
      </p:sp>
      <p:sp>
        <p:nvSpPr>
          <p:cNvPr id="4" name="Content Placeholder 1">
            <a:extLst>
              <a:ext uri="{FF2B5EF4-FFF2-40B4-BE49-F238E27FC236}">
                <a16:creationId xmlns:a16="http://schemas.microsoft.com/office/drawing/2014/main" id="{4EF5080E-69E4-582A-D201-90AD2B4D7B26}"/>
              </a:ext>
            </a:extLst>
          </p:cNvPr>
          <p:cNvSpPr>
            <a:spLocks noGrp="1"/>
          </p:cNvSpPr>
          <p:nvPr>
            <p:ph idx="1"/>
          </p:nvPr>
        </p:nvSpPr>
        <p:spPr>
          <a:xfrm>
            <a:off x="228600" y="1021080"/>
            <a:ext cx="8686800" cy="5074920"/>
          </a:xfrm>
        </p:spPr>
        <p:txBody>
          <a:bodyPr/>
          <a:lstStyle/>
          <a:p>
            <a:pPr lvl="0">
              <a:lnSpc>
                <a:spcPct val="110000"/>
              </a:lnSpc>
            </a:pPr>
            <a:r>
              <a:rPr lang="en-US"/>
              <a:t>Click to edit Master text styles</a:t>
            </a:r>
          </a:p>
          <a:p>
            <a:pPr lvl="1">
              <a:lnSpc>
                <a:spcPct val="110000"/>
              </a:lnSpc>
            </a:pPr>
            <a:r>
              <a:rPr lang="en-US"/>
              <a:t>Second level</a:t>
            </a:r>
          </a:p>
          <a:p>
            <a:pPr lvl="2">
              <a:lnSpc>
                <a:spcPct val="110000"/>
              </a:lnSpc>
            </a:pPr>
            <a:r>
              <a:rPr lang="en-US"/>
              <a:t>Third level</a:t>
            </a:r>
          </a:p>
          <a:p>
            <a:pPr lvl="3">
              <a:lnSpc>
                <a:spcPct val="110000"/>
              </a:lnSpc>
            </a:pPr>
            <a:r>
              <a:rPr lang="en-US"/>
              <a:t>Fourth level</a:t>
            </a:r>
          </a:p>
          <a:p>
            <a:pPr lvl="4">
              <a:lnSpc>
                <a:spcPct val="110000"/>
              </a:lnSpc>
            </a:pPr>
            <a:r>
              <a:rPr lang="en-US"/>
              <a:t>Fifth level</a:t>
            </a:r>
            <a:endParaRPr lang="en-US" dirty="0"/>
          </a:p>
        </p:txBody>
      </p:sp>
    </p:spTree>
    <p:extLst>
      <p:ext uri="{BB962C8B-B14F-4D97-AF65-F5344CB8AC3E}">
        <p14:creationId xmlns:p14="http://schemas.microsoft.com/office/powerpoint/2010/main" val="13352812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5_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926714-CC3F-8D87-9D1F-F3DB8C244F94}"/>
              </a:ext>
            </a:extLst>
          </p:cNvPr>
          <p:cNvSpPr/>
          <p:nvPr/>
        </p:nvSpPr>
        <p:spPr>
          <a:xfrm>
            <a:off x="0" y="-1"/>
            <a:ext cx="3044952" cy="2671405"/>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5">
            <a:extLst>
              <a:ext uri="{FF2B5EF4-FFF2-40B4-BE49-F238E27FC236}">
                <a16:creationId xmlns:a16="http://schemas.microsoft.com/office/drawing/2014/main" id="{3CAA4D3A-A561-A3C3-0189-D177AD1AE83E}"/>
              </a:ext>
            </a:extLst>
          </p:cNvPr>
          <p:cNvPicPr>
            <a:picLocks/>
          </p:cNvPicPr>
          <p:nvPr userDrawn="1">
            <p:custDataLst>
              <p:tags r:id="rId1"/>
            </p:custDataLst>
          </p:nvPr>
        </p:nvPicPr>
        <p:blipFill>
          <a:blip>
            <a:extLst>
              <a:ext uri="{96DAC541-7B7A-43D3-8B79-37D633B846F1}">
                <asvg:svgBlip xmlns:asvg="http://schemas.microsoft.com/office/drawing/2016/SVG/main" r:embed="rId3"/>
              </a:ext>
            </a:extLst>
          </a:blip>
          <a:stretch>
            <a:fillRect/>
          </a:stretch>
        </p:blipFill>
        <p:spPr bwMode="white">
          <a:xfrm>
            <a:off x="1010738" y="1331649"/>
            <a:ext cx="8133261" cy="5526351"/>
          </a:xfrm>
          <a:prstGeom prst="rect">
            <a:avLst/>
          </a:prstGeom>
        </p:spPr>
      </p:pic>
      <p:cxnSp>
        <p:nvCxnSpPr>
          <p:cNvPr id="5" name="Straight Arrow Connector 4">
            <a:extLst>
              <a:ext uri="{FF2B5EF4-FFF2-40B4-BE49-F238E27FC236}">
                <a16:creationId xmlns:a16="http://schemas.microsoft.com/office/drawing/2014/main" id="{86A81ACD-1C1D-67B8-6162-8C703906709A}"/>
              </a:ext>
            </a:extLst>
          </p:cNvPr>
          <p:cNvCxnSpPr/>
          <p:nvPr/>
        </p:nvCxnSpPr>
        <p:spPr>
          <a:xfrm flipV="1">
            <a:off x="6102045" y="5522976"/>
            <a:ext cx="0" cy="1335024"/>
          </a:xfrm>
          <a:prstGeom prst="straightConnector1">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7FCD07F-B1C1-4F0F-EDF2-F240BDEB947D}"/>
              </a:ext>
            </a:extLst>
          </p:cNvPr>
          <p:cNvSpPr/>
          <p:nvPr/>
        </p:nvSpPr>
        <p:spPr>
          <a:xfrm>
            <a:off x="6235815" y="5486400"/>
            <a:ext cx="2441448" cy="1125501"/>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Segoe UI Semibold"/>
                <a:ea typeface="+mn-ea"/>
                <a:cs typeface="+mn-cs"/>
              </a:rPr>
              <a:t>CORPORATE FINANCE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Segoe UI Semibold"/>
                <a:ea typeface="+mn-ea"/>
                <a:cs typeface="+mn-cs"/>
              </a:rPr>
              <a:t>FINANCIAL RESTRUCTURING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Segoe UI Semibold"/>
                <a:ea typeface="+mn-ea"/>
                <a:cs typeface="+mn-cs"/>
              </a:rPr>
              <a:t>FINANCIAL AND VALUATION ADVISORY</a:t>
            </a:r>
            <a:br>
              <a:rPr kumimoji="0" lang="en-US" sz="1000" b="0" i="0" u="none" strike="noStrike" kern="0" cap="none" spc="0" normalizeH="0" baseline="0" noProof="0" dirty="0">
                <a:ln>
                  <a:noFill/>
                </a:ln>
                <a:solidFill>
                  <a:prstClr val="white"/>
                </a:solidFill>
                <a:effectLst/>
                <a:uLnTx/>
                <a:uFillTx/>
                <a:latin typeface="Segoe UI Semibold"/>
                <a:ea typeface="+mn-ea"/>
                <a:cs typeface="+mn-cs"/>
              </a:rPr>
            </a:br>
            <a:endParaRPr kumimoji="0" lang="en-US" sz="1000" b="0" i="0" u="none" strike="noStrike" kern="1200" cap="none" spc="100" normalizeH="0" baseline="0" noProof="0" dirty="0">
              <a:ln>
                <a:noFill/>
              </a:ln>
              <a:solidFill>
                <a:prstClr val="white"/>
              </a:solidFill>
              <a:effectLst/>
              <a:uLnTx/>
              <a:uFillTx/>
              <a:latin typeface="Segoe UI Semibold"/>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egoe UI Semibold"/>
                <a:ea typeface="+mn-ea"/>
                <a:cs typeface="+mn-cs"/>
              </a:rPr>
              <a:t>HL.com</a:t>
            </a:r>
          </a:p>
        </p:txBody>
      </p:sp>
      <p:pic>
        <p:nvPicPr>
          <p:cNvPr id="7" name="Graphic 6">
            <a:extLst>
              <a:ext uri="{FF2B5EF4-FFF2-40B4-BE49-F238E27FC236}">
                <a16:creationId xmlns:a16="http://schemas.microsoft.com/office/drawing/2014/main" id="{22A3B9C3-D5AA-0AB0-815C-F77426821E9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48256" y="1728216"/>
            <a:ext cx="2395728" cy="1084274"/>
          </a:xfrm>
          <a:prstGeom prst="rect">
            <a:avLst/>
          </a:prstGeom>
        </p:spPr>
      </p:pic>
    </p:spTree>
    <p:extLst>
      <p:ext uri="{BB962C8B-B14F-4D97-AF65-F5344CB8AC3E}">
        <p14:creationId xmlns:p14="http://schemas.microsoft.com/office/powerpoint/2010/main" val="288063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tags" Target="../tags/tag1.xml"/><Relationship Id="rId23" Type="http://schemas.openxmlformats.org/officeDocument/2006/relationships/tags" Target="../tags/tag2.xml"/><Relationship Id="rId24" Type="http://schemas.openxmlformats.org/officeDocument/2006/relationships/oleObject" Target="../embeddings/oleObject1.bin"/><Relationship Id="rId25" Type="http://schemas.openxmlformats.org/officeDocument/2006/relationships/image" Target="../media/image1.emf"/><Relationship Id="rId26"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2"/>
            </p:custDataLst>
            <p:extLst>
              <p:ext uri="{D42A27DB-BD31-4B8C-83A1-F6EECF244321}">
                <p14:modId xmlns:p14="http://schemas.microsoft.com/office/powerpoint/2010/main" val="37174775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7" name="Object 6" hidden="1"/>
                      <p:cNvPicPr/>
                      <p:nvPr/>
                    </p:nvPicPr>
                    <p:blipFill>
                      <a:blip r:embed="rId25"/>
                      <a:stretch>
                        <a:fillRect/>
                      </a:stretch>
                    </p:blipFill>
                    <p:spPr>
                      <a:xfrm>
                        <a:off x="1588" y="1588"/>
                        <a:ext cx="1587" cy="1587"/>
                      </a:xfrm>
                      <a:prstGeom prst="rect">
                        <a:avLst/>
                      </a:prstGeom>
                    </p:spPr>
                  </p:pic>
                </p:oleObj>
              </mc:Fallback>
            </mc:AlternateContent>
          </a:graphicData>
        </a:graphic>
      </p:graphicFrame>
      <p:grpSp>
        <p:nvGrpSpPr>
          <p:cNvPr id="8" name="Grid" hidden="1"/>
          <p:cNvGrpSpPr/>
          <p:nvPr>
            <p:custDataLst>
              <p:tags r:id="rId23"/>
            </p:custDataLst>
          </p:nvPr>
        </p:nvGrpSpPr>
        <p:grpSpPr>
          <a:xfrm>
            <a:off x="-714726" y="-1858282"/>
            <a:ext cx="10573101" cy="10608018"/>
            <a:chOff x="-714726" y="-1858282"/>
            <a:chExt cx="10573101" cy="10608018"/>
          </a:xfrm>
        </p:grpSpPr>
        <p:sp>
          <p:nvSpPr>
            <p:cNvPr id="9" name="Line 5" hidden="1"/>
            <p:cNvSpPr>
              <a:spLocks noChangeShapeType="1"/>
            </p:cNvSpPr>
            <p:nvPr/>
          </p:nvSpPr>
          <p:spPr bwMode="auto">
            <a:xfrm>
              <a:off x="279062" y="1523284"/>
              <a:ext cx="8617756" cy="0"/>
            </a:xfrm>
            <a:prstGeom prst="line">
              <a:avLst/>
            </a:prstGeom>
            <a:noFill/>
            <a:ln w="11113" cap="flat">
              <a:solidFill>
                <a:srgbClr val="DCD5C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Line 7" hidden="1"/>
            <p:cNvSpPr>
              <a:spLocks noChangeShapeType="1"/>
            </p:cNvSpPr>
            <p:nvPr/>
          </p:nvSpPr>
          <p:spPr bwMode="auto">
            <a:xfrm flipH="1">
              <a:off x="-714726" y="508008"/>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Line 8" hidden="1"/>
            <p:cNvSpPr>
              <a:spLocks noChangeShapeType="1"/>
            </p:cNvSpPr>
            <p:nvPr/>
          </p:nvSpPr>
          <p:spPr bwMode="auto">
            <a:xfrm flipH="1">
              <a:off x="-714726" y="761827"/>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Line 9" hidden="1"/>
            <p:cNvSpPr>
              <a:spLocks noChangeShapeType="1"/>
            </p:cNvSpPr>
            <p:nvPr/>
          </p:nvSpPr>
          <p:spPr bwMode="auto">
            <a:xfrm flipH="1">
              <a:off x="-714726" y="1015646"/>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Line 10" hidden="1"/>
            <p:cNvSpPr>
              <a:spLocks noChangeShapeType="1"/>
            </p:cNvSpPr>
            <p:nvPr/>
          </p:nvSpPr>
          <p:spPr bwMode="auto">
            <a:xfrm flipH="1">
              <a:off x="-714726" y="1269465"/>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11" hidden="1"/>
            <p:cNvSpPr>
              <a:spLocks noChangeShapeType="1"/>
            </p:cNvSpPr>
            <p:nvPr/>
          </p:nvSpPr>
          <p:spPr bwMode="auto">
            <a:xfrm flipH="1">
              <a:off x="-714726" y="1523284"/>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12" hidden="1"/>
            <p:cNvSpPr>
              <a:spLocks noChangeShapeType="1"/>
            </p:cNvSpPr>
            <p:nvPr/>
          </p:nvSpPr>
          <p:spPr bwMode="auto">
            <a:xfrm flipH="1">
              <a:off x="-714726" y="1777103"/>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Line 13" hidden="1"/>
            <p:cNvSpPr>
              <a:spLocks noChangeShapeType="1"/>
            </p:cNvSpPr>
            <p:nvPr/>
          </p:nvSpPr>
          <p:spPr bwMode="auto">
            <a:xfrm flipH="1">
              <a:off x="-714726" y="2030921"/>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14" hidden="1"/>
            <p:cNvSpPr>
              <a:spLocks noChangeShapeType="1"/>
            </p:cNvSpPr>
            <p:nvPr/>
          </p:nvSpPr>
          <p:spPr bwMode="auto">
            <a:xfrm flipH="1">
              <a:off x="-714726" y="2539902"/>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15" hidden="1"/>
            <p:cNvSpPr>
              <a:spLocks noChangeShapeType="1"/>
            </p:cNvSpPr>
            <p:nvPr/>
          </p:nvSpPr>
          <p:spPr bwMode="auto">
            <a:xfrm flipH="1">
              <a:off x="-714726" y="2793721"/>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Line 16" hidden="1"/>
            <p:cNvSpPr>
              <a:spLocks noChangeShapeType="1"/>
            </p:cNvSpPr>
            <p:nvPr/>
          </p:nvSpPr>
          <p:spPr bwMode="auto">
            <a:xfrm flipH="1">
              <a:off x="-714726" y="3047540"/>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17" hidden="1"/>
            <p:cNvSpPr>
              <a:spLocks noChangeShapeType="1"/>
            </p:cNvSpPr>
            <p:nvPr/>
          </p:nvSpPr>
          <p:spPr bwMode="auto">
            <a:xfrm flipH="1">
              <a:off x="-714726" y="3301359"/>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8" hidden="1"/>
            <p:cNvSpPr>
              <a:spLocks noChangeShapeType="1"/>
            </p:cNvSpPr>
            <p:nvPr/>
          </p:nvSpPr>
          <p:spPr bwMode="auto">
            <a:xfrm flipH="1">
              <a:off x="-714726" y="3555178"/>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9" hidden="1"/>
            <p:cNvSpPr>
              <a:spLocks noChangeShapeType="1"/>
            </p:cNvSpPr>
            <p:nvPr/>
          </p:nvSpPr>
          <p:spPr bwMode="auto">
            <a:xfrm flipH="1">
              <a:off x="-714726" y="3808997"/>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20" hidden="1"/>
            <p:cNvSpPr>
              <a:spLocks noChangeShapeType="1"/>
            </p:cNvSpPr>
            <p:nvPr/>
          </p:nvSpPr>
          <p:spPr bwMode="auto">
            <a:xfrm flipH="1">
              <a:off x="-714726" y="4062816"/>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21" hidden="1"/>
            <p:cNvSpPr>
              <a:spLocks noChangeShapeType="1"/>
            </p:cNvSpPr>
            <p:nvPr/>
          </p:nvSpPr>
          <p:spPr bwMode="auto">
            <a:xfrm flipH="1">
              <a:off x="-714726" y="4316634"/>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2" hidden="1"/>
            <p:cNvSpPr>
              <a:spLocks noChangeShapeType="1"/>
            </p:cNvSpPr>
            <p:nvPr/>
          </p:nvSpPr>
          <p:spPr bwMode="auto">
            <a:xfrm flipH="1">
              <a:off x="-714726" y="4825615"/>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3" hidden="1"/>
            <p:cNvSpPr>
              <a:spLocks noChangeShapeType="1"/>
            </p:cNvSpPr>
            <p:nvPr/>
          </p:nvSpPr>
          <p:spPr bwMode="auto">
            <a:xfrm flipH="1">
              <a:off x="-714726" y="5079434"/>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4" hidden="1"/>
            <p:cNvSpPr>
              <a:spLocks noChangeShapeType="1"/>
            </p:cNvSpPr>
            <p:nvPr/>
          </p:nvSpPr>
          <p:spPr bwMode="auto">
            <a:xfrm flipH="1">
              <a:off x="-714726" y="5333253"/>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5" hidden="1"/>
            <p:cNvSpPr>
              <a:spLocks noChangeShapeType="1"/>
            </p:cNvSpPr>
            <p:nvPr/>
          </p:nvSpPr>
          <p:spPr bwMode="auto">
            <a:xfrm flipH="1">
              <a:off x="-714726" y="5587072"/>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26" hidden="1"/>
            <p:cNvSpPr>
              <a:spLocks noChangeShapeType="1"/>
            </p:cNvSpPr>
            <p:nvPr/>
          </p:nvSpPr>
          <p:spPr bwMode="auto">
            <a:xfrm flipH="1">
              <a:off x="-714726" y="5840891"/>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27" hidden="1"/>
            <p:cNvSpPr>
              <a:spLocks noChangeShapeType="1"/>
            </p:cNvSpPr>
            <p:nvPr/>
          </p:nvSpPr>
          <p:spPr bwMode="auto">
            <a:xfrm flipH="1">
              <a:off x="-714726" y="6094710"/>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28" hidden="1"/>
            <p:cNvSpPr>
              <a:spLocks noChangeShapeType="1"/>
            </p:cNvSpPr>
            <p:nvPr/>
          </p:nvSpPr>
          <p:spPr bwMode="auto">
            <a:xfrm flipH="1">
              <a:off x="-714726" y="6348529"/>
              <a:ext cx="10573101" cy="0"/>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29" hidden="1"/>
            <p:cNvSpPr>
              <a:spLocks noChangeShapeType="1"/>
            </p:cNvSpPr>
            <p:nvPr/>
          </p:nvSpPr>
          <p:spPr bwMode="auto">
            <a:xfrm flipV="1">
              <a:off x="761184"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Line 30" hidden="1"/>
            <p:cNvSpPr>
              <a:spLocks noChangeShapeType="1"/>
            </p:cNvSpPr>
            <p:nvPr/>
          </p:nvSpPr>
          <p:spPr bwMode="auto">
            <a:xfrm flipV="1">
              <a:off x="1523983"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Line 31" hidden="1"/>
            <p:cNvSpPr>
              <a:spLocks noChangeShapeType="1"/>
            </p:cNvSpPr>
            <p:nvPr/>
          </p:nvSpPr>
          <p:spPr bwMode="auto">
            <a:xfrm flipV="1">
              <a:off x="3048240"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32" hidden="1"/>
            <p:cNvSpPr>
              <a:spLocks noChangeShapeType="1"/>
            </p:cNvSpPr>
            <p:nvPr/>
          </p:nvSpPr>
          <p:spPr bwMode="auto">
            <a:xfrm flipV="1">
              <a:off x="3809696"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33" hidden="1"/>
            <p:cNvSpPr>
              <a:spLocks noChangeShapeType="1"/>
            </p:cNvSpPr>
            <p:nvPr/>
          </p:nvSpPr>
          <p:spPr bwMode="auto">
            <a:xfrm flipV="1">
              <a:off x="5333953"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34" hidden="1"/>
            <p:cNvSpPr>
              <a:spLocks noChangeShapeType="1"/>
            </p:cNvSpPr>
            <p:nvPr/>
          </p:nvSpPr>
          <p:spPr bwMode="auto">
            <a:xfrm flipV="1">
              <a:off x="6095409"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Line 35" hidden="1"/>
            <p:cNvSpPr>
              <a:spLocks noChangeShapeType="1"/>
            </p:cNvSpPr>
            <p:nvPr/>
          </p:nvSpPr>
          <p:spPr bwMode="auto">
            <a:xfrm flipV="1">
              <a:off x="7619666"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Line 36" hidden="1"/>
            <p:cNvSpPr>
              <a:spLocks noChangeShapeType="1"/>
            </p:cNvSpPr>
            <p:nvPr/>
          </p:nvSpPr>
          <p:spPr bwMode="auto">
            <a:xfrm flipV="1">
              <a:off x="8382465" y="-1858282"/>
              <a:ext cx="0" cy="10608018"/>
            </a:xfrm>
            <a:prstGeom prst="line">
              <a:avLst/>
            </a:prstGeom>
            <a:noFill/>
            <a:ln w="15875" cap="flat">
              <a:solidFill>
                <a:srgbClr val="DCD5C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37" hidden="1"/>
            <p:cNvSpPr>
              <a:spLocks/>
            </p:cNvSpPr>
            <p:nvPr/>
          </p:nvSpPr>
          <p:spPr bwMode="auto">
            <a:xfrm>
              <a:off x="-273" y="2291455"/>
              <a:ext cx="9144195" cy="0"/>
            </a:xfrm>
            <a:custGeom>
              <a:avLst/>
              <a:gdLst>
                <a:gd name="T0" fmla="*/ 0 w 6809"/>
                <a:gd name="T1" fmla="*/ 6809 w 6809"/>
                <a:gd name="T2" fmla="*/ 0 w 6809"/>
              </a:gdLst>
              <a:ahLst/>
              <a:cxnLst>
                <a:cxn ang="0">
                  <a:pos x="T0" y="0"/>
                </a:cxn>
                <a:cxn ang="0">
                  <a:pos x="T1" y="0"/>
                </a:cxn>
                <a:cxn ang="0">
                  <a:pos x="T2" y="0"/>
                </a:cxn>
              </a:cxnLst>
              <a:rect l="0" t="0" r="r" b="b"/>
              <a:pathLst>
                <a:path w="6809">
                  <a:moveTo>
                    <a:pt x="0" y="0"/>
                  </a:moveTo>
                  <a:lnTo>
                    <a:pt x="680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0" hidden="1"/>
            <p:cNvSpPr>
              <a:spLocks/>
            </p:cNvSpPr>
            <p:nvPr/>
          </p:nvSpPr>
          <p:spPr bwMode="auto">
            <a:xfrm>
              <a:off x="-273" y="4577168"/>
              <a:ext cx="9144195" cy="0"/>
            </a:xfrm>
            <a:custGeom>
              <a:avLst/>
              <a:gdLst>
                <a:gd name="T0" fmla="*/ 0 w 6809"/>
                <a:gd name="T1" fmla="*/ 6809 w 6809"/>
                <a:gd name="T2" fmla="*/ 0 w 6809"/>
              </a:gdLst>
              <a:ahLst/>
              <a:cxnLst>
                <a:cxn ang="0">
                  <a:pos x="T0" y="0"/>
                </a:cxn>
                <a:cxn ang="0">
                  <a:pos x="T1" y="0"/>
                </a:cxn>
                <a:cxn ang="0">
                  <a:pos x="T2" y="0"/>
                </a:cxn>
              </a:cxnLst>
              <a:rect l="0" t="0" r="r" b="b"/>
              <a:pathLst>
                <a:path w="6809">
                  <a:moveTo>
                    <a:pt x="0" y="0"/>
                  </a:moveTo>
                  <a:lnTo>
                    <a:pt x="680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41" hidden="1"/>
            <p:cNvSpPr>
              <a:spLocks/>
            </p:cNvSpPr>
            <p:nvPr/>
          </p:nvSpPr>
          <p:spPr bwMode="auto">
            <a:xfrm>
              <a:off x="2280068" y="-973"/>
              <a:ext cx="0" cy="6858482"/>
            </a:xfrm>
            <a:custGeom>
              <a:avLst/>
              <a:gdLst>
                <a:gd name="T0" fmla="*/ 0 h 5107"/>
                <a:gd name="T1" fmla="*/ 5107 h 5107"/>
                <a:gd name="T2" fmla="*/ 0 h 5107"/>
              </a:gdLst>
              <a:ahLst/>
              <a:cxnLst>
                <a:cxn ang="0">
                  <a:pos x="0" y="T0"/>
                </a:cxn>
                <a:cxn ang="0">
                  <a:pos x="0" y="T1"/>
                </a:cxn>
                <a:cxn ang="0">
                  <a:pos x="0" y="T2"/>
                </a:cxn>
              </a:cxnLst>
              <a:rect l="0" t="0" r="r" b="b"/>
              <a:pathLst>
                <a:path h="5107">
                  <a:moveTo>
                    <a:pt x="0" y="0"/>
                  </a:moveTo>
                  <a:lnTo>
                    <a:pt x="0" y="5107"/>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3" hidden="1"/>
            <p:cNvSpPr>
              <a:spLocks/>
            </p:cNvSpPr>
            <p:nvPr/>
          </p:nvSpPr>
          <p:spPr bwMode="auto">
            <a:xfrm>
              <a:off x="4565781" y="-973"/>
              <a:ext cx="0" cy="6858482"/>
            </a:xfrm>
            <a:custGeom>
              <a:avLst/>
              <a:gdLst>
                <a:gd name="T0" fmla="*/ 0 h 5107"/>
                <a:gd name="T1" fmla="*/ 5107 h 5107"/>
                <a:gd name="T2" fmla="*/ 0 h 5107"/>
              </a:gdLst>
              <a:ahLst/>
              <a:cxnLst>
                <a:cxn ang="0">
                  <a:pos x="0" y="T0"/>
                </a:cxn>
                <a:cxn ang="0">
                  <a:pos x="0" y="T1"/>
                </a:cxn>
                <a:cxn ang="0">
                  <a:pos x="0" y="T2"/>
                </a:cxn>
              </a:cxnLst>
              <a:rect l="0" t="0" r="r" b="b"/>
              <a:pathLst>
                <a:path h="5107">
                  <a:moveTo>
                    <a:pt x="0" y="0"/>
                  </a:moveTo>
                  <a:lnTo>
                    <a:pt x="0" y="5107"/>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45" hidden="1"/>
            <p:cNvSpPr>
              <a:spLocks/>
            </p:cNvSpPr>
            <p:nvPr/>
          </p:nvSpPr>
          <p:spPr bwMode="auto">
            <a:xfrm>
              <a:off x="6851494" y="-973"/>
              <a:ext cx="0" cy="6858482"/>
            </a:xfrm>
            <a:custGeom>
              <a:avLst/>
              <a:gdLst>
                <a:gd name="T0" fmla="*/ 0 h 5107"/>
                <a:gd name="T1" fmla="*/ 5107 h 5107"/>
                <a:gd name="T2" fmla="*/ 0 h 5107"/>
              </a:gdLst>
              <a:ahLst/>
              <a:cxnLst>
                <a:cxn ang="0">
                  <a:pos x="0" y="T0"/>
                </a:cxn>
                <a:cxn ang="0">
                  <a:pos x="0" y="T1"/>
                </a:cxn>
                <a:cxn ang="0">
                  <a:pos x="0" y="T2"/>
                </a:cxn>
              </a:cxnLst>
              <a:rect l="0" t="0" r="r" b="b"/>
              <a:pathLst>
                <a:path h="5107">
                  <a:moveTo>
                    <a:pt x="0" y="0"/>
                  </a:moveTo>
                  <a:lnTo>
                    <a:pt x="0" y="5107"/>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5" name="Group 44" hidden="1"/>
            <p:cNvGrpSpPr/>
            <p:nvPr/>
          </p:nvGrpSpPr>
          <p:grpSpPr>
            <a:xfrm>
              <a:off x="-257908" y="2291455"/>
              <a:ext cx="9703057" cy="2285713"/>
              <a:chOff x="-1435894" y="2293837"/>
              <a:chExt cx="11291583" cy="2285713"/>
            </a:xfrm>
          </p:grpSpPr>
          <p:sp>
            <p:nvSpPr>
              <p:cNvPr id="54" name="Line 38" hidden="1"/>
              <p:cNvSpPr>
                <a:spLocks noChangeShapeType="1"/>
              </p:cNvSpPr>
              <p:nvPr/>
            </p:nvSpPr>
            <p:spPr bwMode="auto">
              <a:xfrm>
                <a:off x="-1435894" y="2293837"/>
                <a:ext cx="11291583" cy="0"/>
              </a:xfrm>
              <a:prstGeom prst="line">
                <a:avLst/>
              </a:prstGeom>
              <a:noFill/>
              <a:ln w="15875" cap="flat">
                <a:solidFill>
                  <a:srgbClr val="FF00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Line 40" hidden="1"/>
              <p:cNvSpPr>
                <a:spLocks noChangeShapeType="1"/>
              </p:cNvSpPr>
              <p:nvPr/>
            </p:nvSpPr>
            <p:spPr bwMode="auto">
              <a:xfrm>
                <a:off x="-1435894" y="4579550"/>
                <a:ext cx="11291583" cy="0"/>
              </a:xfrm>
              <a:prstGeom prst="line">
                <a:avLst/>
              </a:prstGeom>
              <a:noFill/>
              <a:ln w="15875" cap="flat">
                <a:solidFill>
                  <a:srgbClr val="FF00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 name="Group 45" hidden="1"/>
            <p:cNvGrpSpPr/>
            <p:nvPr/>
          </p:nvGrpSpPr>
          <p:grpSpPr>
            <a:xfrm>
              <a:off x="2280068" y="-375658"/>
              <a:ext cx="4571426" cy="7722004"/>
              <a:chOff x="2280068" y="-1991539"/>
              <a:chExt cx="4571426" cy="10958530"/>
            </a:xfrm>
          </p:grpSpPr>
          <p:sp>
            <p:nvSpPr>
              <p:cNvPr id="51" name="Line 42" hidden="1"/>
              <p:cNvSpPr>
                <a:spLocks noChangeShapeType="1"/>
              </p:cNvSpPr>
              <p:nvPr/>
            </p:nvSpPr>
            <p:spPr bwMode="auto">
              <a:xfrm>
                <a:off x="2280068" y="-1991539"/>
                <a:ext cx="0" cy="10958530"/>
              </a:xfrm>
              <a:prstGeom prst="line">
                <a:avLst/>
              </a:prstGeom>
              <a:noFill/>
              <a:ln w="15875" cap="flat">
                <a:solidFill>
                  <a:srgbClr val="FF00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44" hidden="1"/>
              <p:cNvSpPr>
                <a:spLocks noChangeShapeType="1"/>
              </p:cNvSpPr>
              <p:nvPr/>
            </p:nvSpPr>
            <p:spPr bwMode="auto">
              <a:xfrm>
                <a:off x="4565781" y="-1991539"/>
                <a:ext cx="0" cy="10958530"/>
              </a:xfrm>
              <a:prstGeom prst="line">
                <a:avLst/>
              </a:prstGeom>
              <a:noFill/>
              <a:ln w="15875" cap="flat">
                <a:solidFill>
                  <a:srgbClr val="FF00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46" hidden="1"/>
              <p:cNvSpPr>
                <a:spLocks noChangeShapeType="1"/>
              </p:cNvSpPr>
              <p:nvPr/>
            </p:nvSpPr>
            <p:spPr bwMode="auto">
              <a:xfrm>
                <a:off x="6851494" y="-1991539"/>
                <a:ext cx="0" cy="10958530"/>
              </a:xfrm>
              <a:prstGeom prst="line">
                <a:avLst/>
              </a:prstGeom>
              <a:noFill/>
              <a:ln w="15875" cap="flat">
                <a:solidFill>
                  <a:srgbClr val="FF00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47" name="Rectangle 47"/>
            <p:cNvSpPr>
              <a:spLocks noChangeArrowheads="1"/>
            </p:cNvSpPr>
            <p:nvPr/>
          </p:nvSpPr>
          <p:spPr bwMode="auto">
            <a:xfrm>
              <a:off x="0" y="-973"/>
              <a:ext cx="228600" cy="6858482"/>
            </a:xfrm>
            <a:prstGeom prst="rect">
              <a:avLst/>
            </a:prstGeom>
            <a:solidFill>
              <a:srgbClr val="8AC1D9">
                <a:alpha val="5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Rectangle 48"/>
            <p:cNvSpPr>
              <a:spLocks noChangeArrowheads="1"/>
            </p:cNvSpPr>
            <p:nvPr/>
          </p:nvSpPr>
          <p:spPr bwMode="auto">
            <a:xfrm>
              <a:off x="8915400" y="-973"/>
              <a:ext cx="228600" cy="6858482"/>
            </a:xfrm>
            <a:prstGeom prst="rect">
              <a:avLst/>
            </a:prstGeom>
            <a:solidFill>
              <a:srgbClr val="8AC1D9">
                <a:alpha val="5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Rectangle 49"/>
            <p:cNvSpPr>
              <a:spLocks noChangeArrowheads="1"/>
            </p:cNvSpPr>
            <p:nvPr/>
          </p:nvSpPr>
          <p:spPr bwMode="auto">
            <a:xfrm>
              <a:off x="-273" y="0"/>
              <a:ext cx="9144195" cy="253819"/>
            </a:xfrm>
            <a:prstGeom prst="rect">
              <a:avLst/>
            </a:prstGeom>
            <a:solidFill>
              <a:srgbClr val="8AC1D9">
                <a:alpha val="5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Rectangle 50"/>
            <p:cNvSpPr>
              <a:spLocks noChangeArrowheads="1"/>
            </p:cNvSpPr>
            <p:nvPr/>
          </p:nvSpPr>
          <p:spPr bwMode="auto">
            <a:xfrm>
              <a:off x="-273" y="6604181"/>
              <a:ext cx="9144195" cy="253819"/>
            </a:xfrm>
            <a:prstGeom prst="rect">
              <a:avLst/>
            </a:prstGeom>
            <a:solidFill>
              <a:srgbClr val="8AC1D9">
                <a:alpha val="50000"/>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228600" y="0"/>
            <a:ext cx="8686800" cy="685800"/>
          </a:xfrm>
          <a:prstGeom prst="rect">
            <a:avLst/>
          </a:prstGeom>
        </p:spPr>
        <p:txBody>
          <a:bodyPr vert="horz" lIns="0" tIns="45720" rIns="91440" bIns="45720" rtlCol="0" anchor="b">
            <a:noAutofit/>
          </a:bodyPr>
          <a:lstStyle/>
          <a:p>
            <a:endParaRPr lang="en-US" dirty="0"/>
          </a:p>
        </p:txBody>
      </p:sp>
      <p:sp>
        <p:nvSpPr>
          <p:cNvPr id="3" name="Text Placeholder 2"/>
          <p:cNvSpPr>
            <a:spLocks noGrp="1"/>
          </p:cNvSpPr>
          <p:nvPr>
            <p:ph type="body" idx="1"/>
          </p:nvPr>
        </p:nvSpPr>
        <p:spPr>
          <a:xfrm>
            <a:off x="228600" y="1058846"/>
            <a:ext cx="8686800" cy="5029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sz="1100" dirty="0"/>
          </a:p>
        </p:txBody>
      </p:sp>
      <p:sp>
        <p:nvSpPr>
          <p:cNvPr id="59" name="Footer Placeholder 6"/>
          <p:cNvSpPr txBox="1">
            <a:spLocks/>
          </p:cNvSpPr>
          <p:nvPr/>
        </p:nvSpPr>
        <p:spPr>
          <a:xfrm>
            <a:off x="1874520" y="6583680"/>
            <a:ext cx="7040880" cy="274320"/>
          </a:xfrm>
          <a:prstGeom prst="rect">
            <a:avLst/>
          </a:prstGeom>
        </p:spPr>
        <p:txBody>
          <a:bodyPr vert="horz" lIns="0" tIns="0" rIns="0" bIns="0" rtlCol="0" anchor="b"/>
          <a:lstStyle>
            <a:defPPr>
              <a:defRPr lang="en-US"/>
            </a:defPPr>
            <a:lvl1pPr marL="0" algn="l" defTabSz="914400" rtl="0" eaLnBrk="1" latinLnBrk="0" hangingPunct="1">
              <a:defRPr sz="700" i="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1" u="none" strike="noStrike" kern="1200" cap="none" spc="0" normalizeH="0" baseline="0" noProof="0" dirty="0">
              <a:ln>
                <a:noFill/>
              </a:ln>
              <a:solidFill>
                <a:schemeClr val="accent3"/>
              </a:solidFill>
              <a:effectLst/>
              <a:uLnTx/>
              <a:uFillTx/>
              <a:latin typeface="+mn-lt"/>
              <a:ea typeface="+mn-ea"/>
              <a:cs typeface="+mn-cs"/>
            </a:endParaRPr>
          </a:p>
        </p:txBody>
      </p:sp>
      <p:sp>
        <p:nvSpPr>
          <p:cNvPr id="57" name="Slide Number Placeholder 2"/>
          <p:cNvSpPr>
            <a:spLocks noGrp="1"/>
          </p:cNvSpPr>
          <p:nvPr>
            <p:ph type="sldNum" sz="quarter" idx="4"/>
          </p:nvPr>
        </p:nvSpPr>
        <p:spPr>
          <a:xfrm>
            <a:off x="228600" y="6592653"/>
            <a:ext cx="285821" cy="265348"/>
          </a:xfrm>
          <a:prstGeom prst="rect">
            <a:avLst/>
          </a:prstGeom>
        </p:spPr>
        <p:txBody>
          <a:bodyPr lIns="0" rIns="0"/>
          <a:lstStyle>
            <a:lvl1pPr algn="ctr">
              <a:defRPr sz="900">
                <a:solidFill>
                  <a:schemeClr val="tx2"/>
                </a:solidFill>
              </a:defRPr>
            </a:lvl1pPr>
          </a:lstStyle>
          <a:p>
            <a:fld id="{8D508841-7C58-4AFF-A5FE-7816CAD1C394}" type="slidenum">
              <a:rPr lang="en-US" smtClean="0"/>
              <a:t>‹#›</a:t>
            </a:fld>
            <a:endParaRPr lang="en-US"/>
          </a:p>
        </p:txBody>
      </p:sp>
      <p:graphicFrame>
        <p:nvGraphicFramePr>
          <p:cNvPr id="56" name="Table 55" hidden="1"/>
          <p:cNvGraphicFramePr>
            <a:graphicFrameLocks noGrp="1"/>
          </p:cNvGraphicFramePr>
          <p:nvPr>
            <p:extLst>
              <p:ext uri="{D42A27DB-BD31-4B8C-83A1-F6EECF244321}">
                <p14:modId xmlns:p14="http://schemas.microsoft.com/office/powerpoint/2010/main" val="109859362"/>
              </p:ext>
            </p:extLst>
          </p:nvPr>
        </p:nvGraphicFramePr>
        <p:xfrm>
          <a:off x="0" y="579422"/>
          <a:ext cx="9146782" cy="5525589"/>
        </p:xfrm>
        <a:graphic>
          <a:graphicData uri="http://schemas.openxmlformats.org/drawingml/2006/table">
            <a:tbl>
              <a:tblPr firstRow="1" bandRow="1">
                <a:tableStyleId>{2D5ABB26-0587-4C30-8999-92F81FD0307C}</a:tableStyleId>
              </a:tblPr>
              <a:tblGrid>
                <a:gridCol w="228600">
                  <a:extLst>
                    <a:ext uri="{9D8B030D-6E8A-4147-A177-3AD203B41FA5}">
                      <a16:colId xmlns:a16="http://schemas.microsoft.com/office/drawing/2014/main" val="20000"/>
                    </a:ext>
                  </a:extLst>
                </a:gridCol>
                <a:gridCol w="275170">
                  <a:extLst>
                    <a:ext uri="{9D8B030D-6E8A-4147-A177-3AD203B41FA5}">
                      <a16:colId xmlns:a16="http://schemas.microsoft.com/office/drawing/2014/main" val="20001"/>
                    </a:ext>
                  </a:extLst>
                </a:gridCol>
                <a:gridCol w="275170">
                  <a:extLst>
                    <a:ext uri="{9D8B030D-6E8A-4147-A177-3AD203B41FA5}">
                      <a16:colId xmlns:a16="http://schemas.microsoft.com/office/drawing/2014/main" val="20002"/>
                    </a:ext>
                  </a:extLst>
                </a:gridCol>
                <a:gridCol w="275170">
                  <a:extLst>
                    <a:ext uri="{9D8B030D-6E8A-4147-A177-3AD203B41FA5}">
                      <a16:colId xmlns:a16="http://schemas.microsoft.com/office/drawing/2014/main" val="20003"/>
                    </a:ext>
                  </a:extLst>
                </a:gridCol>
                <a:gridCol w="275170">
                  <a:extLst>
                    <a:ext uri="{9D8B030D-6E8A-4147-A177-3AD203B41FA5}">
                      <a16:colId xmlns:a16="http://schemas.microsoft.com/office/drawing/2014/main" val="20004"/>
                    </a:ext>
                  </a:extLst>
                </a:gridCol>
                <a:gridCol w="275170">
                  <a:extLst>
                    <a:ext uri="{9D8B030D-6E8A-4147-A177-3AD203B41FA5}">
                      <a16:colId xmlns:a16="http://schemas.microsoft.com/office/drawing/2014/main" val="20005"/>
                    </a:ext>
                  </a:extLst>
                </a:gridCol>
                <a:gridCol w="275170">
                  <a:extLst>
                    <a:ext uri="{9D8B030D-6E8A-4147-A177-3AD203B41FA5}">
                      <a16:colId xmlns:a16="http://schemas.microsoft.com/office/drawing/2014/main" val="20006"/>
                    </a:ext>
                  </a:extLst>
                </a:gridCol>
                <a:gridCol w="275170">
                  <a:extLst>
                    <a:ext uri="{9D8B030D-6E8A-4147-A177-3AD203B41FA5}">
                      <a16:colId xmlns:a16="http://schemas.microsoft.com/office/drawing/2014/main" val="20007"/>
                    </a:ext>
                  </a:extLst>
                </a:gridCol>
                <a:gridCol w="275170">
                  <a:extLst>
                    <a:ext uri="{9D8B030D-6E8A-4147-A177-3AD203B41FA5}">
                      <a16:colId xmlns:a16="http://schemas.microsoft.com/office/drawing/2014/main" val="20008"/>
                    </a:ext>
                  </a:extLst>
                </a:gridCol>
                <a:gridCol w="275170">
                  <a:extLst>
                    <a:ext uri="{9D8B030D-6E8A-4147-A177-3AD203B41FA5}">
                      <a16:colId xmlns:a16="http://schemas.microsoft.com/office/drawing/2014/main" val="20009"/>
                    </a:ext>
                  </a:extLst>
                </a:gridCol>
                <a:gridCol w="275170">
                  <a:extLst>
                    <a:ext uri="{9D8B030D-6E8A-4147-A177-3AD203B41FA5}">
                      <a16:colId xmlns:a16="http://schemas.microsoft.com/office/drawing/2014/main" val="20010"/>
                    </a:ext>
                  </a:extLst>
                </a:gridCol>
                <a:gridCol w="275170">
                  <a:extLst>
                    <a:ext uri="{9D8B030D-6E8A-4147-A177-3AD203B41FA5}">
                      <a16:colId xmlns:a16="http://schemas.microsoft.com/office/drawing/2014/main" val="20011"/>
                    </a:ext>
                  </a:extLst>
                </a:gridCol>
                <a:gridCol w="275170">
                  <a:extLst>
                    <a:ext uri="{9D8B030D-6E8A-4147-A177-3AD203B41FA5}">
                      <a16:colId xmlns:a16="http://schemas.microsoft.com/office/drawing/2014/main" val="20012"/>
                    </a:ext>
                  </a:extLst>
                </a:gridCol>
                <a:gridCol w="275170">
                  <a:extLst>
                    <a:ext uri="{9D8B030D-6E8A-4147-A177-3AD203B41FA5}">
                      <a16:colId xmlns:a16="http://schemas.microsoft.com/office/drawing/2014/main" val="20013"/>
                    </a:ext>
                  </a:extLst>
                </a:gridCol>
                <a:gridCol w="275170">
                  <a:extLst>
                    <a:ext uri="{9D8B030D-6E8A-4147-A177-3AD203B41FA5}">
                      <a16:colId xmlns:a16="http://schemas.microsoft.com/office/drawing/2014/main" val="20014"/>
                    </a:ext>
                  </a:extLst>
                </a:gridCol>
                <a:gridCol w="275170">
                  <a:extLst>
                    <a:ext uri="{9D8B030D-6E8A-4147-A177-3AD203B41FA5}">
                      <a16:colId xmlns:a16="http://schemas.microsoft.com/office/drawing/2014/main" val="20015"/>
                    </a:ext>
                  </a:extLst>
                </a:gridCol>
                <a:gridCol w="227423">
                  <a:extLst>
                    <a:ext uri="{9D8B030D-6E8A-4147-A177-3AD203B41FA5}">
                      <a16:colId xmlns:a16="http://schemas.microsoft.com/office/drawing/2014/main" val="20016"/>
                    </a:ext>
                  </a:extLst>
                </a:gridCol>
                <a:gridCol w="227423">
                  <a:extLst>
                    <a:ext uri="{9D8B030D-6E8A-4147-A177-3AD203B41FA5}">
                      <a16:colId xmlns:a16="http://schemas.microsoft.com/office/drawing/2014/main" val="20017"/>
                    </a:ext>
                  </a:extLst>
                </a:gridCol>
                <a:gridCol w="318274">
                  <a:extLst>
                    <a:ext uri="{9D8B030D-6E8A-4147-A177-3AD203B41FA5}">
                      <a16:colId xmlns:a16="http://schemas.microsoft.com/office/drawing/2014/main" val="20018"/>
                    </a:ext>
                  </a:extLst>
                </a:gridCol>
                <a:gridCol w="318274">
                  <a:extLst>
                    <a:ext uri="{9D8B030D-6E8A-4147-A177-3AD203B41FA5}">
                      <a16:colId xmlns:a16="http://schemas.microsoft.com/office/drawing/2014/main" val="20019"/>
                    </a:ext>
                  </a:extLst>
                </a:gridCol>
                <a:gridCol w="318274">
                  <a:extLst>
                    <a:ext uri="{9D8B030D-6E8A-4147-A177-3AD203B41FA5}">
                      <a16:colId xmlns:a16="http://schemas.microsoft.com/office/drawing/2014/main" val="20020"/>
                    </a:ext>
                  </a:extLst>
                </a:gridCol>
                <a:gridCol w="318274">
                  <a:extLst>
                    <a:ext uri="{9D8B030D-6E8A-4147-A177-3AD203B41FA5}">
                      <a16:colId xmlns:a16="http://schemas.microsoft.com/office/drawing/2014/main" val="20021"/>
                    </a:ext>
                  </a:extLst>
                </a:gridCol>
                <a:gridCol w="290724">
                  <a:extLst>
                    <a:ext uri="{9D8B030D-6E8A-4147-A177-3AD203B41FA5}">
                      <a16:colId xmlns:a16="http://schemas.microsoft.com/office/drawing/2014/main" val="20022"/>
                    </a:ext>
                  </a:extLst>
                </a:gridCol>
                <a:gridCol w="290724">
                  <a:extLst>
                    <a:ext uri="{9D8B030D-6E8A-4147-A177-3AD203B41FA5}">
                      <a16:colId xmlns:a16="http://schemas.microsoft.com/office/drawing/2014/main" val="20023"/>
                    </a:ext>
                  </a:extLst>
                </a:gridCol>
                <a:gridCol w="290724">
                  <a:extLst>
                    <a:ext uri="{9D8B030D-6E8A-4147-A177-3AD203B41FA5}">
                      <a16:colId xmlns:a16="http://schemas.microsoft.com/office/drawing/2014/main" val="20024"/>
                    </a:ext>
                  </a:extLst>
                </a:gridCol>
                <a:gridCol w="290724">
                  <a:extLst>
                    <a:ext uri="{9D8B030D-6E8A-4147-A177-3AD203B41FA5}">
                      <a16:colId xmlns:a16="http://schemas.microsoft.com/office/drawing/2014/main" val="20025"/>
                    </a:ext>
                  </a:extLst>
                </a:gridCol>
                <a:gridCol w="290724">
                  <a:extLst>
                    <a:ext uri="{9D8B030D-6E8A-4147-A177-3AD203B41FA5}">
                      <a16:colId xmlns:a16="http://schemas.microsoft.com/office/drawing/2014/main" val="20026"/>
                    </a:ext>
                  </a:extLst>
                </a:gridCol>
                <a:gridCol w="276094">
                  <a:extLst>
                    <a:ext uri="{9D8B030D-6E8A-4147-A177-3AD203B41FA5}">
                      <a16:colId xmlns:a16="http://schemas.microsoft.com/office/drawing/2014/main" val="20027"/>
                    </a:ext>
                  </a:extLst>
                </a:gridCol>
                <a:gridCol w="276094">
                  <a:extLst>
                    <a:ext uri="{9D8B030D-6E8A-4147-A177-3AD203B41FA5}">
                      <a16:colId xmlns:a16="http://schemas.microsoft.com/office/drawing/2014/main" val="20028"/>
                    </a:ext>
                  </a:extLst>
                </a:gridCol>
                <a:gridCol w="276094">
                  <a:extLst>
                    <a:ext uri="{9D8B030D-6E8A-4147-A177-3AD203B41FA5}">
                      <a16:colId xmlns:a16="http://schemas.microsoft.com/office/drawing/2014/main" val="20029"/>
                    </a:ext>
                  </a:extLst>
                </a:gridCol>
                <a:gridCol w="276094">
                  <a:extLst>
                    <a:ext uri="{9D8B030D-6E8A-4147-A177-3AD203B41FA5}">
                      <a16:colId xmlns:a16="http://schemas.microsoft.com/office/drawing/2014/main" val="20030"/>
                    </a:ext>
                  </a:extLst>
                </a:gridCol>
                <a:gridCol w="276094">
                  <a:extLst>
                    <a:ext uri="{9D8B030D-6E8A-4147-A177-3AD203B41FA5}">
                      <a16:colId xmlns:a16="http://schemas.microsoft.com/office/drawing/2014/main" val="20031"/>
                    </a:ext>
                  </a:extLst>
                </a:gridCol>
                <a:gridCol w="228600">
                  <a:extLst>
                    <a:ext uri="{9D8B030D-6E8A-4147-A177-3AD203B41FA5}">
                      <a16:colId xmlns:a16="http://schemas.microsoft.com/office/drawing/2014/main" val="20032"/>
                    </a:ext>
                  </a:extLst>
                </a:gridCol>
              </a:tblGrid>
              <a:tr h="470780">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solidFill>
                        <a:srgbClr val="FF99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8"/>
                  </a:ext>
                </a:extLst>
              </a:tr>
              <a:tr h="228600">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9"/>
                  </a:ext>
                </a:extLst>
              </a:tr>
              <a:tr h="254011">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99"/>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99"/>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noFill/>
                      <a:prstDash val="solid"/>
                      <a:round/>
                      <a:headEnd type="none" w="med" len="med"/>
                      <a:tailEnd type="none" w="med" len="med"/>
                    </a:lnL>
                    <a:lnR w="6350" cap="flat" cmpd="sng" algn="ctr">
                      <a:solidFill>
                        <a:srgbClr val="FF99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99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400" dirty="0">
                        <a:ln>
                          <a:solidFill>
                            <a:srgbClr val="88B868"/>
                          </a:solidFill>
                        </a:ln>
                        <a:latin typeface="Arial" panose="020B0604020202020204" pitchFamily="34" charset="0"/>
                      </a:endParaRPr>
                    </a:p>
                  </a:txBody>
                  <a:tcPr marL="0" marR="0" marT="0" marB="0">
                    <a:lnL w="6350" cap="flat" cmpd="sng" algn="ctr">
                      <a:solidFill>
                        <a:srgbClr val="FF99F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0"/>
                  </a:ext>
                </a:extLst>
              </a:tr>
            </a:tbl>
          </a:graphicData>
        </a:graphic>
      </p:graphicFrame>
      <p:cxnSp>
        <p:nvCxnSpPr>
          <p:cNvPr id="62" name="Straight Connector 61">
            <a:extLst>
              <a:ext uri="{FF2B5EF4-FFF2-40B4-BE49-F238E27FC236}">
                <a16:creationId xmlns:a16="http://schemas.microsoft.com/office/drawing/2014/main" id="{D7D4CCBF-7967-1BFA-E29B-A7B175929DD0}"/>
              </a:ext>
            </a:extLst>
          </p:cNvPr>
          <p:cNvCxnSpPr>
            <a:cxnSpLocks/>
          </p:cNvCxnSpPr>
          <p:nvPr/>
        </p:nvCxnSpPr>
        <p:spPr>
          <a:xfrm>
            <a:off x="228600" y="6572797"/>
            <a:ext cx="1501140"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pic>
        <p:nvPicPr>
          <p:cNvPr id="63" name="Picture 62">
            <a:extLst>
              <a:ext uri="{FF2B5EF4-FFF2-40B4-BE49-F238E27FC236}">
                <a16:creationId xmlns:a16="http://schemas.microsoft.com/office/drawing/2014/main" id="{D9DC170F-5C10-FAAE-F8BC-21455BBB5717}"/>
              </a:ext>
            </a:extLst>
          </p:cNvPr>
          <p:cNvPicPr>
            <a:picLocks noChangeAspect="1"/>
          </p:cNvPicPr>
          <p:nvPr/>
        </p:nvPicPr>
        <p:blipFill>
          <a:blip r:embed="rId26"/>
          <a:stretch>
            <a:fillRect/>
          </a:stretch>
        </p:blipFill>
        <p:spPr>
          <a:xfrm>
            <a:off x="618528" y="6626803"/>
            <a:ext cx="1088434" cy="185473"/>
          </a:xfrm>
          <a:prstGeom prst="rect">
            <a:avLst/>
          </a:prstGeom>
        </p:spPr>
      </p:pic>
      <p:cxnSp>
        <p:nvCxnSpPr>
          <p:cNvPr id="64" name="Straight Connector 63">
            <a:extLst>
              <a:ext uri="{FF2B5EF4-FFF2-40B4-BE49-F238E27FC236}">
                <a16:creationId xmlns:a16="http://schemas.microsoft.com/office/drawing/2014/main" id="{A2BD50ED-C5F0-E50F-0C14-54B536E682C0}"/>
              </a:ext>
            </a:extLst>
          </p:cNvPr>
          <p:cNvCxnSpPr>
            <a:cxnSpLocks/>
          </p:cNvCxnSpPr>
          <p:nvPr/>
        </p:nvCxnSpPr>
        <p:spPr>
          <a:xfrm>
            <a:off x="519699" y="6605945"/>
            <a:ext cx="0" cy="206337"/>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55652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txStyles>
    <p:titleStyle>
      <a:lvl1pPr algn="l" defTabSz="914400" rtl="0" eaLnBrk="1" latinLnBrk="0" hangingPunct="1">
        <a:lnSpc>
          <a:spcPct val="100000"/>
        </a:lnSpc>
        <a:spcBef>
          <a:spcPct val="0"/>
        </a:spcBef>
        <a:buNone/>
        <a:defRPr sz="1800" b="1" kern="1200" baseline="0">
          <a:solidFill>
            <a:schemeClr val="tx1"/>
          </a:solidFill>
          <a:latin typeface="+mj-lt"/>
          <a:ea typeface="+mj-ea"/>
          <a:cs typeface="+mj-cs"/>
        </a:defRPr>
      </a:lvl1pPr>
    </p:titleStyle>
    <p:bodyStyle>
      <a:lvl1pPr marL="0" indent="0" algn="l" defTabSz="914400" rtl="0" eaLnBrk="1" latinLnBrk="0" hangingPunct="1">
        <a:lnSpc>
          <a:spcPct val="114000"/>
        </a:lnSpc>
        <a:spcBef>
          <a:spcPts val="0"/>
        </a:spcBef>
        <a:spcAft>
          <a:spcPts val="600"/>
        </a:spcAft>
        <a:buSzPct val="100000"/>
        <a:buFont typeface="Wingdings 2" panose="05020102010507070707" pitchFamily="18" charset="2"/>
        <a:buNone/>
        <a:defRPr sz="1100" kern="1200">
          <a:solidFill>
            <a:schemeClr val="tx1"/>
          </a:solidFill>
          <a:latin typeface="+mn-lt"/>
          <a:ea typeface="+mn-ea"/>
          <a:cs typeface="+mn-cs"/>
        </a:defRPr>
      </a:lvl1pPr>
      <a:lvl2pPr marL="137160" indent="-137160" algn="l" defTabSz="914400" rtl="0" eaLnBrk="1" latinLnBrk="0" hangingPunct="1">
        <a:lnSpc>
          <a:spcPct val="114000"/>
        </a:lnSpc>
        <a:spcBef>
          <a:spcPts val="0"/>
        </a:spcBef>
        <a:spcAft>
          <a:spcPts val="600"/>
        </a:spcAft>
        <a:buClrTx/>
        <a:buSzPct val="100000"/>
        <a:buFont typeface="Symbol" panose="05050102010706020507" pitchFamily="18" charset="2"/>
        <a:buChar char=""/>
        <a:defRPr sz="1100" kern="1200">
          <a:solidFill>
            <a:schemeClr val="tx1"/>
          </a:solidFill>
          <a:latin typeface="+mn-lt"/>
          <a:ea typeface="+mn-ea"/>
          <a:cs typeface="+mn-cs"/>
        </a:defRPr>
      </a:lvl2pPr>
      <a:lvl3pPr marL="274320" indent="-137160" algn="l" defTabSz="914400" rtl="0" eaLnBrk="1" latinLnBrk="0" hangingPunct="1">
        <a:lnSpc>
          <a:spcPct val="114000"/>
        </a:lnSpc>
        <a:spcBef>
          <a:spcPts val="0"/>
        </a:spcBef>
        <a:spcAft>
          <a:spcPts val="600"/>
        </a:spcAft>
        <a:buClrTx/>
        <a:buSzPct val="100000"/>
        <a:buFont typeface="Segoe UI" panose="020B0502040204020203" pitchFamily="34" charset="0"/>
        <a:buChar char="–"/>
        <a:defRPr sz="1100" kern="1200">
          <a:solidFill>
            <a:schemeClr val="tx1"/>
          </a:solidFill>
          <a:latin typeface="+mn-lt"/>
          <a:ea typeface="+mn-ea"/>
          <a:cs typeface="+mn-cs"/>
        </a:defRPr>
      </a:lvl3pPr>
      <a:lvl4pPr marL="411480" indent="-137160" algn="l" defTabSz="914400" rtl="0" eaLnBrk="1" latinLnBrk="0" hangingPunct="1">
        <a:lnSpc>
          <a:spcPct val="114000"/>
        </a:lnSpc>
        <a:spcBef>
          <a:spcPts val="0"/>
        </a:spcBef>
        <a:spcAft>
          <a:spcPts val="600"/>
        </a:spcAft>
        <a:buClrTx/>
        <a:buSzPct val="100000"/>
        <a:buFont typeface="Arial" panose="020B0604020202020204" pitchFamily="34" charset="0"/>
        <a:buChar char="•"/>
        <a:defRPr sz="1100" kern="1200">
          <a:solidFill>
            <a:schemeClr val="tx1"/>
          </a:solidFill>
          <a:latin typeface="+mn-lt"/>
          <a:ea typeface="+mn-ea"/>
          <a:cs typeface="+mn-cs"/>
        </a:defRPr>
      </a:lvl4pPr>
      <a:lvl5pPr marL="548640" indent="-137160" algn="l" defTabSz="914400" rtl="0" eaLnBrk="1" latinLnBrk="0" hangingPunct="1">
        <a:lnSpc>
          <a:spcPct val="114000"/>
        </a:lnSpc>
        <a:spcBef>
          <a:spcPts val="0"/>
        </a:spcBef>
        <a:spcAft>
          <a:spcPts val="600"/>
        </a:spcAft>
        <a:buClrTx/>
        <a:buSzPct val="100000"/>
        <a:buFont typeface="Segoe UI" panose="020B0502040204020203" pitchFamily="34" charset="0"/>
        <a:buChar char="·"/>
        <a:defRPr sz="1100" kern="1200" baseline="0">
          <a:solidFill>
            <a:schemeClr val="tx1"/>
          </a:solidFill>
          <a:latin typeface="+mn-lt"/>
          <a:ea typeface="+mn-ea"/>
          <a:cs typeface="+mn-cs"/>
        </a:defRPr>
      </a:lvl5pPr>
      <a:lvl6pPr marL="594360" indent="-114300" algn="l" defTabSz="914400" rtl="0" eaLnBrk="1" latinLnBrk="0" hangingPunct="1">
        <a:lnSpc>
          <a:spcPct val="114000"/>
        </a:lnSpc>
        <a:spcBef>
          <a:spcPts val="0"/>
        </a:spcBef>
        <a:spcAft>
          <a:spcPts val="600"/>
        </a:spcAft>
        <a:buClrTx/>
        <a:buSzPct val="100000"/>
        <a:buFont typeface="Wingdings 2" panose="05020102010507070707" pitchFamily="18" charset="2"/>
        <a:buChar char=""/>
        <a:defRPr sz="1100" kern="1200" baseline="0">
          <a:solidFill>
            <a:schemeClr val="tx1"/>
          </a:solidFill>
          <a:latin typeface="+mn-lt"/>
          <a:ea typeface="+mn-ea"/>
          <a:cs typeface="+mn-cs"/>
        </a:defRPr>
      </a:lvl6pPr>
      <a:lvl7pPr marL="713232" indent="-114300" algn="l" defTabSz="914400" rtl="0" eaLnBrk="1" latinLnBrk="0" hangingPunct="1">
        <a:lnSpc>
          <a:spcPct val="114000"/>
        </a:lnSpc>
        <a:spcBef>
          <a:spcPts val="0"/>
        </a:spcBef>
        <a:spcAft>
          <a:spcPts val="600"/>
        </a:spcAft>
        <a:buClrTx/>
        <a:buSzPct val="100000"/>
        <a:buFont typeface="Wingdings 2" panose="05020102010507070707" pitchFamily="18" charset="2"/>
        <a:buChar char=""/>
        <a:defRPr sz="1100" kern="1200">
          <a:solidFill>
            <a:schemeClr val="tx1"/>
          </a:solidFill>
          <a:latin typeface="+mn-lt"/>
          <a:ea typeface="+mn-ea"/>
          <a:cs typeface="+mn-cs"/>
        </a:defRPr>
      </a:lvl7pPr>
      <a:lvl8pPr marL="832104" indent="-114300" algn="l" defTabSz="914400" rtl="0" eaLnBrk="1" latinLnBrk="0" hangingPunct="1">
        <a:lnSpc>
          <a:spcPct val="114000"/>
        </a:lnSpc>
        <a:spcBef>
          <a:spcPts val="0"/>
        </a:spcBef>
        <a:spcAft>
          <a:spcPts val="600"/>
        </a:spcAft>
        <a:buClrTx/>
        <a:buSzPct val="100000"/>
        <a:buFont typeface="Wingdings 2" panose="05020102010507070707" pitchFamily="18" charset="2"/>
        <a:buChar char=""/>
        <a:defRPr sz="1100" kern="1200" baseline="0">
          <a:solidFill>
            <a:schemeClr val="tx1"/>
          </a:solidFill>
          <a:latin typeface="+mn-lt"/>
          <a:ea typeface="+mn-ea"/>
          <a:cs typeface="+mn-cs"/>
        </a:defRPr>
      </a:lvl8pPr>
      <a:lvl9pPr marL="950976" indent="-112713" algn="l" defTabSz="914400" rtl="0" eaLnBrk="1" latinLnBrk="0" hangingPunct="1">
        <a:lnSpc>
          <a:spcPct val="114000"/>
        </a:lnSpc>
        <a:spcBef>
          <a:spcPts val="0"/>
        </a:spcBef>
        <a:spcAft>
          <a:spcPts val="600"/>
        </a:spcAft>
        <a:buClrTx/>
        <a:buSzPct val="100000"/>
        <a:buFont typeface="Wingdings 2" panose="05020102010507070707" pitchFamily="18" charset="2"/>
        <a:buChar char=""/>
        <a:defRPr sz="11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1">
          <p15:clr>
            <a:srgbClr val="F26B43"/>
          </p15:clr>
        </p15:guide>
        <p15:guide id="3" pos="1446">
          <p15:clr>
            <a:srgbClr val="F26B43"/>
          </p15:clr>
        </p15:guide>
        <p15:guide id="4" pos="2880">
          <p15:clr>
            <a:srgbClr val="F26B43"/>
          </p15:clr>
        </p15:guide>
        <p15:guide id="5" pos="4313">
          <p15:clr>
            <a:srgbClr val="F26B43"/>
          </p15:clr>
        </p15:guide>
        <p15:guide id="6" orient="horz" pos="4061">
          <p15:clr>
            <a:srgbClr val="F26B43"/>
          </p15:clr>
        </p15:guide>
        <p15:guide id="7" pos="144">
          <p15:clr>
            <a:srgbClr val="F26B43"/>
          </p15:clr>
        </p15:guide>
        <p15:guide id="8" pos="5616">
          <p15:clr>
            <a:srgbClr val="F26B43"/>
          </p15:clr>
        </p15:guide>
        <p15:guide id="9" orient="horz" pos="156">
          <p15:clr>
            <a:srgbClr val="F26B43"/>
          </p15:clr>
        </p15:guide>
        <p15:guide id="10" orient="horz" pos="4140">
          <p15:clr>
            <a:srgbClr val="F26B43"/>
          </p15:clr>
        </p15:guide>
        <p15:guide id="11" orient="horz" pos="508">
          <p15:clr>
            <a:srgbClr val="F26B43"/>
          </p15:clr>
        </p15:guide>
        <p15:guide id="12" orient="horz" pos="2886">
          <p15:clr>
            <a:srgbClr val="F26B43"/>
          </p15:clr>
        </p15:guide>
        <p15:guide id="13" orient="horz" pos="1443">
          <p15:clr>
            <a:srgbClr val="F26B43"/>
          </p15:clr>
        </p15:guide>
        <p15:guide id="14" orient="horz" pos="3840">
          <p15:clr>
            <a:srgbClr val="F26B43"/>
          </p15:clr>
        </p15:guide>
        <p15:guide id="15"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none"/>
          <a:lstStyle/>
          <a:p>
            <a:r>
              <a:rPr sz="1800" b="1">
                <a:solidFill>
                  <a:srgbClr val="002855"/>
                </a:solidFill>
                <a:latin typeface="Segoe UI Semibold"/>
              </a:rPr>
              <a:t>GoldenSource</a:t>
            </a:r>
          </a:p>
        </p:txBody>
      </p:sp>
      <p:sp>
        <p:nvSpPr>
          <p:cNvPr id="3" name="TextBox 2"/>
          <p:cNvSpPr txBox="1"/>
          <p:nvPr/>
        </p:nvSpPr>
        <p:spPr>
          <a:xfrm>
            <a:off x="4206240" y="365760"/>
            <a:ext cx="4709160" cy="274320"/>
          </a:xfrm>
          <a:prstGeom prst="rect">
            <a:avLst/>
          </a:prstGeom>
          <a:noFill/>
        </p:spPr>
        <p:txBody>
          <a:bodyPr wrap="square" lIns="0" rIns="0" tIns="0" bIns="0" anchor="b">
            <a:spAutoFit/>
          </a:bodyPr>
          <a:lstStyle/>
          <a:p>
            <a:pPr algn="r" marL="0" indent="0">
              <a:lnSpc>
                <a:spcPct val="102000"/>
              </a:lnSpc>
              <a:spcBef>
                <a:spcPts val="0"/>
              </a:spcBef>
              <a:spcAft>
                <a:spcPts val="0"/>
              </a:spcAft>
              <a:buNone/>
            </a:pPr>
            <a:r>
              <a:rPr sz="850" b="0" i="1">
                <a:solidFill>
                  <a:srgbClr val="7E8597"/>
                </a:solidFill>
                <a:latin typeface="Segoe UI"/>
              </a:rPr>
              <a:t>Coverage Profile  |  Data &amp; Analytics  |  July 2026</a:t>
            </a:r>
          </a:p>
        </p:txBody>
      </p:sp>
      <p:sp>
        <p:nvSpPr>
          <p:cNvPr id="4" name="Rectangle 3"/>
          <p:cNvSpPr/>
          <p:nvPr/>
        </p:nvSpPr>
        <p:spPr>
          <a:xfrm>
            <a:off x="228600" y="822960"/>
            <a:ext cx="8686800" cy="530352"/>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 y="822960"/>
            <a:ext cx="8430768" cy="530352"/>
          </a:xfrm>
          <a:prstGeom prst="rect">
            <a:avLst/>
          </a:prstGeom>
          <a:noFill/>
        </p:spPr>
        <p:txBody>
          <a:bodyPr wrap="square" lIns="0" rIns="0" tIns="0" bIns="0" anchor="ctr">
            <a:spAutoFit/>
          </a:bodyPr>
          <a:lstStyle/>
          <a:p>
            <a:pPr algn="l" marL="0" indent="0">
              <a:lnSpc>
                <a:spcPct val="106000"/>
              </a:lnSpc>
              <a:spcBef>
                <a:spcPts val="0"/>
              </a:spcBef>
              <a:spcAft>
                <a:spcPts val="0"/>
              </a:spcAft>
              <a:buNone/>
            </a:pPr>
            <a:r>
              <a:rPr sz="950" b="1" i="0">
                <a:solidFill>
                  <a:srgbClr val="FFFFFF"/>
                </a:solidFill>
                <a:latin typeface="Segoe UI Semibold"/>
              </a:rPr>
              <a:t>GoldenSource has mastered securities, pricing and entity data for capital markets since 1984. Gemspring Capital has owned it since May 2022; headcount is up roughly 60% over that period and 2025 was a record year.</a:t>
            </a:r>
          </a:p>
        </p:txBody>
      </p:sp>
      <p:sp>
        <p:nvSpPr>
          <p:cNvPr id="6" name="Rectangle 5"/>
          <p:cNvSpPr/>
          <p:nvPr/>
        </p:nvSpPr>
        <p:spPr>
          <a:xfrm>
            <a:off x="228600" y="1426464"/>
            <a:ext cx="8686800" cy="12801"/>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 y="1490472"/>
            <a:ext cx="1915667" cy="219456"/>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1150" b="1" i="0">
                <a:solidFill>
                  <a:srgbClr val="002855"/>
                </a:solidFill>
                <a:latin typeface="Segoe UI Semibold"/>
              </a:rPr>
              <a:t>1984</a:t>
            </a:r>
          </a:p>
        </p:txBody>
      </p:sp>
      <p:sp>
        <p:nvSpPr>
          <p:cNvPr id="8" name="TextBox 7"/>
          <p:cNvSpPr txBox="1"/>
          <p:nvPr/>
        </p:nvSpPr>
        <p:spPr>
          <a:xfrm>
            <a:off x="356616" y="1709928"/>
            <a:ext cx="1915667" cy="21031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50" b="0" i="0">
                <a:solidFill>
                  <a:srgbClr val="525766"/>
                </a:solidFill>
                <a:latin typeface="Segoe UI"/>
              </a:rPr>
              <a:t>Founded; over 40 years in capital markets data</a:t>
            </a:r>
          </a:p>
        </p:txBody>
      </p:sp>
      <p:sp>
        <p:nvSpPr>
          <p:cNvPr id="9" name="Rectangle 8"/>
          <p:cNvSpPr/>
          <p:nvPr/>
        </p:nvSpPr>
        <p:spPr>
          <a:xfrm>
            <a:off x="2400300" y="1499616"/>
            <a:ext cx="7315" cy="420624"/>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28316" y="1490472"/>
            <a:ext cx="1915667" cy="219456"/>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1150" b="1" i="0">
                <a:solidFill>
                  <a:srgbClr val="002855"/>
                </a:solidFill>
                <a:latin typeface="Segoe UI Semibold"/>
              </a:rPr>
              <a:t>100+</a:t>
            </a:r>
          </a:p>
        </p:txBody>
      </p:sp>
      <p:sp>
        <p:nvSpPr>
          <p:cNvPr id="11" name="TextBox 10"/>
          <p:cNvSpPr txBox="1"/>
          <p:nvPr/>
        </p:nvSpPr>
        <p:spPr>
          <a:xfrm>
            <a:off x="2528316" y="1709928"/>
            <a:ext cx="1915667" cy="21031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50" b="0" i="0">
                <a:solidFill>
                  <a:srgbClr val="525766"/>
                </a:solidFill>
                <a:latin typeface="Segoe UI"/>
              </a:rPr>
              <a:t>Pre-built vendor data feeds and adaptors</a:t>
            </a:r>
          </a:p>
        </p:txBody>
      </p:sp>
      <p:sp>
        <p:nvSpPr>
          <p:cNvPr id="12" name="Rectangle 11"/>
          <p:cNvSpPr/>
          <p:nvPr/>
        </p:nvSpPr>
        <p:spPr>
          <a:xfrm>
            <a:off x="4572000" y="1499616"/>
            <a:ext cx="7315" cy="420624"/>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1490472"/>
            <a:ext cx="1915667" cy="219456"/>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1150" b="1" i="0">
                <a:solidFill>
                  <a:srgbClr val="002855"/>
                </a:solidFill>
                <a:latin typeface="Segoe UI Semibold"/>
              </a:rPr>
              <a:t>6</a:t>
            </a:r>
          </a:p>
        </p:txBody>
      </p:sp>
      <p:sp>
        <p:nvSpPr>
          <p:cNvPr id="14" name="TextBox 13"/>
          <p:cNvSpPr txBox="1"/>
          <p:nvPr/>
        </p:nvSpPr>
        <p:spPr>
          <a:xfrm>
            <a:off x="4700016" y="1709928"/>
            <a:ext cx="1915667" cy="21031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50" b="0" i="0">
                <a:solidFill>
                  <a:srgbClr val="525766"/>
                </a:solidFill>
                <a:latin typeface="Segoe UI"/>
              </a:rPr>
              <a:t>Offices across North America, EMEA and APAC</a:t>
            </a:r>
          </a:p>
        </p:txBody>
      </p:sp>
      <p:sp>
        <p:nvSpPr>
          <p:cNvPr id="15" name="Rectangle 14"/>
          <p:cNvSpPr/>
          <p:nvPr/>
        </p:nvSpPr>
        <p:spPr>
          <a:xfrm>
            <a:off x="6743700" y="1499616"/>
            <a:ext cx="7315" cy="420624"/>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71716" y="1490472"/>
            <a:ext cx="1915667" cy="219456"/>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1150" b="1" i="0">
                <a:solidFill>
                  <a:srgbClr val="002855"/>
                </a:solidFill>
                <a:latin typeface="Segoe UI Semibold"/>
              </a:rPr>
              <a:t>4 yrs</a:t>
            </a:r>
          </a:p>
        </p:txBody>
      </p:sp>
      <p:sp>
        <p:nvSpPr>
          <p:cNvPr id="17" name="TextBox 16"/>
          <p:cNvSpPr txBox="1"/>
          <p:nvPr/>
        </p:nvSpPr>
        <p:spPr>
          <a:xfrm>
            <a:off x="6871716" y="1709928"/>
            <a:ext cx="1915667" cy="21031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50" b="0" i="0">
                <a:solidFill>
                  <a:srgbClr val="525766"/>
                </a:solidFill>
                <a:latin typeface="Segoe UI"/>
              </a:rPr>
              <a:t>Gemspring Capital hold period to date</a:t>
            </a:r>
          </a:p>
        </p:txBody>
      </p:sp>
      <p:sp>
        <p:nvSpPr>
          <p:cNvPr id="18" name="Rectangle 17"/>
          <p:cNvSpPr/>
          <p:nvPr/>
        </p:nvSpPr>
        <p:spPr>
          <a:xfrm>
            <a:off x="228600" y="2048256"/>
            <a:ext cx="49834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2048256"/>
            <a:ext cx="48006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COMPANY OVERVIEW</a:t>
            </a:r>
          </a:p>
        </p:txBody>
      </p:sp>
      <p:sp>
        <p:nvSpPr>
          <p:cNvPr id="20" name="TextBox 19"/>
          <p:cNvSpPr txBox="1"/>
          <p:nvPr/>
        </p:nvSpPr>
        <p:spPr>
          <a:xfrm>
            <a:off x="246888" y="2359152"/>
            <a:ext cx="4946904" cy="1664207"/>
          </a:xfrm>
          <a:prstGeom prst="rect">
            <a:avLst/>
          </a:prstGeom>
          <a:noFill/>
        </p:spPr>
        <p:txBody>
          <a:bodyPr wrap="square" lIns="0" rIns="0" tIns="0" bIns="0" anchor="t">
            <a:spAutoFit/>
          </a:bodyPr>
          <a:lstStyle/>
          <a:p>
            <a:pPr algn="l" marL="105156" indent="-105156">
              <a:lnSpc>
                <a:spcPct val="102000"/>
              </a:lnSpc>
              <a:spcBef>
                <a:spcPts val="0"/>
              </a:spcBef>
              <a:spcAft>
                <a:spcPts val="400"/>
              </a:spcAft>
              <a:buClr>
                <a:srgbClr val="508BC9"/>
              </a:buClr>
              <a:buSzPct val="90000"/>
              <a:buFont typeface="Arial"/>
              <a:buChar char="▪"/>
            </a:pPr>
            <a:r>
              <a:rPr sz="800" b="0" i="0">
                <a:solidFill>
                  <a:srgbClr val="525766"/>
                </a:solidFill>
                <a:latin typeface="Segoe UI"/>
              </a:rPr>
              <a:t>Founded in 1984 and headquartered in New York, GoldenSource is one of the original enterprise data management (EDM) vendors in capital markets and is credited with popularising the term.</a:t>
            </a:r>
          </a:p>
          <a:p>
            <a:pPr algn="l" marL="105156" indent="-105156">
              <a:lnSpc>
                <a:spcPct val="102000"/>
              </a:lnSpc>
              <a:spcBef>
                <a:spcPts val="0"/>
              </a:spcBef>
              <a:spcAft>
                <a:spcPts val="400"/>
              </a:spcAft>
              <a:buClr>
                <a:srgbClr val="508BC9"/>
              </a:buClr>
              <a:buSzPct val="90000"/>
              <a:buFont typeface="Arial"/>
              <a:buChar char="▪"/>
            </a:pPr>
            <a:r>
              <a:rPr sz="800" b="0" i="0">
                <a:solidFill>
                  <a:srgbClr val="525766"/>
                </a:solidFill>
                <a:latin typeface="Segoe UI"/>
              </a:rPr>
              <a:t>Masters, governs and distributes securities, entity, counterparty, client, pricing, position, corporate-action and ESG data for banks, asset managers and insurers.</a:t>
            </a:r>
          </a:p>
          <a:p>
            <a:pPr algn="l" marL="105156" indent="-105156">
              <a:lnSpc>
                <a:spcPct val="102000"/>
              </a:lnSpc>
              <a:spcBef>
                <a:spcPts val="0"/>
              </a:spcBef>
              <a:spcAft>
                <a:spcPts val="400"/>
              </a:spcAft>
              <a:buClr>
                <a:srgbClr val="508BC9"/>
              </a:buClr>
              <a:buSzPct val="90000"/>
              <a:buFont typeface="Arial"/>
              <a:buChar char="▪"/>
            </a:pPr>
            <a:r>
              <a:rPr sz="800" b="0" i="0">
                <a:solidFill>
                  <a:srgbClr val="525766"/>
                </a:solidFill>
                <a:latin typeface="Segoe UI"/>
              </a:rPr>
              <a:t>One platform, two go-to-market lenses: the </a:t>
            </a:r>
            <a:r>
              <a:rPr sz="800" b="1" i="0">
                <a:solidFill>
                  <a:srgbClr val="002855"/>
                </a:solidFill>
                <a:latin typeface="Segoe UI Semibold"/>
              </a:rPr>
              <a:t>Investment Data Platform</a:t>
            </a:r>
            <a:r>
              <a:rPr sz="800" b="0" i="0">
                <a:solidFill>
                  <a:srgbClr val="525766"/>
                </a:solidFill>
                <a:latin typeface="Segoe UI"/>
              </a:rPr>
              <a:t> for the buy side and a </a:t>
            </a:r>
            <a:r>
              <a:rPr sz="800" b="1" i="0">
                <a:solidFill>
                  <a:srgbClr val="002855"/>
                </a:solidFill>
                <a:latin typeface="Segoe UI Semibold"/>
              </a:rPr>
              <a:t>Trading, Risk and Regulatory Data Platform</a:t>
            </a:r>
            <a:r>
              <a:rPr sz="800" b="0" i="0">
                <a:solidFill>
                  <a:srgbClr val="525766"/>
                </a:solidFill>
                <a:latin typeface="Segoe UI"/>
              </a:rPr>
              <a:t> for the sell side.</a:t>
            </a:r>
          </a:p>
          <a:p>
            <a:pPr algn="l" marL="105156" indent="-105156">
              <a:lnSpc>
                <a:spcPct val="102000"/>
              </a:lnSpc>
              <a:spcBef>
                <a:spcPts val="0"/>
              </a:spcBef>
              <a:spcAft>
                <a:spcPts val="400"/>
              </a:spcAft>
              <a:buClr>
                <a:srgbClr val="508BC9"/>
              </a:buClr>
              <a:buSzPct val="90000"/>
              <a:buFont typeface="Arial"/>
              <a:buChar char="▪"/>
            </a:pPr>
            <a:r>
              <a:rPr sz="800" b="0" i="0">
                <a:solidFill>
                  <a:srgbClr val="525766"/>
                </a:solidFill>
                <a:latin typeface="Segoe UI"/>
              </a:rPr>
              <a:t>Recurring subscription licence plus cloud hosting and managed services, deployed SaaS or on-premise; founding sponsor of the EDM Council.</a:t>
            </a:r>
          </a:p>
          <a:p>
            <a:pPr algn="l" marL="105156" indent="-105156">
              <a:lnSpc>
                <a:spcPct val="102000"/>
              </a:lnSpc>
              <a:spcBef>
                <a:spcPts val="0"/>
              </a:spcBef>
              <a:spcAft>
                <a:spcPts val="400"/>
              </a:spcAft>
              <a:buClr>
                <a:srgbClr val="508BC9"/>
              </a:buClr>
              <a:buSzPct val="90000"/>
              <a:buFont typeface="Arial"/>
              <a:buChar char="▪"/>
            </a:pPr>
            <a:r>
              <a:rPr sz="800" b="0" i="0">
                <a:solidFill>
                  <a:srgbClr val="525766"/>
                </a:solidFill>
                <a:latin typeface="Segoe UI"/>
              </a:rPr>
              <a:t>Leadership refreshed under sponsor ownership: James Corrigan became CEO in September 2024, succeeding John Eley after a decade, with a Chief Customer Officer seat created in 2026.</a:t>
            </a:r>
          </a:p>
        </p:txBody>
      </p:sp>
      <p:sp>
        <p:nvSpPr>
          <p:cNvPr id="21" name="Rectangle 20"/>
          <p:cNvSpPr/>
          <p:nvPr/>
        </p:nvSpPr>
        <p:spPr>
          <a:xfrm>
            <a:off x="5303520" y="2048256"/>
            <a:ext cx="36118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59" y="2048256"/>
            <a:ext cx="34290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COMPANY SNAPSHOT</a:t>
            </a:r>
          </a:p>
        </p:txBody>
      </p:sp>
      <p:sp>
        <p:nvSpPr>
          <p:cNvPr id="23" name="Rectangle 22"/>
          <p:cNvSpPr/>
          <p:nvPr/>
        </p:nvSpPr>
        <p:spPr>
          <a:xfrm>
            <a:off x="5303520" y="2331720"/>
            <a:ext cx="3611880" cy="18745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58384" y="2331720"/>
            <a:ext cx="868680" cy="187452"/>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Founded</a:t>
            </a:r>
          </a:p>
        </p:txBody>
      </p:sp>
      <p:sp>
        <p:nvSpPr>
          <p:cNvPr id="25" name="TextBox 24"/>
          <p:cNvSpPr txBox="1"/>
          <p:nvPr/>
        </p:nvSpPr>
        <p:spPr>
          <a:xfrm>
            <a:off x="6227064" y="2331720"/>
            <a:ext cx="2633472" cy="187452"/>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1984  |  New York, NY</a:t>
            </a:r>
          </a:p>
        </p:txBody>
      </p:sp>
      <p:sp>
        <p:nvSpPr>
          <p:cNvPr id="26" name="TextBox 25"/>
          <p:cNvSpPr txBox="1"/>
          <p:nvPr/>
        </p:nvSpPr>
        <p:spPr>
          <a:xfrm>
            <a:off x="5358384" y="2519172"/>
            <a:ext cx="868680" cy="292608"/>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Ownership</a:t>
            </a:r>
          </a:p>
        </p:txBody>
      </p:sp>
      <p:sp>
        <p:nvSpPr>
          <p:cNvPr id="27" name="TextBox 26"/>
          <p:cNvSpPr txBox="1"/>
          <p:nvPr/>
        </p:nvSpPr>
        <p:spPr>
          <a:xfrm>
            <a:off x="6227064" y="2519172"/>
            <a:ext cx="2633472" cy="292608"/>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Gemspring Capital (May 2022); previously The Invus Group</a:t>
            </a:r>
          </a:p>
        </p:txBody>
      </p:sp>
      <p:sp>
        <p:nvSpPr>
          <p:cNvPr id="28" name="Rectangle 27"/>
          <p:cNvSpPr/>
          <p:nvPr/>
        </p:nvSpPr>
        <p:spPr>
          <a:xfrm>
            <a:off x="5303520" y="2811780"/>
            <a:ext cx="3611880" cy="18745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58384" y="2811780"/>
            <a:ext cx="868680" cy="187452"/>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CEO</a:t>
            </a:r>
          </a:p>
        </p:txBody>
      </p:sp>
      <p:sp>
        <p:nvSpPr>
          <p:cNvPr id="30" name="TextBox 29"/>
          <p:cNvSpPr txBox="1"/>
          <p:nvPr/>
        </p:nvSpPr>
        <p:spPr>
          <a:xfrm>
            <a:off x="6227064" y="2811780"/>
            <a:ext cx="2633472" cy="187452"/>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James Corrigan (since Sept. 2024)</a:t>
            </a:r>
          </a:p>
        </p:txBody>
      </p:sp>
      <p:sp>
        <p:nvSpPr>
          <p:cNvPr id="31" name="TextBox 30"/>
          <p:cNvSpPr txBox="1"/>
          <p:nvPr/>
        </p:nvSpPr>
        <p:spPr>
          <a:xfrm>
            <a:off x="5358384" y="2999232"/>
            <a:ext cx="868680" cy="187452"/>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Employees</a:t>
            </a:r>
          </a:p>
        </p:txBody>
      </p:sp>
      <p:sp>
        <p:nvSpPr>
          <p:cNvPr id="32" name="TextBox 31"/>
          <p:cNvSpPr txBox="1"/>
          <p:nvPr/>
        </p:nvSpPr>
        <p:spPr>
          <a:xfrm>
            <a:off x="6227064" y="2999232"/>
            <a:ext cx="2633472" cy="187452"/>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~620 est., versus 380 at the 2022 close</a:t>
            </a:r>
          </a:p>
        </p:txBody>
      </p:sp>
      <p:sp>
        <p:nvSpPr>
          <p:cNvPr id="33" name="Rectangle 32"/>
          <p:cNvSpPr/>
          <p:nvPr/>
        </p:nvSpPr>
        <p:spPr>
          <a:xfrm>
            <a:off x="5303520" y="3186684"/>
            <a:ext cx="3611880" cy="2926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58384" y="3186684"/>
            <a:ext cx="868680" cy="292608"/>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Revenue</a:t>
            </a:r>
          </a:p>
        </p:txBody>
      </p:sp>
      <p:sp>
        <p:nvSpPr>
          <p:cNvPr id="35" name="TextBox 34"/>
          <p:cNvSpPr txBox="1"/>
          <p:nvPr/>
        </p:nvSpPr>
        <p:spPr>
          <a:xfrm>
            <a:off x="6227064" y="3186684"/>
            <a:ext cx="2633472" cy="292608"/>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~$63M est. (third-party; not company-reported)</a:t>
            </a:r>
          </a:p>
        </p:txBody>
      </p:sp>
      <p:sp>
        <p:nvSpPr>
          <p:cNvPr id="36" name="TextBox 35"/>
          <p:cNvSpPr txBox="1"/>
          <p:nvPr/>
        </p:nvSpPr>
        <p:spPr>
          <a:xfrm>
            <a:off x="5358384" y="3479292"/>
            <a:ext cx="868680" cy="292608"/>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Offices</a:t>
            </a:r>
          </a:p>
        </p:txBody>
      </p:sp>
      <p:sp>
        <p:nvSpPr>
          <p:cNvPr id="37" name="TextBox 36"/>
          <p:cNvSpPr txBox="1"/>
          <p:nvPr/>
        </p:nvSpPr>
        <p:spPr>
          <a:xfrm>
            <a:off x="6227064" y="3479292"/>
            <a:ext cx="2633472" cy="292608"/>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New York, London, Milan, Mumbai, Melbourne, Hong Kong</a:t>
            </a:r>
          </a:p>
        </p:txBody>
      </p:sp>
      <p:sp>
        <p:nvSpPr>
          <p:cNvPr id="38" name="Rectangle 37"/>
          <p:cNvSpPr/>
          <p:nvPr/>
        </p:nvSpPr>
        <p:spPr>
          <a:xfrm>
            <a:off x="5303520" y="3771900"/>
            <a:ext cx="3611880" cy="2926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58384" y="3771900"/>
            <a:ext cx="868680" cy="292608"/>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750" b="1" i="0">
                <a:solidFill>
                  <a:srgbClr val="002855"/>
                </a:solidFill>
                <a:latin typeface="Segoe UI Semibold"/>
              </a:rPr>
              <a:t>Delivery</a:t>
            </a:r>
          </a:p>
        </p:txBody>
      </p:sp>
      <p:sp>
        <p:nvSpPr>
          <p:cNvPr id="40" name="TextBox 39"/>
          <p:cNvSpPr txBox="1"/>
          <p:nvPr/>
        </p:nvSpPr>
        <p:spPr>
          <a:xfrm>
            <a:off x="6227064" y="3771900"/>
            <a:ext cx="2633472" cy="292608"/>
          </a:xfrm>
          <a:prstGeom prst="rect">
            <a:avLst/>
          </a:prstGeom>
          <a:noFill/>
        </p:spPr>
        <p:txBody>
          <a:bodyPr wrap="square" lIns="0" rIns="0" tIns="0" bIns="0" anchor="ctr">
            <a:spAutoFit/>
          </a:bodyPr>
          <a:lstStyle/>
          <a:p>
            <a:pPr algn="l" marL="0" indent="0">
              <a:lnSpc>
                <a:spcPct val="100000"/>
              </a:lnSpc>
              <a:spcBef>
                <a:spcPts val="0"/>
              </a:spcBef>
              <a:spcAft>
                <a:spcPts val="0"/>
              </a:spcAft>
              <a:buNone/>
            </a:pPr>
            <a:r>
              <a:rPr sz="750" b="0" i="0">
                <a:solidFill>
                  <a:srgbClr val="525766"/>
                </a:solidFill>
                <a:latin typeface="Segoe UI"/>
              </a:rPr>
              <a:t>SaaS on AWS, Azure and GCP; AWS Marketplace; on-premise</a:t>
            </a:r>
          </a:p>
        </p:txBody>
      </p:sp>
      <p:sp>
        <p:nvSpPr>
          <p:cNvPr id="41" name="Rectangle 40"/>
          <p:cNvSpPr/>
          <p:nvPr/>
        </p:nvSpPr>
        <p:spPr>
          <a:xfrm>
            <a:off x="228600" y="4187952"/>
            <a:ext cx="868680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4187952"/>
            <a:ext cx="850392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PLATFORM AND PRODUCT SUITE</a:t>
            </a:r>
          </a:p>
        </p:txBody>
      </p:sp>
      <p:sp>
        <p:nvSpPr>
          <p:cNvPr id="43" name="Chevron 42"/>
          <p:cNvSpPr/>
          <p:nvPr/>
        </p:nvSpPr>
        <p:spPr>
          <a:xfrm>
            <a:off x="228600" y="4498848"/>
            <a:ext cx="2240280" cy="310896"/>
          </a:xfrm>
          <a:prstGeom prst="chevron">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marL="0" indent="0">
              <a:lnSpc>
                <a:spcPct val="102000"/>
              </a:lnSpc>
              <a:spcBef>
                <a:spcPts val="0"/>
              </a:spcBef>
              <a:spcAft>
                <a:spcPts val="0"/>
              </a:spcAft>
              <a:buNone/>
            </a:pPr>
            <a:r>
              <a:rPr sz="750" b="1" i="0">
                <a:solidFill>
                  <a:srgbClr val="FFFFFF"/>
                </a:solidFill>
                <a:latin typeface="Segoe UI Semibold"/>
              </a:rPr>
              <a:t>SOURCE AND CONNECT</a:t>
            </a:r>
          </a:p>
        </p:txBody>
      </p:sp>
      <p:sp>
        <p:nvSpPr>
          <p:cNvPr id="44" name="TextBox 43"/>
          <p:cNvSpPr txBox="1"/>
          <p:nvPr/>
        </p:nvSpPr>
        <p:spPr>
          <a:xfrm>
            <a:off x="393192" y="4873752"/>
            <a:ext cx="1965960" cy="393191"/>
          </a:xfrm>
          <a:prstGeom prst="rect">
            <a:avLst/>
          </a:prstGeom>
          <a:noFill/>
        </p:spPr>
        <p:txBody>
          <a:bodyPr wrap="square" lIns="0" rIns="0" tIns="0" bIns="0" anchor="t">
            <a:spAutoFit/>
          </a:bodyPr>
          <a:lstStyle/>
          <a:p>
            <a:pPr algn="l" marL="105156" indent="-105156">
              <a:lnSpc>
                <a:spcPct val="100000"/>
              </a:lnSpc>
              <a:spcBef>
                <a:spcPts val="0"/>
              </a:spcBef>
              <a:spcAft>
                <a:spcPts val="150"/>
              </a:spcAft>
              <a:buClr>
                <a:srgbClr val="002855"/>
              </a:buClr>
              <a:buSzPct val="90000"/>
              <a:buFont typeface="Arial"/>
              <a:buChar char="▪"/>
            </a:pPr>
            <a:r>
              <a:rPr sz="700" b="0" i="0">
                <a:solidFill>
                  <a:srgbClr val="525766"/>
                </a:solidFill>
                <a:latin typeface="Segoe UI"/>
              </a:rPr>
              <a:t>Connections and Adaptors</a:t>
            </a:r>
          </a:p>
          <a:p>
            <a:pPr algn="l" marL="105156" indent="-105156">
              <a:lnSpc>
                <a:spcPct val="100000"/>
              </a:lnSpc>
              <a:spcBef>
                <a:spcPts val="0"/>
              </a:spcBef>
              <a:spcAft>
                <a:spcPts val="150"/>
              </a:spcAft>
              <a:buClr>
                <a:srgbClr val="002855"/>
              </a:buClr>
              <a:buSzPct val="90000"/>
              <a:buFont typeface="Arial"/>
              <a:buChar char="▪"/>
            </a:pPr>
            <a:r>
              <a:rPr sz="700" b="0" i="0">
                <a:solidFill>
                  <a:srgbClr val="525766"/>
                </a:solidFill>
                <a:latin typeface="Segoe UI"/>
              </a:rPr>
              <a:t>100+ vendor feeds</a:t>
            </a:r>
          </a:p>
        </p:txBody>
      </p:sp>
      <p:sp>
        <p:nvSpPr>
          <p:cNvPr id="45" name="Chevron 44"/>
          <p:cNvSpPr/>
          <p:nvPr/>
        </p:nvSpPr>
        <p:spPr>
          <a:xfrm>
            <a:off x="2377440" y="4498848"/>
            <a:ext cx="2240280" cy="310896"/>
          </a:xfrm>
          <a:prstGeom prst="chevron">
            <a:avLst/>
          </a:prstGeom>
          <a:solidFill>
            <a:srgbClr val="1C4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marL="0" indent="0">
              <a:lnSpc>
                <a:spcPct val="102000"/>
              </a:lnSpc>
              <a:spcBef>
                <a:spcPts val="0"/>
              </a:spcBef>
              <a:spcAft>
                <a:spcPts val="0"/>
              </a:spcAft>
              <a:buNone/>
            </a:pPr>
            <a:r>
              <a:rPr sz="750" b="1" i="0">
                <a:solidFill>
                  <a:srgbClr val="FFFFFF"/>
                </a:solidFill>
                <a:latin typeface="Segoe UI Semibold"/>
              </a:rPr>
              <a:t>MASTER AND GOVERN</a:t>
            </a:r>
          </a:p>
        </p:txBody>
      </p:sp>
      <p:sp>
        <p:nvSpPr>
          <p:cNvPr id="46" name="TextBox 45"/>
          <p:cNvSpPr txBox="1"/>
          <p:nvPr/>
        </p:nvSpPr>
        <p:spPr>
          <a:xfrm>
            <a:off x="2542032" y="4873752"/>
            <a:ext cx="1965960" cy="393191"/>
          </a:xfrm>
          <a:prstGeom prst="rect">
            <a:avLst/>
          </a:prstGeom>
          <a:noFill/>
        </p:spPr>
        <p:txBody>
          <a:bodyPr wrap="square" lIns="0" rIns="0" tIns="0" bIns="0" anchor="t">
            <a:spAutoFit/>
          </a:bodyPr>
          <a:lstStyle/>
          <a:p>
            <a:pPr algn="l" marL="105156" indent="-105156">
              <a:lnSpc>
                <a:spcPct val="100000"/>
              </a:lnSpc>
              <a:spcBef>
                <a:spcPts val="0"/>
              </a:spcBef>
              <a:spcAft>
                <a:spcPts val="150"/>
              </a:spcAft>
              <a:buClr>
                <a:srgbClr val="1C4470"/>
              </a:buClr>
              <a:buSzPct val="90000"/>
              <a:buFont typeface="Arial"/>
              <a:buChar char="▪"/>
            </a:pPr>
            <a:r>
              <a:rPr sz="700" b="0" i="0">
                <a:solidFill>
                  <a:srgbClr val="525766"/>
                </a:solidFill>
                <a:latin typeface="Segoe UI"/>
              </a:rPr>
              <a:t>Securities and Entity Master</a:t>
            </a:r>
          </a:p>
          <a:p>
            <a:pPr algn="l" marL="105156" indent="-105156">
              <a:lnSpc>
                <a:spcPct val="100000"/>
              </a:lnSpc>
              <a:spcBef>
                <a:spcPts val="0"/>
              </a:spcBef>
              <a:spcAft>
                <a:spcPts val="150"/>
              </a:spcAft>
              <a:buClr>
                <a:srgbClr val="1C4470"/>
              </a:buClr>
              <a:buSzPct val="90000"/>
              <a:buFont typeface="Arial"/>
              <a:buChar char="▪"/>
            </a:pPr>
            <a:r>
              <a:rPr sz="700" b="0" i="0">
                <a:solidFill>
                  <a:srgbClr val="525766"/>
                </a:solidFill>
                <a:latin typeface="Segoe UI"/>
              </a:rPr>
              <a:t>Price Master, corporate actions, ESG</a:t>
            </a:r>
          </a:p>
        </p:txBody>
      </p:sp>
      <p:sp>
        <p:nvSpPr>
          <p:cNvPr id="47" name="Chevron 46"/>
          <p:cNvSpPr/>
          <p:nvPr/>
        </p:nvSpPr>
        <p:spPr>
          <a:xfrm>
            <a:off x="4526280" y="4498848"/>
            <a:ext cx="2240280" cy="310896"/>
          </a:xfrm>
          <a:prstGeom prst="chevron">
            <a:avLst/>
          </a:prstGeom>
          <a:solidFill>
            <a:srgbClr val="3861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marL="0" indent="0">
              <a:lnSpc>
                <a:spcPct val="102000"/>
              </a:lnSpc>
              <a:spcBef>
                <a:spcPts val="0"/>
              </a:spcBef>
              <a:spcAft>
                <a:spcPts val="0"/>
              </a:spcAft>
              <a:buNone/>
            </a:pPr>
            <a:r>
              <a:rPr sz="750" b="1" i="0">
                <a:solidFill>
                  <a:srgbClr val="FFFFFF"/>
                </a:solidFill>
                <a:latin typeface="Segoe UI Semibold"/>
              </a:rPr>
              <a:t>DISTRIBUTE</a:t>
            </a:r>
          </a:p>
        </p:txBody>
      </p:sp>
      <p:sp>
        <p:nvSpPr>
          <p:cNvPr id="48" name="TextBox 47"/>
          <p:cNvSpPr txBox="1"/>
          <p:nvPr/>
        </p:nvSpPr>
        <p:spPr>
          <a:xfrm>
            <a:off x="4690872" y="4873752"/>
            <a:ext cx="1965960" cy="393191"/>
          </a:xfrm>
          <a:prstGeom prst="rect">
            <a:avLst/>
          </a:prstGeom>
          <a:noFill/>
        </p:spPr>
        <p:txBody>
          <a:bodyPr wrap="square" lIns="0" rIns="0" tIns="0" bIns="0" anchor="t">
            <a:spAutoFit/>
          </a:bodyPr>
          <a:lstStyle/>
          <a:p>
            <a:pPr algn="l" marL="105156" indent="-105156">
              <a:lnSpc>
                <a:spcPct val="100000"/>
              </a:lnSpc>
              <a:spcBef>
                <a:spcPts val="0"/>
              </a:spcBef>
              <a:spcAft>
                <a:spcPts val="150"/>
              </a:spcAft>
              <a:buClr>
                <a:srgbClr val="38618B"/>
              </a:buClr>
              <a:buSzPct val="90000"/>
              <a:buFont typeface="Arial"/>
              <a:buChar char="▪"/>
            </a:pPr>
            <a:r>
              <a:rPr sz="700" b="0" i="0">
                <a:solidFill>
                  <a:srgbClr val="525766"/>
                </a:solidFill>
                <a:latin typeface="Segoe UI"/>
              </a:rPr>
              <a:t>Data Warehouse</a:t>
            </a:r>
          </a:p>
          <a:p>
            <a:pPr algn="l" marL="105156" indent="-105156">
              <a:lnSpc>
                <a:spcPct val="100000"/>
              </a:lnSpc>
              <a:spcBef>
                <a:spcPts val="0"/>
              </a:spcBef>
              <a:spcAft>
                <a:spcPts val="150"/>
              </a:spcAft>
              <a:buClr>
                <a:srgbClr val="38618B"/>
              </a:buClr>
              <a:buSzPct val="90000"/>
              <a:buFont typeface="Arial"/>
              <a:buChar char="▪"/>
            </a:pPr>
            <a:r>
              <a:rPr sz="700" b="0" i="0">
                <a:solidFill>
                  <a:srgbClr val="525766"/>
                </a:solidFill>
                <a:latin typeface="Segoe UI"/>
              </a:rPr>
              <a:t>OMNI (Snowflake Native App)</a:t>
            </a:r>
          </a:p>
          <a:p>
            <a:pPr algn="l" marL="105156" indent="-105156">
              <a:lnSpc>
                <a:spcPct val="100000"/>
              </a:lnSpc>
              <a:spcBef>
                <a:spcPts val="0"/>
              </a:spcBef>
              <a:spcAft>
                <a:spcPts val="150"/>
              </a:spcAft>
              <a:buClr>
                <a:srgbClr val="38618B"/>
              </a:buClr>
              <a:buSzPct val="90000"/>
              <a:buFont typeface="Arial"/>
              <a:buChar char="▪"/>
            </a:pPr>
            <a:r>
              <a:rPr sz="700" b="0" i="0">
                <a:solidFill>
                  <a:srgbClr val="525766"/>
                </a:solidFill>
                <a:latin typeface="Segoe UI"/>
              </a:rPr>
              <a:t>Real-time IBOR</a:t>
            </a:r>
          </a:p>
        </p:txBody>
      </p:sp>
      <p:sp>
        <p:nvSpPr>
          <p:cNvPr id="49" name="Chevron 48"/>
          <p:cNvSpPr/>
          <p:nvPr/>
        </p:nvSpPr>
        <p:spPr>
          <a:xfrm>
            <a:off x="6675120" y="4498848"/>
            <a:ext cx="2240280" cy="310896"/>
          </a:xfrm>
          <a:prstGeom prst="chevron">
            <a:avLst/>
          </a:prstGeom>
          <a:solidFill>
            <a:srgbClr val="508B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marL="0" indent="0">
              <a:lnSpc>
                <a:spcPct val="102000"/>
              </a:lnSpc>
              <a:spcBef>
                <a:spcPts val="0"/>
              </a:spcBef>
              <a:spcAft>
                <a:spcPts val="0"/>
              </a:spcAft>
              <a:buNone/>
            </a:pPr>
            <a:r>
              <a:rPr sz="750" b="1" i="0">
                <a:solidFill>
                  <a:srgbClr val="FFFFFF"/>
                </a:solidFill>
                <a:latin typeface="Segoe UI Semibold"/>
              </a:rPr>
              <a:t>CONSUME AND REASON</a:t>
            </a:r>
          </a:p>
        </p:txBody>
      </p:sp>
      <p:sp>
        <p:nvSpPr>
          <p:cNvPr id="50" name="TextBox 49"/>
          <p:cNvSpPr txBox="1"/>
          <p:nvPr/>
        </p:nvSpPr>
        <p:spPr>
          <a:xfrm>
            <a:off x="6839712" y="4873752"/>
            <a:ext cx="1965960" cy="393191"/>
          </a:xfrm>
          <a:prstGeom prst="rect">
            <a:avLst/>
          </a:prstGeom>
          <a:noFill/>
        </p:spPr>
        <p:txBody>
          <a:bodyPr wrap="square" lIns="0" rIns="0" tIns="0" bIns="0" anchor="t">
            <a:spAutoFit/>
          </a:bodyPr>
          <a:lstStyle/>
          <a:p>
            <a:pPr algn="l" marL="105156" indent="-105156">
              <a:lnSpc>
                <a:spcPct val="100000"/>
              </a:lnSpc>
              <a:spcBef>
                <a:spcPts val="0"/>
              </a:spcBef>
              <a:spcAft>
                <a:spcPts val="150"/>
              </a:spcAft>
              <a:buClr>
                <a:srgbClr val="508BC9"/>
              </a:buClr>
              <a:buSzPct val="90000"/>
              <a:buFont typeface="Arial"/>
              <a:buChar char="▪"/>
            </a:pPr>
            <a:r>
              <a:rPr sz="700" b="0" i="0">
                <a:solidFill>
                  <a:srgbClr val="525766"/>
                </a:solidFill>
                <a:latin typeface="Segoe UI"/>
              </a:rPr>
              <a:t>Scout on Amazon Bedrock</a:t>
            </a:r>
          </a:p>
          <a:p>
            <a:pPr algn="l" marL="105156" indent="-105156">
              <a:lnSpc>
                <a:spcPct val="100000"/>
              </a:lnSpc>
              <a:spcBef>
                <a:spcPts val="0"/>
              </a:spcBef>
              <a:spcAft>
                <a:spcPts val="150"/>
              </a:spcAft>
              <a:buClr>
                <a:srgbClr val="508BC9"/>
              </a:buClr>
              <a:buSzPct val="90000"/>
              <a:buFont typeface="Arial"/>
              <a:buChar char="▪"/>
            </a:pPr>
            <a:r>
              <a:rPr sz="700" b="0" i="0">
                <a:solidFill>
                  <a:srgbClr val="525766"/>
                </a:solidFill>
                <a:latin typeface="Segoe UI"/>
              </a:rPr>
              <a:t>Chat plus MCP agent builder</a:t>
            </a:r>
          </a:p>
        </p:txBody>
      </p:sp>
      <p:sp>
        <p:nvSpPr>
          <p:cNvPr id="51" name="Rectangle 50"/>
          <p:cNvSpPr/>
          <p:nvPr/>
        </p:nvSpPr>
        <p:spPr>
          <a:xfrm>
            <a:off x="228600" y="5358384"/>
            <a:ext cx="553212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0040" y="5358384"/>
            <a:ext cx="534924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SELECTED MILESTONES</a:t>
            </a:r>
          </a:p>
        </p:txBody>
      </p:sp>
      <p:sp>
        <p:nvSpPr>
          <p:cNvPr id="53" name="Rectangle 52"/>
          <p:cNvSpPr/>
          <p:nvPr/>
        </p:nvSpPr>
        <p:spPr>
          <a:xfrm>
            <a:off x="781812" y="5852160"/>
            <a:ext cx="4425696" cy="10058"/>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36092" y="5811012"/>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5176" y="5650992"/>
            <a:ext cx="1033271"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1984</a:t>
            </a:r>
          </a:p>
        </p:txBody>
      </p:sp>
      <p:sp>
        <p:nvSpPr>
          <p:cNvPr id="56" name="TextBox 55"/>
          <p:cNvSpPr txBox="1"/>
          <p:nvPr/>
        </p:nvSpPr>
        <p:spPr>
          <a:xfrm>
            <a:off x="265176" y="5971032"/>
            <a:ext cx="1033271" cy="384047"/>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0" i="0">
                <a:solidFill>
                  <a:srgbClr val="525766"/>
                </a:solidFill>
                <a:latin typeface="Segoe UI"/>
              </a:rPr>
              <a:t>Founded in</a:t>
            </a:r>
          </a:p>
          <a:p>
            <a:pPr algn="ctr" marL="0" indent="0">
              <a:lnSpc>
                <a:spcPct val="100000"/>
              </a:lnSpc>
              <a:spcBef>
                <a:spcPts val="0"/>
              </a:spcBef>
              <a:spcAft>
                <a:spcPts val="50"/>
              </a:spcAft>
              <a:buNone/>
            </a:pPr>
            <a:r>
              <a:rPr sz="700" b="0" i="0">
                <a:solidFill>
                  <a:srgbClr val="525766"/>
                </a:solidFill>
                <a:latin typeface="Segoe UI"/>
              </a:rPr>
              <a:t>New York</a:t>
            </a:r>
          </a:p>
        </p:txBody>
      </p:sp>
      <p:sp>
        <p:nvSpPr>
          <p:cNvPr id="57" name="Oval 56"/>
          <p:cNvSpPr/>
          <p:nvPr/>
        </p:nvSpPr>
        <p:spPr>
          <a:xfrm>
            <a:off x="1842516" y="5811012"/>
            <a:ext cx="91440" cy="91440"/>
          </a:xfrm>
          <a:prstGeom prst="ellipse">
            <a:avLst/>
          </a:prstGeom>
          <a:solidFill>
            <a:srgbClr val="24B1B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71600" y="5650992"/>
            <a:ext cx="1033271"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24B1B1"/>
                </a:solidFill>
                <a:latin typeface="Segoe UI Semibold"/>
              </a:rPr>
              <a:t>2022</a:t>
            </a:r>
          </a:p>
        </p:txBody>
      </p:sp>
      <p:sp>
        <p:nvSpPr>
          <p:cNvPr id="59" name="TextBox 58"/>
          <p:cNvSpPr txBox="1"/>
          <p:nvPr/>
        </p:nvSpPr>
        <p:spPr>
          <a:xfrm>
            <a:off x="1371600" y="5971032"/>
            <a:ext cx="1033271" cy="384047"/>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0" i="0">
                <a:solidFill>
                  <a:srgbClr val="525766"/>
                </a:solidFill>
                <a:latin typeface="Segoe UI"/>
              </a:rPr>
              <a:t>Gemspring buys</a:t>
            </a:r>
          </a:p>
          <a:p>
            <a:pPr algn="ctr" marL="0" indent="0">
              <a:lnSpc>
                <a:spcPct val="100000"/>
              </a:lnSpc>
              <a:spcBef>
                <a:spcPts val="0"/>
              </a:spcBef>
              <a:spcAft>
                <a:spcPts val="50"/>
              </a:spcAft>
              <a:buNone/>
            </a:pPr>
            <a:r>
              <a:rPr sz="700" b="0" i="0">
                <a:solidFill>
                  <a:srgbClr val="525766"/>
                </a:solidFill>
                <a:latin typeface="Segoe UI"/>
              </a:rPr>
              <a:t>from Invus</a:t>
            </a:r>
          </a:p>
        </p:txBody>
      </p:sp>
      <p:sp>
        <p:nvSpPr>
          <p:cNvPr id="60" name="Oval 59"/>
          <p:cNvSpPr/>
          <p:nvPr/>
        </p:nvSpPr>
        <p:spPr>
          <a:xfrm>
            <a:off x="2948940" y="5811012"/>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478024" y="5650992"/>
            <a:ext cx="1033271"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2023–24</a:t>
            </a:r>
          </a:p>
        </p:txBody>
      </p:sp>
      <p:sp>
        <p:nvSpPr>
          <p:cNvPr id="62" name="TextBox 61"/>
          <p:cNvSpPr txBox="1"/>
          <p:nvPr/>
        </p:nvSpPr>
        <p:spPr>
          <a:xfrm>
            <a:off x="2478024" y="5971032"/>
            <a:ext cx="1033271" cy="384047"/>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0" i="0">
                <a:solidFill>
                  <a:srgbClr val="525766"/>
                </a:solidFill>
                <a:latin typeface="Segoe UI"/>
              </a:rPr>
              <a:t>IBOR, OMNI and</a:t>
            </a:r>
          </a:p>
          <a:p>
            <a:pPr algn="ctr" marL="0" indent="0">
              <a:lnSpc>
                <a:spcPct val="100000"/>
              </a:lnSpc>
              <a:spcBef>
                <a:spcPts val="0"/>
              </a:spcBef>
              <a:spcAft>
                <a:spcPts val="50"/>
              </a:spcAft>
              <a:buNone/>
            </a:pPr>
            <a:r>
              <a:rPr sz="700" b="0" i="0">
                <a:solidFill>
                  <a:srgbClr val="525766"/>
                </a:solidFill>
                <a:latin typeface="Segoe UI"/>
              </a:rPr>
              <a:t>V10; new CEO</a:t>
            </a:r>
          </a:p>
        </p:txBody>
      </p:sp>
      <p:sp>
        <p:nvSpPr>
          <p:cNvPr id="63" name="Oval 62"/>
          <p:cNvSpPr/>
          <p:nvPr/>
        </p:nvSpPr>
        <p:spPr>
          <a:xfrm>
            <a:off x="4055363" y="5811012"/>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584448" y="5650992"/>
            <a:ext cx="1033271"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2025</a:t>
            </a:r>
          </a:p>
        </p:txBody>
      </p:sp>
      <p:sp>
        <p:nvSpPr>
          <p:cNvPr id="65" name="TextBox 64"/>
          <p:cNvSpPr txBox="1"/>
          <p:nvPr/>
        </p:nvSpPr>
        <p:spPr>
          <a:xfrm>
            <a:off x="3584448" y="5971032"/>
            <a:ext cx="1033271" cy="384047"/>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0" i="0">
                <a:solidFill>
                  <a:srgbClr val="525766"/>
                </a:solidFill>
                <a:latin typeface="Segoe UI"/>
              </a:rPr>
              <a:t>Record year;</a:t>
            </a:r>
          </a:p>
          <a:p>
            <a:pPr algn="ctr" marL="0" indent="0">
              <a:lnSpc>
                <a:spcPct val="100000"/>
              </a:lnSpc>
              <a:spcBef>
                <a:spcPts val="0"/>
              </a:spcBef>
              <a:spcAft>
                <a:spcPts val="50"/>
              </a:spcAft>
              <a:buNone/>
            </a:pPr>
            <a:r>
              <a:rPr sz="700" b="0" i="0">
                <a:solidFill>
                  <a:srgbClr val="525766"/>
                </a:solidFill>
                <a:latin typeface="Segoe UI"/>
              </a:rPr>
              <a:t>flagship wins</a:t>
            </a:r>
          </a:p>
        </p:txBody>
      </p:sp>
      <p:sp>
        <p:nvSpPr>
          <p:cNvPr id="66" name="Oval 65"/>
          <p:cNvSpPr/>
          <p:nvPr/>
        </p:nvSpPr>
        <p:spPr>
          <a:xfrm>
            <a:off x="5161788" y="5811012"/>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690872" y="5650992"/>
            <a:ext cx="1033271"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2026</a:t>
            </a:r>
          </a:p>
        </p:txBody>
      </p:sp>
      <p:sp>
        <p:nvSpPr>
          <p:cNvPr id="68" name="TextBox 67"/>
          <p:cNvSpPr txBox="1"/>
          <p:nvPr/>
        </p:nvSpPr>
        <p:spPr>
          <a:xfrm>
            <a:off x="4690872" y="5971032"/>
            <a:ext cx="1033271" cy="384047"/>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0" i="0">
                <a:solidFill>
                  <a:srgbClr val="525766"/>
                </a:solidFill>
                <a:latin typeface="Segoe UI"/>
              </a:rPr>
              <a:t>Scout AI</a:t>
            </a:r>
          </a:p>
          <a:p>
            <a:pPr algn="ctr" marL="0" indent="0">
              <a:lnSpc>
                <a:spcPct val="100000"/>
              </a:lnSpc>
              <a:spcBef>
                <a:spcPts val="0"/>
              </a:spcBef>
              <a:spcAft>
                <a:spcPts val="50"/>
              </a:spcAft>
              <a:buNone/>
            </a:pPr>
            <a:r>
              <a:rPr sz="700" b="0" i="0">
                <a:solidFill>
                  <a:srgbClr val="525766"/>
                </a:solidFill>
                <a:latin typeface="Segoe UI"/>
              </a:rPr>
              <a:t>launches</a:t>
            </a:r>
          </a:p>
        </p:txBody>
      </p:sp>
      <p:sp>
        <p:nvSpPr>
          <p:cNvPr id="69" name="Rectangle 68"/>
          <p:cNvSpPr/>
          <p:nvPr/>
        </p:nvSpPr>
        <p:spPr>
          <a:xfrm>
            <a:off x="5989320" y="5358384"/>
            <a:ext cx="29260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080759" y="5358384"/>
            <a:ext cx="27432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HEADCOUNT UNDER GEMSPRING</a:t>
            </a:r>
          </a:p>
        </p:txBody>
      </p:sp>
      <p:graphicFrame>
        <p:nvGraphicFramePr>
          <p:cNvPr id="71" name="Chart 70"/>
          <p:cNvGraphicFramePr>
            <a:graphicFrameLocks noGrp="1"/>
          </p:cNvGraphicFramePr>
          <p:nvPr/>
        </p:nvGraphicFramePr>
        <p:xfrm>
          <a:off x="5961888" y="5586984"/>
          <a:ext cx="2980944" cy="731520"/>
        </p:xfrm>
        <a:graphic>
          <a:graphicData uri="http://schemas.openxmlformats.org/drawingml/2006/chart">
            <c:chart xmlns:c="http://schemas.openxmlformats.org/drawingml/2006/chart" r:id="rId2"/>
          </a:graphicData>
        </a:graphic>
      </p:graphicFrame>
      <p:sp>
        <p:nvSpPr>
          <p:cNvPr id="72" name="TextBox 71"/>
          <p:cNvSpPr txBox="1"/>
          <p:nvPr/>
        </p:nvSpPr>
        <p:spPr>
          <a:xfrm>
            <a:off x="1874519" y="6492240"/>
            <a:ext cx="7040880" cy="34747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0" i="1">
                <a:solidFill>
                  <a:srgbClr val="7E8597"/>
                </a:solidFill>
                <a:latin typeface="Segoe UI"/>
              </a:rPr>
              <a:t>Sources: GoldenSource and Gemspring Capital press releases; Businesswire; Finextra; WatersTechnology; company website. Employee and revenue figures are third-party estimates and are not company-reported; confirm in diligence.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none"/>
          <a:lstStyle/>
          <a:p>
            <a:r>
              <a:rPr sz="1800" b="1">
                <a:solidFill>
                  <a:srgbClr val="002855"/>
                </a:solidFill>
                <a:latin typeface="Segoe UI Semibold"/>
              </a:rPr>
              <a:t>GoldenSource</a:t>
            </a:r>
          </a:p>
        </p:txBody>
      </p:sp>
      <p:sp>
        <p:nvSpPr>
          <p:cNvPr id="3" name="TextBox 2"/>
          <p:cNvSpPr txBox="1"/>
          <p:nvPr/>
        </p:nvSpPr>
        <p:spPr>
          <a:xfrm>
            <a:off x="4206240" y="365760"/>
            <a:ext cx="4709160" cy="274320"/>
          </a:xfrm>
          <a:prstGeom prst="rect">
            <a:avLst/>
          </a:prstGeom>
          <a:noFill/>
        </p:spPr>
        <p:txBody>
          <a:bodyPr wrap="square" lIns="0" rIns="0" tIns="0" bIns="0" anchor="b">
            <a:spAutoFit/>
          </a:bodyPr>
          <a:lstStyle/>
          <a:p>
            <a:pPr algn="r" marL="0" indent="0">
              <a:lnSpc>
                <a:spcPct val="102000"/>
              </a:lnSpc>
              <a:spcBef>
                <a:spcPts val="0"/>
              </a:spcBef>
              <a:spcAft>
                <a:spcPts val="0"/>
              </a:spcAft>
              <a:buNone/>
            </a:pPr>
            <a:r>
              <a:rPr sz="850" b="0" i="1">
                <a:solidFill>
                  <a:srgbClr val="7E8597"/>
                </a:solidFill>
                <a:latin typeface="Segoe UI"/>
              </a:rPr>
              <a:t>Platform and Product Suite  |  July 2026</a:t>
            </a:r>
          </a:p>
        </p:txBody>
      </p:sp>
      <p:sp>
        <p:nvSpPr>
          <p:cNvPr id="4" name="Rectangle 3"/>
          <p:cNvSpPr/>
          <p:nvPr/>
        </p:nvSpPr>
        <p:spPr>
          <a:xfrm>
            <a:off x="228600" y="822960"/>
            <a:ext cx="8686800" cy="530352"/>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 y="822960"/>
            <a:ext cx="8430768" cy="530352"/>
          </a:xfrm>
          <a:prstGeom prst="rect">
            <a:avLst/>
          </a:prstGeom>
          <a:noFill/>
        </p:spPr>
        <p:txBody>
          <a:bodyPr wrap="square" lIns="0" rIns="0" tIns="0" bIns="0" anchor="ctr">
            <a:spAutoFit/>
          </a:bodyPr>
          <a:lstStyle/>
          <a:p>
            <a:pPr algn="l" marL="0" indent="0">
              <a:lnSpc>
                <a:spcPct val="106000"/>
              </a:lnSpc>
              <a:spcBef>
                <a:spcPts val="0"/>
              </a:spcBef>
              <a:spcAft>
                <a:spcPts val="0"/>
              </a:spcAft>
              <a:buNone/>
            </a:pPr>
            <a:r>
              <a:rPr sz="950" b="1" i="0">
                <a:solidFill>
                  <a:srgbClr val="FFFFFF"/>
                </a:solidFill>
                <a:latin typeface="Segoe UI Semibold"/>
              </a:rPr>
              <a:t>One platform sits between the client’s data vendors and every system that consumes the data. GoldenSource connects the sources, masters and governs the record, and distributes it to trading, risk, reporting and, since June 2026, to AI agents.</a:t>
            </a:r>
          </a:p>
        </p:txBody>
      </p:sp>
      <p:sp>
        <p:nvSpPr>
          <p:cNvPr id="6" name="Rectangle 5"/>
          <p:cNvSpPr/>
          <p:nvPr/>
        </p:nvSpPr>
        <p:spPr>
          <a:xfrm>
            <a:off x="320040" y="1444752"/>
            <a:ext cx="850392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444752"/>
            <a:ext cx="832104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PLATFORM AND PRODUCT SUITE</a:t>
            </a:r>
          </a:p>
        </p:txBody>
      </p:sp>
      <p:sp>
        <p:nvSpPr>
          <p:cNvPr id="8" name="TextBox 7"/>
          <p:cNvSpPr txBox="1"/>
          <p:nvPr/>
        </p:nvSpPr>
        <p:spPr>
          <a:xfrm>
            <a:off x="320040" y="1755648"/>
            <a:ext cx="2240280" cy="164592"/>
          </a:xfrm>
          <a:prstGeom prst="rect">
            <a:avLst/>
          </a:prstGeom>
          <a:noFill/>
        </p:spPr>
        <p:txBody>
          <a:bodyPr wrap="square" lIns="0" rIns="0" tIns="0" bIns="0" anchor="b">
            <a:spAutoFit/>
          </a:bodyPr>
          <a:lstStyle/>
          <a:p>
            <a:pPr algn="l" marL="0" indent="0">
              <a:lnSpc>
                <a:spcPct val="102000"/>
              </a:lnSpc>
              <a:spcBef>
                <a:spcPts val="0"/>
              </a:spcBef>
              <a:spcAft>
                <a:spcPts val="0"/>
              </a:spcAft>
              <a:buNone/>
            </a:pPr>
            <a:r>
              <a:rPr sz="750" b="1" i="0">
                <a:solidFill>
                  <a:srgbClr val="7E8597"/>
                </a:solidFill>
                <a:latin typeface="Segoe UI Semibold"/>
              </a:rPr>
              <a:t>MARQUEE PRODUCTS</a:t>
            </a:r>
          </a:p>
        </p:txBody>
      </p:sp>
      <p:sp>
        <p:nvSpPr>
          <p:cNvPr id="9" name="Oval 8"/>
          <p:cNvSpPr/>
          <p:nvPr/>
        </p:nvSpPr>
        <p:spPr>
          <a:xfrm>
            <a:off x="320040" y="2025396"/>
            <a:ext cx="77724" cy="77724"/>
          </a:xfrm>
          <a:prstGeom prst="ellipse">
            <a:avLst/>
          </a:prstGeom>
          <a:solidFill>
            <a:srgbClr val="1C4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 y="1975104"/>
            <a:ext cx="2093976" cy="182880"/>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900" b="1" i="0">
                <a:solidFill>
                  <a:srgbClr val="002855"/>
                </a:solidFill>
                <a:latin typeface="Segoe UI Semibold"/>
              </a:rPr>
              <a:t>Securities Master</a:t>
            </a:r>
          </a:p>
        </p:txBody>
      </p:sp>
      <p:sp>
        <p:nvSpPr>
          <p:cNvPr id="11" name="TextBox 10"/>
          <p:cNvSpPr txBox="1"/>
          <p:nvPr/>
        </p:nvSpPr>
        <p:spPr>
          <a:xfrm>
            <a:off x="466344" y="2167128"/>
            <a:ext cx="2093976" cy="470916"/>
          </a:xfrm>
          <a:prstGeom prst="rect">
            <a:avLst/>
          </a:prstGeom>
          <a:noFill/>
        </p:spPr>
        <p:txBody>
          <a:bodyPr wrap="square" lIns="0" rIns="0" tIns="0" bIns="0" anchor="t">
            <a:spAutoFit/>
          </a:bodyPr>
          <a:lstStyle/>
          <a:p>
            <a:pPr algn="l" marL="0" indent="0">
              <a:lnSpc>
                <a:spcPct val="110000"/>
              </a:lnSpc>
              <a:spcBef>
                <a:spcPts val="0"/>
              </a:spcBef>
              <a:spcAft>
                <a:spcPts val="0"/>
              </a:spcAft>
              <a:buNone/>
            </a:pPr>
            <a:r>
              <a:rPr sz="750" b="0" i="0">
                <a:solidFill>
                  <a:srgbClr val="525766"/>
                </a:solidFill>
                <a:latin typeface="Segoe UI"/>
              </a:rPr>
              <a:t>Cross-asset instrument mastering across equities, fixed income, funds, structured products and derivatives. ESG-enabled.</a:t>
            </a:r>
          </a:p>
        </p:txBody>
      </p:sp>
      <p:sp>
        <p:nvSpPr>
          <p:cNvPr id="12" name="Rectangle 11"/>
          <p:cNvSpPr/>
          <p:nvPr/>
        </p:nvSpPr>
        <p:spPr>
          <a:xfrm>
            <a:off x="320040" y="2697480"/>
            <a:ext cx="2240280" cy="7315"/>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20040" y="2798064"/>
            <a:ext cx="77724" cy="77724"/>
          </a:xfrm>
          <a:prstGeom prst="ellipse">
            <a:avLst/>
          </a:prstGeom>
          <a:solidFill>
            <a:srgbClr val="1C4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 y="2747772"/>
            <a:ext cx="2093976" cy="182880"/>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900" b="1" i="0">
                <a:solidFill>
                  <a:srgbClr val="002855"/>
                </a:solidFill>
                <a:latin typeface="Segoe UI Semibold"/>
              </a:rPr>
              <a:t>Price Master</a:t>
            </a:r>
          </a:p>
        </p:txBody>
      </p:sp>
      <p:sp>
        <p:nvSpPr>
          <p:cNvPr id="15" name="TextBox 14"/>
          <p:cNvSpPr txBox="1"/>
          <p:nvPr/>
        </p:nvSpPr>
        <p:spPr>
          <a:xfrm>
            <a:off x="466344" y="2939796"/>
            <a:ext cx="2093976" cy="470916"/>
          </a:xfrm>
          <a:prstGeom prst="rect">
            <a:avLst/>
          </a:prstGeom>
          <a:noFill/>
        </p:spPr>
        <p:txBody>
          <a:bodyPr wrap="square" lIns="0" rIns="0" tIns="0" bIns="0" anchor="t">
            <a:spAutoFit/>
          </a:bodyPr>
          <a:lstStyle/>
          <a:p>
            <a:pPr algn="l" marL="0" indent="0">
              <a:lnSpc>
                <a:spcPct val="110000"/>
              </a:lnSpc>
              <a:spcBef>
                <a:spcPts val="0"/>
              </a:spcBef>
              <a:spcAft>
                <a:spcPts val="0"/>
              </a:spcAft>
              <a:buNone/>
            </a:pPr>
            <a:r>
              <a:rPr sz="750" b="0" i="0">
                <a:solidFill>
                  <a:srgbClr val="525766"/>
                </a:solidFill>
                <a:latin typeface="Segoe UI"/>
              </a:rPr>
              <a:t>Rule-based multi-vendor pricing and valuation, centralised for NAV and portfolio valuation.</a:t>
            </a:r>
          </a:p>
        </p:txBody>
      </p:sp>
      <p:sp>
        <p:nvSpPr>
          <p:cNvPr id="16" name="Rectangle 15"/>
          <p:cNvSpPr/>
          <p:nvPr/>
        </p:nvSpPr>
        <p:spPr>
          <a:xfrm>
            <a:off x="320040" y="3470148"/>
            <a:ext cx="2240280" cy="7315"/>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20040" y="3570732"/>
            <a:ext cx="77724" cy="77724"/>
          </a:xfrm>
          <a:prstGeom prst="ellipse">
            <a:avLst/>
          </a:prstGeom>
          <a:solidFill>
            <a:srgbClr val="386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 y="3520440"/>
            <a:ext cx="2093976" cy="182880"/>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900" b="1" i="0">
                <a:solidFill>
                  <a:srgbClr val="002855"/>
                </a:solidFill>
                <a:latin typeface="Segoe UI Semibold"/>
              </a:rPr>
              <a:t>OMNI</a:t>
            </a:r>
          </a:p>
        </p:txBody>
      </p:sp>
      <p:sp>
        <p:nvSpPr>
          <p:cNvPr id="19" name="TextBox 18"/>
          <p:cNvSpPr txBox="1"/>
          <p:nvPr/>
        </p:nvSpPr>
        <p:spPr>
          <a:xfrm>
            <a:off x="466344" y="3712464"/>
            <a:ext cx="2093976" cy="470916"/>
          </a:xfrm>
          <a:prstGeom prst="rect">
            <a:avLst/>
          </a:prstGeom>
          <a:noFill/>
        </p:spPr>
        <p:txBody>
          <a:bodyPr wrap="square" lIns="0" rIns="0" tIns="0" bIns="0" anchor="t">
            <a:spAutoFit/>
          </a:bodyPr>
          <a:lstStyle/>
          <a:p>
            <a:pPr algn="l" marL="0" indent="0">
              <a:lnSpc>
                <a:spcPct val="110000"/>
              </a:lnSpc>
              <a:spcBef>
                <a:spcPts val="0"/>
              </a:spcBef>
              <a:spcAft>
                <a:spcPts val="0"/>
              </a:spcAft>
              <a:buNone/>
            </a:pPr>
            <a:r>
              <a:rPr sz="750" b="0" i="0">
                <a:solidFill>
                  <a:srgbClr val="525766"/>
                </a:solidFill>
                <a:latin typeface="Segoe UI"/>
              </a:rPr>
              <a:t>Snowflake Native App. Runs the GoldenSource data model inside the client’s own Snowflake account; data never leaves.</a:t>
            </a:r>
          </a:p>
        </p:txBody>
      </p:sp>
      <p:sp>
        <p:nvSpPr>
          <p:cNvPr id="20" name="Rectangle 19"/>
          <p:cNvSpPr/>
          <p:nvPr/>
        </p:nvSpPr>
        <p:spPr>
          <a:xfrm>
            <a:off x="320040" y="4242816"/>
            <a:ext cx="2240280" cy="7315"/>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0040" y="4343400"/>
            <a:ext cx="77724" cy="77724"/>
          </a:xfrm>
          <a:prstGeom prst="ellipse">
            <a:avLst/>
          </a:prstGeom>
          <a:solidFill>
            <a:srgbClr val="386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 y="4293108"/>
            <a:ext cx="2093976" cy="182880"/>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900" b="1" i="0">
                <a:solidFill>
                  <a:srgbClr val="002855"/>
                </a:solidFill>
                <a:latin typeface="Segoe UI Semibold"/>
              </a:rPr>
              <a:t>IBOR</a:t>
            </a:r>
          </a:p>
        </p:txBody>
      </p:sp>
      <p:sp>
        <p:nvSpPr>
          <p:cNvPr id="23" name="TextBox 22"/>
          <p:cNvSpPr txBox="1"/>
          <p:nvPr/>
        </p:nvSpPr>
        <p:spPr>
          <a:xfrm>
            <a:off x="466344" y="4485132"/>
            <a:ext cx="2093976" cy="470916"/>
          </a:xfrm>
          <a:prstGeom prst="rect">
            <a:avLst/>
          </a:prstGeom>
          <a:noFill/>
        </p:spPr>
        <p:txBody>
          <a:bodyPr wrap="square" lIns="0" rIns="0" tIns="0" bIns="0" anchor="t">
            <a:spAutoFit/>
          </a:bodyPr>
          <a:lstStyle/>
          <a:p>
            <a:pPr algn="l" marL="0" indent="0">
              <a:lnSpc>
                <a:spcPct val="110000"/>
              </a:lnSpc>
              <a:spcBef>
                <a:spcPts val="0"/>
              </a:spcBef>
              <a:spcAft>
                <a:spcPts val="0"/>
              </a:spcAft>
              <a:buNone/>
            </a:pPr>
            <a:r>
              <a:rPr sz="750" b="0" i="0">
                <a:solidFill>
                  <a:srgbClr val="525766"/>
                </a:solidFill>
                <a:latin typeface="Segoe UI"/>
              </a:rPr>
              <a:t>Real-time investment book of record. Positions and valuations update intraday as prices and trades arrive.</a:t>
            </a:r>
          </a:p>
        </p:txBody>
      </p:sp>
      <p:sp>
        <p:nvSpPr>
          <p:cNvPr id="24" name="Rectangle 23"/>
          <p:cNvSpPr/>
          <p:nvPr/>
        </p:nvSpPr>
        <p:spPr>
          <a:xfrm>
            <a:off x="320040" y="5015484"/>
            <a:ext cx="2240280" cy="7315"/>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20040" y="5116068"/>
            <a:ext cx="77724" cy="77724"/>
          </a:xfrm>
          <a:prstGeom prst="ellipse">
            <a:avLst/>
          </a:prstGeom>
          <a:solidFill>
            <a:srgbClr val="24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 y="5065776"/>
            <a:ext cx="2093976" cy="182880"/>
          </a:xfrm>
          <a:prstGeom prst="rect">
            <a:avLst/>
          </a:prstGeom>
          <a:noFill/>
        </p:spPr>
        <p:txBody>
          <a:bodyPr wrap="square" lIns="0" rIns="0" tIns="0" bIns="0" anchor="t">
            <a:spAutoFit/>
          </a:bodyPr>
          <a:lstStyle/>
          <a:p>
            <a:pPr algn="l" marL="0" indent="0">
              <a:lnSpc>
                <a:spcPct val="102000"/>
              </a:lnSpc>
              <a:spcBef>
                <a:spcPts val="0"/>
              </a:spcBef>
              <a:spcAft>
                <a:spcPts val="0"/>
              </a:spcAft>
              <a:buNone/>
            </a:pPr>
            <a:r>
              <a:rPr sz="900" b="1" i="0">
                <a:solidFill>
                  <a:srgbClr val="002855"/>
                </a:solidFill>
                <a:latin typeface="Segoe UI Semibold"/>
              </a:rPr>
              <a:t>Scout</a:t>
            </a:r>
          </a:p>
        </p:txBody>
      </p:sp>
      <p:sp>
        <p:nvSpPr>
          <p:cNvPr id="27" name="TextBox 26"/>
          <p:cNvSpPr txBox="1"/>
          <p:nvPr/>
        </p:nvSpPr>
        <p:spPr>
          <a:xfrm>
            <a:off x="466344" y="5257800"/>
            <a:ext cx="2093976" cy="470916"/>
          </a:xfrm>
          <a:prstGeom prst="rect">
            <a:avLst/>
          </a:prstGeom>
          <a:noFill/>
        </p:spPr>
        <p:txBody>
          <a:bodyPr wrap="square" lIns="0" rIns="0" tIns="0" bIns="0" anchor="t">
            <a:spAutoFit/>
          </a:bodyPr>
          <a:lstStyle/>
          <a:p>
            <a:pPr algn="l" marL="0" indent="0">
              <a:lnSpc>
                <a:spcPct val="110000"/>
              </a:lnSpc>
              <a:spcBef>
                <a:spcPts val="0"/>
              </a:spcBef>
              <a:spcAft>
                <a:spcPts val="0"/>
              </a:spcAft>
              <a:buNone/>
            </a:pPr>
            <a:r>
              <a:rPr sz="750" b="0" i="0">
                <a:solidFill>
                  <a:srgbClr val="525766"/>
                </a:solidFill>
                <a:latin typeface="Segoe UI"/>
              </a:rPr>
              <a:t>AI layer launched June 2026. Chat interface and MCP agent builder over the mastered record, on Amazon Bedrock.</a:t>
            </a:r>
          </a:p>
        </p:txBody>
      </p:sp>
      <p:sp>
        <p:nvSpPr>
          <p:cNvPr id="28" name="TextBox 27"/>
          <p:cNvSpPr txBox="1"/>
          <p:nvPr/>
        </p:nvSpPr>
        <p:spPr>
          <a:xfrm>
            <a:off x="2788920" y="1755648"/>
            <a:ext cx="6035040" cy="164592"/>
          </a:xfrm>
          <a:prstGeom prst="rect">
            <a:avLst/>
          </a:prstGeom>
          <a:noFill/>
        </p:spPr>
        <p:txBody>
          <a:bodyPr wrap="square" lIns="0" rIns="0" tIns="0" bIns="0" anchor="b">
            <a:spAutoFit/>
          </a:bodyPr>
          <a:lstStyle/>
          <a:p>
            <a:pPr algn="l" marL="0" indent="0">
              <a:lnSpc>
                <a:spcPct val="102000"/>
              </a:lnSpc>
              <a:spcBef>
                <a:spcPts val="0"/>
              </a:spcBef>
              <a:spcAft>
                <a:spcPts val="0"/>
              </a:spcAft>
              <a:buNone/>
            </a:pPr>
            <a:r>
              <a:rPr sz="750" b="1" i="0">
                <a:solidFill>
                  <a:srgbClr val="7E8597"/>
                </a:solidFill>
                <a:latin typeface="Segoe UI Semibold"/>
              </a:rPr>
              <a:t>DATA PIPELINE</a:t>
            </a:r>
          </a:p>
        </p:txBody>
      </p:sp>
      <p:sp>
        <p:nvSpPr>
          <p:cNvPr id="29" name="Rectangle 28"/>
          <p:cNvSpPr/>
          <p:nvPr/>
        </p:nvSpPr>
        <p:spPr>
          <a:xfrm>
            <a:off x="4014216" y="1975104"/>
            <a:ext cx="3657600" cy="310896"/>
          </a:xfrm>
          <a:prstGeom prst="rect">
            <a:avLst/>
          </a:prstGeom>
          <a:solidFill>
            <a:srgbClr val="24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05656" y="1975104"/>
            <a:ext cx="3474720" cy="310896"/>
          </a:xfrm>
          <a:prstGeom prst="rect">
            <a:avLst/>
          </a:prstGeom>
          <a:noFill/>
        </p:spPr>
        <p:txBody>
          <a:bodyPr wrap="square" lIns="0" rIns="0" tIns="0" bIns="0" anchor="ctr">
            <a:spAutoFit/>
          </a:bodyPr>
          <a:lstStyle/>
          <a:p>
            <a:pPr algn="ctr" marL="0" indent="0">
              <a:lnSpc>
                <a:spcPct val="102000"/>
              </a:lnSpc>
              <a:spcBef>
                <a:spcPts val="0"/>
              </a:spcBef>
              <a:spcAft>
                <a:spcPts val="0"/>
              </a:spcAft>
              <a:buNone/>
            </a:pPr>
            <a:r>
              <a:rPr sz="750" b="1" i="0">
                <a:solidFill>
                  <a:srgbClr val="FFFFFF"/>
                </a:solidFill>
                <a:latin typeface="Segoe UI Semibold"/>
              </a:rPr>
              <a:t>SCOUT  ·  AI reasoning layer over the mastered record, on Amazon Bedrock</a:t>
            </a:r>
          </a:p>
        </p:txBody>
      </p:sp>
      <p:sp>
        <p:nvSpPr>
          <p:cNvPr id="31" name="Rectangle 30"/>
          <p:cNvSpPr/>
          <p:nvPr/>
        </p:nvSpPr>
        <p:spPr>
          <a:xfrm>
            <a:off x="2788920" y="2404872"/>
            <a:ext cx="1005840" cy="3355848"/>
          </a:xfrm>
          <a:prstGeom prst="rect">
            <a:avLst/>
          </a:prstGeom>
          <a:noFill/>
          <a:ln w="9525">
            <a:solidFill>
              <a:srgbClr val="BCB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88920" y="2404872"/>
            <a:ext cx="1005840" cy="31089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62072" y="2404872"/>
            <a:ext cx="859536" cy="310896"/>
          </a:xfrm>
          <a:prstGeom prst="rect">
            <a:avLst/>
          </a:prstGeom>
          <a:noFill/>
        </p:spPr>
        <p:txBody>
          <a:bodyPr wrap="square" lIns="0" rIns="0" tIns="0" bIns="0" anchor="ctr">
            <a:spAutoFit/>
          </a:bodyPr>
          <a:lstStyle/>
          <a:p>
            <a:pPr algn="ctr" marL="0" indent="0">
              <a:lnSpc>
                <a:spcPct val="100000"/>
              </a:lnSpc>
              <a:spcBef>
                <a:spcPts val="0"/>
              </a:spcBef>
              <a:spcAft>
                <a:spcPts val="0"/>
              </a:spcAft>
              <a:buNone/>
            </a:pPr>
            <a:r>
              <a:rPr sz="750" b="1" i="0">
                <a:solidFill>
                  <a:srgbClr val="002855"/>
                </a:solidFill>
                <a:latin typeface="Segoe UI Semibold"/>
              </a:rPr>
              <a:t>SOURCES</a:t>
            </a:r>
          </a:p>
        </p:txBody>
      </p:sp>
      <p:sp>
        <p:nvSpPr>
          <p:cNvPr id="34" name="TextBox 33"/>
          <p:cNvSpPr txBox="1"/>
          <p:nvPr/>
        </p:nvSpPr>
        <p:spPr>
          <a:xfrm>
            <a:off x="2907792" y="2825496"/>
            <a:ext cx="768096" cy="2862072"/>
          </a:xfrm>
          <a:prstGeom prst="rect">
            <a:avLst/>
          </a:prstGeom>
          <a:noFill/>
        </p:spPr>
        <p:txBody>
          <a:bodyPr wrap="square" lIns="0" rIns="0" tIns="0" bIns="0" anchor="t">
            <a:spAutoFit/>
          </a:bodyPr>
          <a:lstStyle/>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Market data vendors</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Exchanges and index providers</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Custodians and administrators</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Internal trading and accounting systems</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Client and counterparty records</a:t>
            </a:r>
          </a:p>
        </p:txBody>
      </p:sp>
      <p:sp>
        <p:nvSpPr>
          <p:cNvPr id="35" name="Right Arrow 34"/>
          <p:cNvSpPr/>
          <p:nvPr/>
        </p:nvSpPr>
        <p:spPr>
          <a:xfrm>
            <a:off x="3813048" y="3973068"/>
            <a:ext cx="182879" cy="182879"/>
          </a:xfrm>
          <a:prstGeom prst="rightArrow">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14216" y="2404872"/>
            <a:ext cx="1097280" cy="3355848"/>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87368" y="2404872"/>
            <a:ext cx="950976" cy="310896"/>
          </a:xfrm>
          <a:prstGeom prst="rect">
            <a:avLst/>
          </a:prstGeom>
          <a:noFill/>
        </p:spPr>
        <p:txBody>
          <a:bodyPr wrap="square" lIns="0" rIns="0" tIns="0" bIns="0" anchor="ctr">
            <a:spAutoFit/>
          </a:bodyPr>
          <a:lstStyle/>
          <a:p>
            <a:pPr algn="ctr" marL="0" indent="0">
              <a:lnSpc>
                <a:spcPct val="100000"/>
              </a:lnSpc>
              <a:spcBef>
                <a:spcPts val="0"/>
              </a:spcBef>
              <a:spcAft>
                <a:spcPts val="0"/>
              </a:spcAft>
              <a:buNone/>
            </a:pPr>
            <a:r>
              <a:rPr sz="750" b="1" i="0">
                <a:solidFill>
                  <a:srgbClr val="FFFFFF"/>
                </a:solidFill>
                <a:latin typeface="Segoe UI Semibold"/>
              </a:rPr>
              <a:t>CONNECT</a:t>
            </a:r>
          </a:p>
        </p:txBody>
      </p:sp>
      <p:sp>
        <p:nvSpPr>
          <p:cNvPr id="38" name="TextBox 37"/>
          <p:cNvSpPr txBox="1"/>
          <p:nvPr/>
        </p:nvSpPr>
        <p:spPr>
          <a:xfrm>
            <a:off x="4133088" y="2825496"/>
            <a:ext cx="859536" cy="2862072"/>
          </a:xfrm>
          <a:prstGeom prst="rect">
            <a:avLst/>
          </a:prstGeom>
          <a:noFill/>
        </p:spPr>
        <p:txBody>
          <a:bodyPr wrap="square" lIns="0" rIns="0" tIns="0" bIns="0" anchor="t">
            <a:spAutoFit/>
          </a:bodyPr>
          <a:lstStyle/>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Connections and Adaptors</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100+ pre-built vendor feeds</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Validation and exception rules</a:t>
            </a:r>
          </a:p>
        </p:txBody>
      </p:sp>
      <p:sp>
        <p:nvSpPr>
          <p:cNvPr id="39" name="Rectangle 38"/>
          <p:cNvSpPr/>
          <p:nvPr/>
        </p:nvSpPr>
        <p:spPr>
          <a:xfrm>
            <a:off x="5111496" y="2404872"/>
            <a:ext cx="1463040" cy="3355848"/>
          </a:xfrm>
          <a:prstGeom prst="rect">
            <a:avLst/>
          </a:prstGeom>
          <a:solidFill>
            <a:srgbClr val="1C4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84648" y="2404872"/>
            <a:ext cx="1316736" cy="310896"/>
          </a:xfrm>
          <a:prstGeom prst="rect">
            <a:avLst/>
          </a:prstGeom>
          <a:noFill/>
        </p:spPr>
        <p:txBody>
          <a:bodyPr wrap="square" lIns="0" rIns="0" tIns="0" bIns="0" anchor="ctr">
            <a:spAutoFit/>
          </a:bodyPr>
          <a:lstStyle/>
          <a:p>
            <a:pPr algn="ctr" marL="0" indent="0">
              <a:lnSpc>
                <a:spcPct val="100000"/>
              </a:lnSpc>
              <a:spcBef>
                <a:spcPts val="0"/>
              </a:spcBef>
              <a:spcAft>
                <a:spcPts val="0"/>
              </a:spcAft>
              <a:buNone/>
            </a:pPr>
            <a:r>
              <a:rPr sz="750" b="1" i="0">
                <a:solidFill>
                  <a:srgbClr val="FFFFFF"/>
                </a:solidFill>
                <a:latin typeface="Segoe UI Semibold"/>
              </a:rPr>
              <a:t>MASTER AND GOVERN</a:t>
            </a:r>
          </a:p>
        </p:txBody>
      </p:sp>
      <p:sp>
        <p:nvSpPr>
          <p:cNvPr id="41" name="TextBox 40"/>
          <p:cNvSpPr txBox="1"/>
          <p:nvPr/>
        </p:nvSpPr>
        <p:spPr>
          <a:xfrm>
            <a:off x="5230368" y="2825496"/>
            <a:ext cx="1225296" cy="2862072"/>
          </a:xfrm>
          <a:prstGeom prst="rect">
            <a:avLst/>
          </a:prstGeom>
          <a:noFill/>
        </p:spPr>
        <p:txBody>
          <a:bodyPr wrap="square" lIns="0" rIns="0" tIns="0" bIns="0" anchor="t">
            <a:spAutoFit/>
          </a:bodyPr>
          <a:lstStyle/>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Securities Master</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Entity and Customer Master</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Price Master and valuations</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Corporate actions</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ESG Impact Plus</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Lineage, audit and entitlements</a:t>
            </a:r>
          </a:p>
        </p:txBody>
      </p:sp>
      <p:sp>
        <p:nvSpPr>
          <p:cNvPr id="42" name="Rectangle 41"/>
          <p:cNvSpPr/>
          <p:nvPr/>
        </p:nvSpPr>
        <p:spPr>
          <a:xfrm>
            <a:off x="6574536" y="2404872"/>
            <a:ext cx="1097280" cy="3355848"/>
          </a:xfrm>
          <a:prstGeom prst="rect">
            <a:avLst/>
          </a:prstGeom>
          <a:solidFill>
            <a:srgbClr val="386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47688" y="2404872"/>
            <a:ext cx="950976" cy="310896"/>
          </a:xfrm>
          <a:prstGeom prst="rect">
            <a:avLst/>
          </a:prstGeom>
          <a:noFill/>
        </p:spPr>
        <p:txBody>
          <a:bodyPr wrap="square" lIns="0" rIns="0" tIns="0" bIns="0" anchor="ctr">
            <a:spAutoFit/>
          </a:bodyPr>
          <a:lstStyle/>
          <a:p>
            <a:pPr algn="ctr" marL="0" indent="0">
              <a:lnSpc>
                <a:spcPct val="100000"/>
              </a:lnSpc>
              <a:spcBef>
                <a:spcPts val="0"/>
              </a:spcBef>
              <a:spcAft>
                <a:spcPts val="0"/>
              </a:spcAft>
              <a:buNone/>
            </a:pPr>
            <a:r>
              <a:rPr sz="750" b="1" i="0">
                <a:solidFill>
                  <a:srgbClr val="FFFFFF"/>
                </a:solidFill>
                <a:latin typeface="Segoe UI Semibold"/>
              </a:rPr>
              <a:t>DISTRIBUTE</a:t>
            </a:r>
          </a:p>
        </p:txBody>
      </p:sp>
      <p:sp>
        <p:nvSpPr>
          <p:cNvPr id="44" name="TextBox 43"/>
          <p:cNvSpPr txBox="1"/>
          <p:nvPr/>
        </p:nvSpPr>
        <p:spPr>
          <a:xfrm>
            <a:off x="6693408" y="2825496"/>
            <a:ext cx="859536" cy="2862072"/>
          </a:xfrm>
          <a:prstGeom prst="rect">
            <a:avLst/>
          </a:prstGeom>
          <a:noFill/>
        </p:spPr>
        <p:txBody>
          <a:bodyPr wrap="square" lIns="0" rIns="0" tIns="0" bIns="0" anchor="t">
            <a:spAutoFit/>
          </a:bodyPr>
          <a:lstStyle/>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Data Warehouse</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OMNI into Snowflake</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Real-time IBOR</a:t>
            </a:r>
          </a:p>
          <a:p>
            <a:pPr algn="l" marL="105156" indent="-105156">
              <a:lnSpc>
                <a:spcPct val="108000"/>
              </a:lnSpc>
              <a:spcBef>
                <a:spcPts val="0"/>
              </a:spcBef>
              <a:spcAft>
                <a:spcPts val="350"/>
              </a:spcAft>
              <a:buClr>
                <a:srgbClr val="FFFFFF"/>
              </a:buClr>
              <a:buSzPct val="90000"/>
              <a:buFont typeface="Arial"/>
              <a:buChar char="▪"/>
            </a:pPr>
            <a:r>
              <a:rPr sz="700" b="0" i="0">
                <a:solidFill>
                  <a:srgbClr val="FFFFFF"/>
                </a:solidFill>
                <a:latin typeface="Segoe UI"/>
              </a:rPr>
              <a:t>APIs and downstream feeds</a:t>
            </a:r>
          </a:p>
        </p:txBody>
      </p:sp>
      <p:sp>
        <p:nvSpPr>
          <p:cNvPr id="45" name="Right Arrow 44"/>
          <p:cNvSpPr/>
          <p:nvPr/>
        </p:nvSpPr>
        <p:spPr>
          <a:xfrm>
            <a:off x="7690104" y="3973068"/>
            <a:ext cx="182879" cy="182879"/>
          </a:xfrm>
          <a:prstGeom prst="rightArrow">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891272" y="2404872"/>
            <a:ext cx="932688" cy="3355848"/>
          </a:xfrm>
          <a:prstGeom prst="rect">
            <a:avLst/>
          </a:prstGeom>
          <a:noFill/>
          <a:ln w="9525">
            <a:solidFill>
              <a:srgbClr val="BCB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91272" y="2404872"/>
            <a:ext cx="932688" cy="31089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64424" y="2404872"/>
            <a:ext cx="786384" cy="310896"/>
          </a:xfrm>
          <a:prstGeom prst="rect">
            <a:avLst/>
          </a:prstGeom>
          <a:noFill/>
        </p:spPr>
        <p:txBody>
          <a:bodyPr wrap="square" lIns="0" rIns="0" tIns="0" bIns="0" anchor="ctr">
            <a:spAutoFit/>
          </a:bodyPr>
          <a:lstStyle/>
          <a:p>
            <a:pPr algn="ctr" marL="0" indent="0">
              <a:lnSpc>
                <a:spcPct val="100000"/>
              </a:lnSpc>
              <a:spcBef>
                <a:spcPts val="0"/>
              </a:spcBef>
              <a:spcAft>
                <a:spcPts val="0"/>
              </a:spcAft>
              <a:buNone/>
            </a:pPr>
            <a:r>
              <a:rPr sz="750" b="1" i="0">
                <a:solidFill>
                  <a:srgbClr val="002855"/>
                </a:solidFill>
                <a:latin typeface="Segoe UI Semibold"/>
              </a:rPr>
              <a:t>CONSUMERS</a:t>
            </a:r>
          </a:p>
        </p:txBody>
      </p:sp>
      <p:sp>
        <p:nvSpPr>
          <p:cNvPr id="49" name="TextBox 48"/>
          <p:cNvSpPr txBox="1"/>
          <p:nvPr/>
        </p:nvSpPr>
        <p:spPr>
          <a:xfrm>
            <a:off x="8010144" y="2825496"/>
            <a:ext cx="694944" cy="2862072"/>
          </a:xfrm>
          <a:prstGeom prst="rect">
            <a:avLst/>
          </a:prstGeom>
          <a:noFill/>
        </p:spPr>
        <p:txBody>
          <a:bodyPr wrap="square" lIns="0" rIns="0" tIns="0" bIns="0" anchor="t">
            <a:spAutoFit/>
          </a:bodyPr>
          <a:lstStyle/>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Trading and order management</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Risk and capital</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Regulatory reporting</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Client and fund reporting</a:t>
            </a:r>
          </a:p>
          <a:p>
            <a:pPr algn="l" marL="105156" indent="-105156">
              <a:lnSpc>
                <a:spcPct val="108000"/>
              </a:lnSpc>
              <a:spcBef>
                <a:spcPts val="0"/>
              </a:spcBef>
              <a:spcAft>
                <a:spcPts val="350"/>
              </a:spcAft>
              <a:buClr>
                <a:srgbClr val="508BC9"/>
              </a:buClr>
              <a:buSzPct val="90000"/>
              <a:buFont typeface="Arial"/>
              <a:buChar char="▪"/>
            </a:pPr>
            <a:r>
              <a:rPr sz="700" b="0" i="0">
                <a:solidFill>
                  <a:srgbClr val="525766"/>
                </a:solidFill>
                <a:latin typeface="Segoe UI"/>
              </a:rPr>
              <a:t>Analytics and AI models</a:t>
            </a:r>
          </a:p>
        </p:txBody>
      </p:sp>
      <p:sp>
        <p:nvSpPr>
          <p:cNvPr id="50" name="Rectangle 49"/>
          <p:cNvSpPr/>
          <p:nvPr/>
        </p:nvSpPr>
        <p:spPr>
          <a:xfrm>
            <a:off x="4014216" y="5870448"/>
            <a:ext cx="3657600" cy="10058"/>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014216" y="5907024"/>
            <a:ext cx="3657600" cy="164592"/>
          </a:xfrm>
          <a:prstGeom prst="rect">
            <a:avLst/>
          </a:prstGeom>
          <a:noFill/>
        </p:spPr>
        <p:txBody>
          <a:bodyPr wrap="square" lIns="0" rIns="0" tIns="0" bIns="0" anchor="t">
            <a:spAutoFit/>
          </a:bodyPr>
          <a:lstStyle/>
          <a:p>
            <a:pPr algn="ctr" marL="0" indent="0">
              <a:lnSpc>
                <a:spcPct val="102000"/>
              </a:lnSpc>
              <a:spcBef>
                <a:spcPts val="0"/>
              </a:spcBef>
              <a:spcAft>
                <a:spcPts val="0"/>
              </a:spcAft>
              <a:buNone/>
            </a:pPr>
            <a:r>
              <a:rPr sz="750" b="1" i="0">
                <a:solidFill>
                  <a:srgbClr val="002855"/>
                </a:solidFill>
                <a:latin typeface="Segoe UI Semibold"/>
              </a:rPr>
              <a:t>GOLDENSOURCE PLATFORM</a:t>
            </a:r>
          </a:p>
        </p:txBody>
      </p:sp>
      <p:sp>
        <p:nvSpPr>
          <p:cNvPr id="52" name="TextBox 51"/>
          <p:cNvSpPr txBox="1"/>
          <p:nvPr/>
        </p:nvSpPr>
        <p:spPr>
          <a:xfrm>
            <a:off x="320040" y="6108192"/>
            <a:ext cx="8503920" cy="219456"/>
          </a:xfrm>
          <a:prstGeom prst="rect">
            <a:avLst/>
          </a:prstGeom>
          <a:noFill/>
        </p:spPr>
        <p:txBody>
          <a:bodyPr wrap="square" lIns="0" rIns="0" tIns="0" bIns="0" anchor="t">
            <a:spAutoFit/>
          </a:bodyPr>
          <a:lstStyle/>
          <a:p>
            <a:pPr algn="l" marL="0" indent="0">
              <a:lnSpc>
                <a:spcPct val="105000"/>
              </a:lnSpc>
              <a:spcBef>
                <a:spcPts val="0"/>
              </a:spcBef>
              <a:spcAft>
                <a:spcPts val="0"/>
              </a:spcAft>
              <a:buNone/>
            </a:pPr>
            <a:r>
              <a:rPr sz="750" b="0" i="0">
                <a:solidFill>
                  <a:srgbClr val="525766"/>
                </a:solidFill>
                <a:latin typeface="Segoe UI"/>
              </a:rPr>
              <a:t>Deployed as SaaS on AWS, Azure or GCP, inside the client’s own Snowflake account via OMNI, or on-premise. Modules are separately licensable; three are listed standalone on AWS Marketplace.</a:t>
            </a:r>
          </a:p>
        </p:txBody>
      </p:sp>
      <p:sp>
        <p:nvSpPr>
          <p:cNvPr id="53" name="TextBox 52"/>
          <p:cNvSpPr txBox="1"/>
          <p:nvPr/>
        </p:nvSpPr>
        <p:spPr>
          <a:xfrm>
            <a:off x="1874519" y="6492240"/>
            <a:ext cx="7040880" cy="34747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0" i="1">
                <a:solidFill>
                  <a:srgbClr val="7E8597"/>
                </a:solidFill>
                <a:latin typeface="Segoe UI"/>
              </a:rPr>
              <a:t>Sources: GoldenSource product documentation and press releases; Snowflake and AWS Marketplace listings; A-Team Insight; WatersTechnology.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none"/>
          <a:lstStyle/>
          <a:p>
            <a:r>
              <a:rPr sz="1800" b="1">
                <a:solidFill>
                  <a:srgbClr val="002855"/>
                </a:solidFill>
                <a:latin typeface="Segoe UI Semibold"/>
              </a:rPr>
              <a:t>GoldenSource</a:t>
            </a:r>
          </a:p>
        </p:txBody>
      </p:sp>
      <p:sp>
        <p:nvSpPr>
          <p:cNvPr id="3" name="TextBox 2"/>
          <p:cNvSpPr txBox="1"/>
          <p:nvPr/>
        </p:nvSpPr>
        <p:spPr>
          <a:xfrm>
            <a:off x="4206240" y="365760"/>
            <a:ext cx="4709160" cy="274320"/>
          </a:xfrm>
          <a:prstGeom prst="rect">
            <a:avLst/>
          </a:prstGeom>
          <a:noFill/>
        </p:spPr>
        <p:txBody>
          <a:bodyPr wrap="square" lIns="0" rIns="0" tIns="0" bIns="0" anchor="b">
            <a:spAutoFit/>
          </a:bodyPr>
          <a:lstStyle/>
          <a:p>
            <a:pPr algn="r" marL="0" indent="0">
              <a:lnSpc>
                <a:spcPct val="102000"/>
              </a:lnSpc>
              <a:spcBef>
                <a:spcPts val="0"/>
              </a:spcBef>
              <a:spcAft>
                <a:spcPts val="0"/>
              </a:spcAft>
              <a:buNone/>
            </a:pPr>
            <a:r>
              <a:rPr sz="850" b="0" i="1">
                <a:solidFill>
                  <a:srgbClr val="7E8597"/>
                </a:solidFill>
                <a:latin typeface="Segoe UI"/>
              </a:rPr>
              <a:t>Market Position and Coverage Angle  |  July 2026</a:t>
            </a:r>
          </a:p>
        </p:txBody>
      </p:sp>
      <p:sp>
        <p:nvSpPr>
          <p:cNvPr id="4" name="Rectangle 3"/>
          <p:cNvSpPr/>
          <p:nvPr/>
        </p:nvSpPr>
        <p:spPr>
          <a:xfrm>
            <a:off x="228600" y="822960"/>
            <a:ext cx="8686800" cy="530352"/>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 y="822960"/>
            <a:ext cx="8430768" cy="530352"/>
          </a:xfrm>
          <a:prstGeom prst="rect">
            <a:avLst/>
          </a:prstGeom>
          <a:noFill/>
        </p:spPr>
        <p:txBody>
          <a:bodyPr wrap="square" lIns="0" rIns="0" tIns="0" bIns="0" anchor="ctr">
            <a:spAutoFit/>
          </a:bodyPr>
          <a:lstStyle/>
          <a:p>
            <a:pPr algn="l" marL="0" indent="0">
              <a:lnSpc>
                <a:spcPct val="106000"/>
              </a:lnSpc>
              <a:spcBef>
                <a:spcPts val="0"/>
              </a:spcBef>
              <a:spcAft>
                <a:spcPts val="0"/>
              </a:spcAft>
              <a:buNone/>
            </a:pPr>
            <a:r>
              <a:rPr sz="950" b="1" i="0">
                <a:solidFill>
                  <a:srgbClr val="FFFFFF"/>
                </a:solidFill>
                <a:latin typeface="Segoe UI Semibold"/>
              </a:rPr>
              <a:t>Six of the category’s scaled independents have changed hands since 2022, most recently S&amp;P Global’s EDM business to STG in January 2026. GoldenSource is one of three that is neither strategic-owned nor tied to a front-to-back platform.</a:t>
            </a:r>
          </a:p>
        </p:txBody>
      </p:sp>
      <p:sp>
        <p:nvSpPr>
          <p:cNvPr id="6" name="Rectangle 5"/>
          <p:cNvSpPr/>
          <p:nvPr/>
        </p:nvSpPr>
        <p:spPr>
          <a:xfrm>
            <a:off x="228600" y="1426464"/>
            <a:ext cx="49834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26464"/>
            <a:ext cx="48006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COMPETITIVE LANDSCAPE</a:t>
            </a:r>
          </a:p>
        </p:txBody>
      </p:sp>
      <p:sp>
        <p:nvSpPr>
          <p:cNvPr id="8" name="Rectangle 7"/>
          <p:cNvSpPr/>
          <p:nvPr/>
        </p:nvSpPr>
        <p:spPr>
          <a:xfrm>
            <a:off x="2820924" y="1737360"/>
            <a:ext cx="2391156" cy="850391"/>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03220" y="1819656"/>
            <a:ext cx="2226564" cy="182880"/>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1" i="0">
                <a:solidFill>
                  <a:srgbClr val="002855"/>
                </a:solidFill>
                <a:latin typeface="Segoe UI Semibold"/>
              </a:rPr>
              <a:t>INDEPENDENT ENTERPRISE MASTERS</a:t>
            </a:r>
          </a:p>
        </p:txBody>
      </p:sp>
      <p:sp>
        <p:nvSpPr>
          <p:cNvPr id="10" name="TextBox 9"/>
          <p:cNvSpPr txBox="1"/>
          <p:nvPr/>
        </p:nvSpPr>
        <p:spPr>
          <a:xfrm>
            <a:off x="2903220" y="2020824"/>
            <a:ext cx="2226564" cy="484631"/>
          </a:xfrm>
          <a:prstGeom prst="rect">
            <a:avLst/>
          </a:prstGeom>
          <a:noFill/>
        </p:spPr>
        <p:txBody>
          <a:bodyPr wrap="square" lIns="0" rIns="0" tIns="0" bIns="0" anchor="t">
            <a:spAutoFit/>
          </a:bodyPr>
          <a:lstStyle/>
          <a:p>
            <a:pPr algn="l" marL="0" indent="0">
              <a:lnSpc>
                <a:spcPct val="112000"/>
              </a:lnSpc>
              <a:spcBef>
                <a:spcPts val="0"/>
              </a:spcBef>
              <a:spcAft>
                <a:spcPts val="0"/>
              </a:spcAft>
              <a:buNone/>
            </a:pPr>
            <a:r>
              <a:rPr sz="700" b="1" i="0">
                <a:solidFill>
                  <a:srgbClr val="24B1B1"/>
                </a:solidFill>
                <a:latin typeface="Segoe UI Semibold"/>
              </a:rPr>
              <a:t>GoldenSource</a:t>
            </a:r>
            <a:r>
              <a:rPr sz="700" b="0" i="0">
                <a:solidFill>
                  <a:srgbClr val="525766"/>
                </a:solidFill>
                <a:latin typeface="Segoe UI"/>
              </a:rPr>
              <a:t>, Gresham (STG), NeoXam (Eurazeo). Cross-asset mastering sold on its own merits, not as a hook into proprietary data or an execution platform.</a:t>
            </a:r>
          </a:p>
        </p:txBody>
      </p:sp>
      <p:sp>
        <p:nvSpPr>
          <p:cNvPr id="11" name="TextBox 10"/>
          <p:cNvSpPr txBox="1"/>
          <p:nvPr/>
        </p:nvSpPr>
        <p:spPr>
          <a:xfrm>
            <a:off x="2903220" y="2670048"/>
            <a:ext cx="2226564" cy="182880"/>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1" i="0">
                <a:solidFill>
                  <a:srgbClr val="002855"/>
                </a:solidFill>
                <a:latin typeface="Segoe UI Semibold"/>
              </a:rPr>
              <a:t>PLATFORM-TIED AND CAPTIVE SUITES</a:t>
            </a:r>
          </a:p>
        </p:txBody>
      </p:sp>
      <p:sp>
        <p:nvSpPr>
          <p:cNvPr id="12" name="TextBox 11"/>
          <p:cNvSpPr txBox="1"/>
          <p:nvPr/>
        </p:nvSpPr>
        <p:spPr>
          <a:xfrm>
            <a:off x="2903220" y="2871216"/>
            <a:ext cx="2226564" cy="484631"/>
          </a:xfrm>
          <a:prstGeom prst="rect">
            <a:avLst/>
          </a:prstGeom>
          <a:noFill/>
        </p:spPr>
        <p:txBody>
          <a:bodyPr wrap="square" lIns="0" rIns="0" tIns="0" bIns="0" anchor="t">
            <a:spAutoFit/>
          </a:bodyPr>
          <a:lstStyle/>
          <a:p>
            <a:pPr algn="l" marL="0" indent="0">
              <a:lnSpc>
                <a:spcPct val="112000"/>
              </a:lnSpc>
              <a:spcBef>
                <a:spcPts val="0"/>
              </a:spcBef>
              <a:spcAft>
                <a:spcPts val="0"/>
              </a:spcAft>
              <a:buNone/>
            </a:pPr>
            <a:r>
              <a:rPr sz="700" b="0" i="0">
                <a:solidFill>
                  <a:srgbClr val="525766"/>
                </a:solidFill>
                <a:latin typeface="Segoe UI"/>
              </a:rPr>
              <a:t>Bloomberg, S&amp;P Global, FactSet, LSEG, SimCorp (Deutsche Börse), Clearwater. Broad coverage, but the data model serves the owner’s feed or front-to-back stack.</a:t>
            </a:r>
          </a:p>
        </p:txBody>
      </p:sp>
      <p:sp>
        <p:nvSpPr>
          <p:cNvPr id="13" name="TextBox 12"/>
          <p:cNvSpPr txBox="1"/>
          <p:nvPr/>
        </p:nvSpPr>
        <p:spPr>
          <a:xfrm>
            <a:off x="512063" y="1819656"/>
            <a:ext cx="2226564" cy="182880"/>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1" i="0">
                <a:solidFill>
                  <a:srgbClr val="002855"/>
                </a:solidFill>
                <a:latin typeface="Segoe UI Semibold"/>
              </a:rPr>
              <a:t>POINT TOOLS AND INFRASTRUCTURE</a:t>
            </a:r>
          </a:p>
        </p:txBody>
      </p:sp>
      <p:sp>
        <p:nvSpPr>
          <p:cNvPr id="14" name="TextBox 13"/>
          <p:cNvSpPr txBox="1"/>
          <p:nvPr/>
        </p:nvSpPr>
        <p:spPr>
          <a:xfrm>
            <a:off x="512063" y="2020824"/>
            <a:ext cx="2226564" cy="484631"/>
          </a:xfrm>
          <a:prstGeom prst="rect">
            <a:avLst/>
          </a:prstGeom>
          <a:noFill/>
        </p:spPr>
        <p:txBody>
          <a:bodyPr wrap="square" lIns="0" rIns="0" tIns="0" bIns="0" anchor="t">
            <a:spAutoFit/>
          </a:bodyPr>
          <a:lstStyle/>
          <a:p>
            <a:pPr algn="l" marL="0" indent="0">
              <a:lnSpc>
                <a:spcPct val="112000"/>
              </a:lnSpc>
              <a:spcBef>
                <a:spcPts val="0"/>
              </a:spcBef>
              <a:spcAft>
                <a:spcPts val="0"/>
              </a:spcAft>
              <a:buNone/>
            </a:pPr>
            <a:r>
              <a:rPr sz="700" b="0" i="0">
                <a:solidFill>
                  <a:srgbClr val="525766"/>
                </a:solidFill>
                <a:latin typeface="Segoe UI"/>
              </a:rPr>
              <a:t>Snowflake, Databricks, Duco, Solidatus, Xceptor, Rimes. Neutral and increasingly capable, but each solves one slice; mastering is left to the client.</a:t>
            </a:r>
          </a:p>
        </p:txBody>
      </p:sp>
      <p:sp>
        <p:nvSpPr>
          <p:cNvPr id="15" name="TextBox 14"/>
          <p:cNvSpPr txBox="1"/>
          <p:nvPr/>
        </p:nvSpPr>
        <p:spPr>
          <a:xfrm>
            <a:off x="512063" y="2670048"/>
            <a:ext cx="2226564" cy="182880"/>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1" i="0">
                <a:solidFill>
                  <a:srgbClr val="002855"/>
                </a:solidFill>
                <a:latin typeface="Segoe UI Semibold"/>
              </a:rPr>
              <a:t>SINGLE-SOURCE FEEDS</a:t>
            </a:r>
          </a:p>
        </p:txBody>
      </p:sp>
      <p:sp>
        <p:nvSpPr>
          <p:cNvPr id="16" name="TextBox 15"/>
          <p:cNvSpPr txBox="1"/>
          <p:nvPr/>
        </p:nvSpPr>
        <p:spPr>
          <a:xfrm>
            <a:off x="512063" y="2871216"/>
            <a:ext cx="2226564" cy="484631"/>
          </a:xfrm>
          <a:prstGeom prst="rect">
            <a:avLst/>
          </a:prstGeom>
          <a:noFill/>
        </p:spPr>
        <p:txBody>
          <a:bodyPr wrap="square" lIns="0" rIns="0" tIns="0" bIns="0" anchor="t">
            <a:spAutoFit/>
          </a:bodyPr>
          <a:lstStyle/>
          <a:p>
            <a:pPr algn="l" marL="0" indent="0">
              <a:lnSpc>
                <a:spcPct val="112000"/>
              </a:lnSpc>
              <a:spcBef>
                <a:spcPts val="0"/>
              </a:spcBef>
              <a:spcAft>
                <a:spcPts val="0"/>
              </a:spcAft>
              <a:buNone/>
            </a:pPr>
            <a:r>
              <a:rPr sz="700" b="0" i="0">
                <a:solidFill>
                  <a:srgbClr val="525766"/>
                </a:solidFill>
                <a:latin typeface="Segoe UI"/>
              </a:rPr>
              <a:t>Vendor-native reference data delivery and in-house builds on one provider. Cheapest to start, hardest to reconcile once a second source arrives.</a:t>
            </a:r>
          </a:p>
        </p:txBody>
      </p:sp>
      <p:sp>
        <p:nvSpPr>
          <p:cNvPr id="17" name="Rectangle 16"/>
          <p:cNvSpPr/>
          <p:nvPr/>
        </p:nvSpPr>
        <p:spPr>
          <a:xfrm>
            <a:off x="429768" y="2587752"/>
            <a:ext cx="4782312" cy="7315"/>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0924" y="1737360"/>
            <a:ext cx="7315" cy="1700783"/>
          </a:xfrm>
          <a:prstGeom prst="rect">
            <a:avLst/>
          </a:prstGeom>
          <a:solidFill>
            <a:srgbClr val="BCB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 y="1737360"/>
            <a:ext cx="4782312" cy="1700783"/>
          </a:xfrm>
          <a:prstGeom prst="rect">
            <a:avLst/>
          </a:prstGeom>
          <a:noFill/>
          <a:ln w="9525">
            <a:solidFill>
              <a:srgbClr val="BCB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 y="3474720"/>
            <a:ext cx="4782312" cy="146304"/>
          </a:xfrm>
          <a:prstGeom prst="rect">
            <a:avLst/>
          </a:prstGeom>
          <a:noFill/>
        </p:spPr>
        <p:txBody>
          <a:bodyPr wrap="square" lIns="0" rIns="0" tIns="0" bIns="0" anchor="t">
            <a:spAutoFit/>
          </a:bodyPr>
          <a:lstStyle/>
          <a:p>
            <a:pPr algn="ctr" marL="0" indent="0">
              <a:lnSpc>
                <a:spcPct val="102000"/>
              </a:lnSpc>
              <a:spcBef>
                <a:spcPts val="0"/>
              </a:spcBef>
              <a:spcAft>
                <a:spcPts val="0"/>
              </a:spcAft>
              <a:buNone/>
            </a:pPr>
            <a:r>
              <a:rPr sz="700" b="1" i="0">
                <a:solidFill>
                  <a:srgbClr val="7E8597"/>
                </a:solidFill>
                <a:latin typeface="Segoe UI Semibold"/>
              </a:rPr>
              <a:t>Breadth of mastered data (narrow to cross-asset)</a:t>
            </a:r>
          </a:p>
        </p:txBody>
      </p:sp>
      <p:sp>
        <p:nvSpPr>
          <p:cNvPr id="21" name="TextBox 20"/>
          <p:cNvSpPr txBox="1"/>
          <p:nvPr/>
        </p:nvSpPr>
        <p:spPr>
          <a:xfrm rot="16200000">
            <a:off x="-521207" y="2496312"/>
            <a:ext cx="1700783" cy="182880"/>
          </a:xfrm>
          <a:prstGeom prst="rect">
            <a:avLst/>
          </a:prstGeom>
          <a:noFill/>
        </p:spPr>
        <p:txBody>
          <a:bodyPr wrap="square" lIns="0" rIns="0" tIns="0" bIns="0" anchor="ctr">
            <a:spAutoFit/>
          </a:bodyPr>
          <a:lstStyle/>
          <a:p>
            <a:pPr algn="ctr" marL="0" indent="0">
              <a:lnSpc>
                <a:spcPct val="102000"/>
              </a:lnSpc>
              <a:spcBef>
                <a:spcPts val="0"/>
              </a:spcBef>
              <a:spcAft>
                <a:spcPts val="0"/>
              </a:spcAft>
              <a:buNone/>
            </a:pPr>
            <a:r>
              <a:rPr sz="700" b="1" i="0">
                <a:solidFill>
                  <a:srgbClr val="7E8597"/>
                </a:solidFill>
                <a:latin typeface="Segoe UI Semibold"/>
              </a:rPr>
              <a:t>Vendor neutrality (low to high)</a:t>
            </a:r>
          </a:p>
        </p:txBody>
      </p:sp>
      <p:sp>
        <p:nvSpPr>
          <p:cNvPr id="22" name="Rectangle 21"/>
          <p:cNvSpPr/>
          <p:nvPr/>
        </p:nvSpPr>
        <p:spPr>
          <a:xfrm>
            <a:off x="5303520" y="1426464"/>
            <a:ext cx="36118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59" y="1426464"/>
            <a:ext cx="34290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DEMAND DRIVERS</a:t>
            </a:r>
          </a:p>
        </p:txBody>
      </p:sp>
      <p:sp>
        <p:nvSpPr>
          <p:cNvPr id="24" name="TextBox 23"/>
          <p:cNvSpPr txBox="1"/>
          <p:nvPr/>
        </p:nvSpPr>
        <p:spPr>
          <a:xfrm>
            <a:off x="5321808" y="1737360"/>
            <a:ext cx="3575304" cy="1883663"/>
          </a:xfrm>
          <a:prstGeom prst="rect">
            <a:avLst/>
          </a:prstGeom>
          <a:noFill/>
        </p:spPr>
        <p:txBody>
          <a:bodyPr wrap="square" lIns="0" rIns="0" tIns="0" bIns="0" anchor="t">
            <a:spAutoFit/>
          </a:bodyPr>
          <a:lstStyle/>
          <a:p>
            <a:pPr algn="l" marL="105156" indent="-105156">
              <a:lnSpc>
                <a:spcPct val="102000"/>
              </a:lnSpc>
              <a:spcBef>
                <a:spcPts val="0"/>
              </a:spcBef>
              <a:spcAft>
                <a:spcPts val="350"/>
              </a:spcAft>
              <a:buClr>
                <a:srgbClr val="508BC9"/>
              </a:buClr>
              <a:buSzPct val="90000"/>
              <a:buFont typeface="Arial"/>
              <a:buChar char="▪"/>
            </a:pPr>
            <a:r>
              <a:rPr sz="750" b="1" i="0">
                <a:solidFill>
                  <a:srgbClr val="002855"/>
                </a:solidFill>
                <a:latin typeface="Segoe UI Semibold"/>
              </a:rPr>
              <a:t>Data quality now gates AI. </a:t>
            </a:r>
            <a:r>
              <a:rPr sz="750" b="0" i="0">
                <a:solidFill>
                  <a:srgbClr val="525766"/>
                </a:solidFill>
                <a:latin typeface="Segoe UI"/>
              </a:rPr>
              <a:t>InvestOps 2026 found 98% of firms concerned that poor data drives incorrect AI insights, moving governance from an operations budget to a board line item.</a:t>
            </a:r>
          </a:p>
          <a:p>
            <a:pPr algn="l" marL="105156" indent="-105156">
              <a:lnSpc>
                <a:spcPct val="102000"/>
              </a:lnSpc>
              <a:spcBef>
                <a:spcPts val="0"/>
              </a:spcBef>
              <a:spcAft>
                <a:spcPts val="350"/>
              </a:spcAft>
              <a:buClr>
                <a:srgbClr val="508BC9"/>
              </a:buClr>
              <a:buSzPct val="90000"/>
              <a:buFont typeface="Arial"/>
              <a:buChar char="▪"/>
            </a:pPr>
            <a:r>
              <a:rPr sz="750" b="1" i="0">
                <a:solidFill>
                  <a:srgbClr val="002855"/>
                </a:solidFill>
                <a:latin typeface="Segoe UI Semibold"/>
              </a:rPr>
              <a:t>Regulatory and cost pressure. </a:t>
            </a:r>
            <a:r>
              <a:rPr sz="750" b="0" i="0">
                <a:solidFill>
                  <a:srgbClr val="525766"/>
                </a:solidFill>
                <a:latin typeface="Segoe UI"/>
              </a:rPr>
              <a:t>Rising vendor data costs, T+1, and widening entity, counterparty and ESG reporting obligations all reward a single mastered source.</a:t>
            </a:r>
          </a:p>
          <a:p>
            <a:pPr algn="l" marL="105156" indent="-105156">
              <a:lnSpc>
                <a:spcPct val="102000"/>
              </a:lnSpc>
              <a:spcBef>
                <a:spcPts val="0"/>
              </a:spcBef>
              <a:spcAft>
                <a:spcPts val="350"/>
              </a:spcAft>
              <a:buClr>
                <a:srgbClr val="508BC9"/>
              </a:buClr>
              <a:buSzPct val="90000"/>
              <a:buFont typeface="Arial"/>
              <a:buChar char="▪"/>
            </a:pPr>
            <a:r>
              <a:rPr sz="750" b="1" i="0">
                <a:solidFill>
                  <a:srgbClr val="002855"/>
                </a:solidFill>
                <a:latin typeface="Segoe UI Semibold"/>
              </a:rPr>
              <a:t>Cloud re-platforming. </a:t>
            </a:r>
            <a:r>
              <a:rPr sz="750" b="0" i="0">
                <a:solidFill>
                  <a:srgbClr val="525766"/>
                </a:solidFill>
                <a:latin typeface="Segoe UI"/>
              </a:rPr>
              <a:t>Snowflake and Databricks made where the data lives a live decision again, and vendors that ship natively into those environments earn a second look.</a:t>
            </a:r>
          </a:p>
          <a:p>
            <a:pPr algn="l" marL="105156" indent="-105156">
              <a:lnSpc>
                <a:spcPct val="102000"/>
              </a:lnSpc>
              <a:spcBef>
                <a:spcPts val="0"/>
              </a:spcBef>
              <a:spcAft>
                <a:spcPts val="350"/>
              </a:spcAft>
              <a:buClr>
                <a:srgbClr val="508BC9"/>
              </a:buClr>
              <a:buSzPct val="90000"/>
              <a:buFont typeface="Arial"/>
              <a:buChar char="▪"/>
            </a:pPr>
            <a:r>
              <a:rPr sz="750" b="1" i="0">
                <a:solidFill>
                  <a:srgbClr val="002855"/>
                </a:solidFill>
                <a:latin typeface="Segoe UI Semibold"/>
              </a:rPr>
              <a:t>Vendor consolidation. </a:t>
            </a:r>
            <a:r>
              <a:rPr sz="750" b="0" i="0">
                <a:solidFill>
                  <a:srgbClr val="525766"/>
                </a:solidFill>
                <a:latin typeface="Segoe UI"/>
              </a:rPr>
              <a:t>Front-to-back platforms squeeze point solutions but raise the premium on neutral mastering that spans them.</a:t>
            </a:r>
          </a:p>
        </p:txBody>
      </p:sp>
      <p:sp>
        <p:nvSpPr>
          <p:cNvPr id="25" name="Rectangle 24"/>
          <p:cNvSpPr/>
          <p:nvPr/>
        </p:nvSpPr>
        <p:spPr>
          <a:xfrm>
            <a:off x="228600" y="3712463"/>
            <a:ext cx="868680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3712463"/>
            <a:ext cx="850392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SELECTED PRECEDENT TRANSACTIONS</a:t>
            </a:r>
          </a:p>
        </p:txBody>
      </p:sp>
      <p:sp>
        <p:nvSpPr>
          <p:cNvPr id="27" name="Rectangle 26"/>
          <p:cNvSpPr/>
          <p:nvPr/>
        </p:nvSpPr>
        <p:spPr>
          <a:xfrm>
            <a:off x="952499" y="4206240"/>
            <a:ext cx="7239000" cy="10058"/>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779" y="4165091"/>
            <a:ext cx="91440" cy="91440"/>
          </a:xfrm>
          <a:prstGeom prst="ellipse">
            <a:avLst/>
          </a:prstGeom>
          <a:solidFill>
            <a:srgbClr val="24B1B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5176"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24B1B1"/>
                </a:solidFill>
                <a:latin typeface="Segoe UI Semibold"/>
              </a:rPr>
              <a:t>May-22</a:t>
            </a:r>
          </a:p>
        </p:txBody>
      </p:sp>
      <p:sp>
        <p:nvSpPr>
          <p:cNvPr id="30" name="TextBox 29"/>
          <p:cNvSpPr txBox="1"/>
          <p:nvPr/>
        </p:nvSpPr>
        <p:spPr>
          <a:xfrm>
            <a:off x="265176"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24B1B1"/>
                </a:solidFill>
                <a:latin typeface="Segoe UI Semibold"/>
              </a:rPr>
              <a:t>GoldenSource</a:t>
            </a:r>
          </a:p>
          <a:p>
            <a:pPr algn="ctr" marL="0" indent="0">
              <a:lnSpc>
                <a:spcPct val="100000"/>
              </a:lnSpc>
              <a:spcBef>
                <a:spcPts val="0"/>
              </a:spcBef>
              <a:spcAft>
                <a:spcPts val="50"/>
              </a:spcAft>
              <a:buNone/>
            </a:pPr>
            <a:r>
              <a:rPr sz="700" b="0" i="0">
                <a:solidFill>
                  <a:srgbClr val="525766"/>
                </a:solidFill>
                <a:latin typeface="Segoe UI"/>
              </a:rPr>
              <a:t>Gemspring Capital</a:t>
            </a:r>
          </a:p>
          <a:p>
            <a:pPr algn="ctr" marL="0" indent="0">
              <a:lnSpc>
                <a:spcPct val="100000"/>
              </a:lnSpc>
              <a:spcBef>
                <a:spcPts val="0"/>
              </a:spcBef>
              <a:spcAft>
                <a:spcPts val="50"/>
              </a:spcAft>
              <a:buNone/>
            </a:pPr>
            <a:r>
              <a:rPr sz="700" b="0" i="0">
                <a:solidFill>
                  <a:srgbClr val="525766"/>
                </a:solidFill>
                <a:latin typeface="Segoe UI"/>
              </a:rPr>
              <a:t>n.d.</a:t>
            </a:r>
          </a:p>
        </p:txBody>
      </p:sp>
      <p:sp>
        <p:nvSpPr>
          <p:cNvPr id="31" name="Oval 30"/>
          <p:cNvSpPr/>
          <p:nvPr/>
        </p:nvSpPr>
        <p:spPr>
          <a:xfrm>
            <a:off x="2354580" y="4165091"/>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12976"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Apr-23</a:t>
            </a:r>
          </a:p>
        </p:txBody>
      </p:sp>
      <p:sp>
        <p:nvSpPr>
          <p:cNvPr id="33" name="TextBox 32"/>
          <p:cNvSpPr txBox="1"/>
          <p:nvPr/>
        </p:nvSpPr>
        <p:spPr>
          <a:xfrm>
            <a:off x="1712976"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002855"/>
                </a:solidFill>
                <a:latin typeface="Segoe UI Semibold"/>
              </a:rPr>
              <a:t>SimCorp</a:t>
            </a:r>
          </a:p>
          <a:p>
            <a:pPr algn="ctr" marL="0" indent="0">
              <a:lnSpc>
                <a:spcPct val="100000"/>
              </a:lnSpc>
              <a:spcBef>
                <a:spcPts val="0"/>
              </a:spcBef>
              <a:spcAft>
                <a:spcPts val="50"/>
              </a:spcAft>
              <a:buNone/>
            </a:pPr>
            <a:r>
              <a:rPr sz="700" b="0" i="0">
                <a:solidFill>
                  <a:srgbClr val="525766"/>
                </a:solidFill>
                <a:latin typeface="Segoe UI"/>
              </a:rPr>
              <a:t>Deutsche Börse</a:t>
            </a:r>
          </a:p>
          <a:p>
            <a:pPr algn="ctr" marL="0" indent="0">
              <a:lnSpc>
                <a:spcPct val="100000"/>
              </a:lnSpc>
              <a:spcBef>
                <a:spcPts val="0"/>
              </a:spcBef>
              <a:spcAft>
                <a:spcPts val="50"/>
              </a:spcAft>
              <a:buNone/>
            </a:pPr>
            <a:r>
              <a:rPr sz="700" b="0" i="0">
                <a:solidFill>
                  <a:srgbClr val="525766"/>
                </a:solidFill>
                <a:latin typeface="Segoe UI"/>
              </a:rPr>
              <a:t>€3.9B</a:t>
            </a:r>
          </a:p>
        </p:txBody>
      </p:sp>
      <p:sp>
        <p:nvSpPr>
          <p:cNvPr id="34" name="Oval 33"/>
          <p:cNvSpPr/>
          <p:nvPr/>
        </p:nvSpPr>
        <p:spPr>
          <a:xfrm>
            <a:off x="3802380" y="4165091"/>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60776"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Jul-24</a:t>
            </a:r>
          </a:p>
        </p:txBody>
      </p:sp>
      <p:sp>
        <p:nvSpPr>
          <p:cNvPr id="36" name="TextBox 35"/>
          <p:cNvSpPr txBox="1"/>
          <p:nvPr/>
        </p:nvSpPr>
        <p:spPr>
          <a:xfrm>
            <a:off x="3160776"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002855"/>
                </a:solidFill>
                <a:latin typeface="Segoe UI Semibold"/>
              </a:rPr>
              <a:t>Gresham Technologies</a:t>
            </a:r>
          </a:p>
          <a:p>
            <a:pPr algn="ctr" marL="0" indent="0">
              <a:lnSpc>
                <a:spcPct val="100000"/>
              </a:lnSpc>
              <a:spcBef>
                <a:spcPts val="0"/>
              </a:spcBef>
              <a:spcAft>
                <a:spcPts val="50"/>
              </a:spcAft>
              <a:buNone/>
            </a:pPr>
            <a:r>
              <a:rPr sz="700" b="0" i="0">
                <a:solidFill>
                  <a:srgbClr val="525766"/>
                </a:solidFill>
                <a:latin typeface="Segoe UI"/>
              </a:rPr>
              <a:t>STG, with Alveo</a:t>
            </a:r>
          </a:p>
          <a:p>
            <a:pPr algn="ctr" marL="0" indent="0">
              <a:lnSpc>
                <a:spcPct val="100000"/>
              </a:lnSpc>
              <a:spcBef>
                <a:spcPts val="0"/>
              </a:spcBef>
              <a:spcAft>
                <a:spcPts val="50"/>
              </a:spcAft>
              <a:buNone/>
            </a:pPr>
            <a:r>
              <a:rPr sz="700" b="0" i="0">
                <a:solidFill>
                  <a:srgbClr val="525766"/>
                </a:solidFill>
                <a:latin typeface="Segoe UI"/>
              </a:rPr>
              <a:t>£141.9M</a:t>
            </a:r>
          </a:p>
        </p:txBody>
      </p:sp>
      <p:sp>
        <p:nvSpPr>
          <p:cNvPr id="37" name="Oval 36"/>
          <p:cNvSpPr/>
          <p:nvPr/>
        </p:nvSpPr>
        <p:spPr>
          <a:xfrm>
            <a:off x="5250180" y="4165091"/>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08576"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Oct-24</a:t>
            </a:r>
          </a:p>
        </p:txBody>
      </p:sp>
      <p:sp>
        <p:nvSpPr>
          <p:cNvPr id="39" name="TextBox 38"/>
          <p:cNvSpPr txBox="1"/>
          <p:nvPr/>
        </p:nvSpPr>
        <p:spPr>
          <a:xfrm>
            <a:off x="4608576"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002855"/>
                </a:solidFill>
                <a:latin typeface="Segoe UI Semibold"/>
              </a:rPr>
              <a:t>EZOPS</a:t>
            </a:r>
          </a:p>
          <a:p>
            <a:pPr algn="ctr" marL="0" indent="0">
              <a:lnSpc>
                <a:spcPct val="100000"/>
              </a:lnSpc>
              <a:spcBef>
                <a:spcPts val="0"/>
              </a:spcBef>
              <a:spcAft>
                <a:spcPts val="50"/>
              </a:spcAft>
              <a:buNone/>
            </a:pPr>
            <a:r>
              <a:rPr sz="700" b="0" i="0">
                <a:solidFill>
                  <a:srgbClr val="525766"/>
                </a:solidFill>
                <a:latin typeface="Segoe UI"/>
              </a:rPr>
              <a:t>NeoXam (Eurazeo)</a:t>
            </a:r>
          </a:p>
          <a:p>
            <a:pPr algn="ctr" marL="0" indent="0">
              <a:lnSpc>
                <a:spcPct val="100000"/>
              </a:lnSpc>
              <a:spcBef>
                <a:spcPts val="0"/>
              </a:spcBef>
              <a:spcAft>
                <a:spcPts val="50"/>
              </a:spcAft>
              <a:buNone/>
            </a:pPr>
            <a:r>
              <a:rPr sz="700" b="0" i="0">
                <a:solidFill>
                  <a:srgbClr val="525766"/>
                </a:solidFill>
                <a:latin typeface="Segoe UI"/>
              </a:rPr>
              <a:t>n.d.</a:t>
            </a:r>
          </a:p>
        </p:txBody>
      </p:sp>
      <p:sp>
        <p:nvSpPr>
          <p:cNvPr id="40" name="Oval 39"/>
          <p:cNvSpPr/>
          <p:nvPr/>
        </p:nvSpPr>
        <p:spPr>
          <a:xfrm>
            <a:off x="6697980" y="4165091"/>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56376"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Jan-25</a:t>
            </a:r>
          </a:p>
        </p:txBody>
      </p:sp>
      <p:sp>
        <p:nvSpPr>
          <p:cNvPr id="42" name="TextBox 41"/>
          <p:cNvSpPr txBox="1"/>
          <p:nvPr/>
        </p:nvSpPr>
        <p:spPr>
          <a:xfrm>
            <a:off x="6056376"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002855"/>
                </a:solidFill>
                <a:latin typeface="Segoe UI Semibold"/>
              </a:rPr>
              <a:t>Enfusion</a:t>
            </a:r>
          </a:p>
          <a:p>
            <a:pPr algn="ctr" marL="0" indent="0">
              <a:lnSpc>
                <a:spcPct val="100000"/>
              </a:lnSpc>
              <a:spcBef>
                <a:spcPts val="0"/>
              </a:spcBef>
              <a:spcAft>
                <a:spcPts val="50"/>
              </a:spcAft>
              <a:buNone/>
            </a:pPr>
            <a:r>
              <a:rPr sz="700" b="0" i="0">
                <a:solidFill>
                  <a:srgbClr val="525766"/>
                </a:solidFill>
                <a:latin typeface="Segoe UI"/>
              </a:rPr>
              <a:t>Clearwater Analytics</a:t>
            </a:r>
          </a:p>
          <a:p>
            <a:pPr algn="ctr" marL="0" indent="0">
              <a:lnSpc>
                <a:spcPct val="100000"/>
              </a:lnSpc>
              <a:spcBef>
                <a:spcPts val="0"/>
              </a:spcBef>
              <a:spcAft>
                <a:spcPts val="50"/>
              </a:spcAft>
              <a:buNone/>
            </a:pPr>
            <a:r>
              <a:rPr sz="700" b="0" i="0">
                <a:solidFill>
                  <a:srgbClr val="525766"/>
                </a:solidFill>
                <a:latin typeface="Segoe UI"/>
              </a:rPr>
              <a:t>$1.5B</a:t>
            </a:r>
          </a:p>
        </p:txBody>
      </p:sp>
      <p:sp>
        <p:nvSpPr>
          <p:cNvPr id="43" name="Oval 42"/>
          <p:cNvSpPr/>
          <p:nvPr/>
        </p:nvSpPr>
        <p:spPr>
          <a:xfrm>
            <a:off x="8145779" y="4165091"/>
            <a:ext cx="91440" cy="91440"/>
          </a:xfrm>
          <a:prstGeom prst="ellipse">
            <a:avLst/>
          </a:prstGeom>
          <a:solidFill>
            <a:srgbClr val="0028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4175" y="4005072"/>
            <a:ext cx="1374647" cy="164592"/>
          </a:xfrm>
          <a:prstGeom prst="rect">
            <a:avLst/>
          </a:prstGeom>
          <a:noFill/>
        </p:spPr>
        <p:txBody>
          <a:bodyPr wrap="square" lIns="0" rIns="0" tIns="0" bIns="0" anchor="b">
            <a:spAutoFit/>
          </a:bodyPr>
          <a:lstStyle/>
          <a:p>
            <a:pPr algn="ctr" marL="0" indent="0">
              <a:lnSpc>
                <a:spcPct val="102000"/>
              </a:lnSpc>
              <a:spcBef>
                <a:spcPts val="0"/>
              </a:spcBef>
              <a:spcAft>
                <a:spcPts val="0"/>
              </a:spcAft>
              <a:buNone/>
            </a:pPr>
            <a:r>
              <a:rPr sz="800" b="1" i="0">
                <a:solidFill>
                  <a:srgbClr val="002855"/>
                </a:solidFill>
                <a:latin typeface="Segoe UI Semibold"/>
              </a:rPr>
              <a:t>Jan-26</a:t>
            </a:r>
          </a:p>
        </p:txBody>
      </p:sp>
      <p:sp>
        <p:nvSpPr>
          <p:cNvPr id="45" name="TextBox 44"/>
          <p:cNvSpPr txBox="1"/>
          <p:nvPr/>
        </p:nvSpPr>
        <p:spPr>
          <a:xfrm>
            <a:off x="7504175" y="4325112"/>
            <a:ext cx="1374647" cy="393192"/>
          </a:xfrm>
          <a:prstGeom prst="rect">
            <a:avLst/>
          </a:prstGeom>
          <a:noFill/>
        </p:spPr>
        <p:txBody>
          <a:bodyPr wrap="square" lIns="0" rIns="0" tIns="0" bIns="0" anchor="t">
            <a:spAutoFit/>
          </a:bodyPr>
          <a:lstStyle/>
          <a:p>
            <a:pPr algn="ctr" marL="0" indent="0">
              <a:lnSpc>
                <a:spcPct val="100000"/>
              </a:lnSpc>
              <a:spcBef>
                <a:spcPts val="0"/>
              </a:spcBef>
              <a:spcAft>
                <a:spcPts val="50"/>
              </a:spcAft>
              <a:buNone/>
            </a:pPr>
            <a:r>
              <a:rPr sz="700" b="1" i="0">
                <a:solidFill>
                  <a:srgbClr val="002855"/>
                </a:solidFill>
                <a:latin typeface="Segoe UI Semibold"/>
              </a:rPr>
              <a:t>S&amp;P EDM / thinkFolio</a:t>
            </a:r>
          </a:p>
          <a:p>
            <a:pPr algn="ctr" marL="0" indent="0">
              <a:lnSpc>
                <a:spcPct val="100000"/>
              </a:lnSpc>
              <a:spcBef>
                <a:spcPts val="0"/>
              </a:spcBef>
              <a:spcAft>
                <a:spcPts val="50"/>
              </a:spcAft>
              <a:buNone/>
            </a:pPr>
            <a:r>
              <a:rPr sz="700" b="0" i="0">
                <a:solidFill>
                  <a:srgbClr val="525766"/>
                </a:solidFill>
                <a:latin typeface="Segoe UI"/>
              </a:rPr>
              <a:t>STG / Gresham</a:t>
            </a:r>
          </a:p>
          <a:p>
            <a:pPr algn="ctr" marL="0" indent="0">
              <a:lnSpc>
                <a:spcPct val="100000"/>
              </a:lnSpc>
              <a:spcBef>
                <a:spcPts val="0"/>
              </a:spcBef>
              <a:spcAft>
                <a:spcPts val="50"/>
              </a:spcAft>
              <a:buNone/>
            </a:pPr>
            <a:r>
              <a:rPr sz="700" b="0" i="0">
                <a:solidFill>
                  <a:srgbClr val="525766"/>
                </a:solidFill>
                <a:latin typeface="Segoe UI"/>
              </a:rPr>
              <a:t>n.d.</a:t>
            </a:r>
          </a:p>
        </p:txBody>
      </p:sp>
      <p:sp>
        <p:nvSpPr>
          <p:cNvPr id="46" name="Rectangle 45"/>
          <p:cNvSpPr/>
          <p:nvPr/>
        </p:nvSpPr>
        <p:spPr>
          <a:xfrm>
            <a:off x="228600" y="4809744"/>
            <a:ext cx="384048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4809744"/>
            <a:ext cx="3657600"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INDICATIVE BUYER UNIVERSE</a:t>
            </a:r>
          </a:p>
        </p:txBody>
      </p:sp>
      <p:sp>
        <p:nvSpPr>
          <p:cNvPr id="48" name="Rectangle 47"/>
          <p:cNvSpPr/>
          <p:nvPr/>
        </p:nvSpPr>
        <p:spPr>
          <a:xfrm>
            <a:off x="228600" y="5120640"/>
            <a:ext cx="1133856" cy="374904"/>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marL="0" indent="0">
              <a:lnSpc>
                <a:spcPct val="100000"/>
              </a:lnSpc>
              <a:spcBef>
                <a:spcPts val="0"/>
              </a:spcBef>
              <a:spcAft>
                <a:spcPts val="0"/>
              </a:spcAft>
              <a:buNone/>
            </a:pPr>
            <a:r>
              <a:rPr sz="700" b="1" i="0">
                <a:solidFill>
                  <a:srgbClr val="FFFFFF"/>
                </a:solidFill>
                <a:latin typeface="Segoe UI Semibold"/>
              </a:rPr>
              <a:t>DATA STRATEGICS</a:t>
            </a:r>
          </a:p>
        </p:txBody>
      </p:sp>
      <p:sp>
        <p:nvSpPr>
          <p:cNvPr id="49" name="TextBox 48"/>
          <p:cNvSpPr txBox="1"/>
          <p:nvPr/>
        </p:nvSpPr>
        <p:spPr>
          <a:xfrm>
            <a:off x="1453896" y="5120640"/>
            <a:ext cx="2615184" cy="374904"/>
          </a:xfrm>
          <a:prstGeom prst="rect">
            <a:avLst/>
          </a:prstGeom>
          <a:noFill/>
        </p:spPr>
        <p:txBody>
          <a:bodyPr wrap="square" lIns="0" rIns="0" tIns="0" bIns="0" anchor="ctr">
            <a:spAutoFit/>
          </a:bodyPr>
          <a:lstStyle/>
          <a:p>
            <a:pPr algn="l" marL="0" indent="0">
              <a:lnSpc>
                <a:spcPct val="105000"/>
              </a:lnSpc>
              <a:spcBef>
                <a:spcPts val="0"/>
              </a:spcBef>
              <a:spcAft>
                <a:spcPts val="0"/>
              </a:spcAft>
              <a:buNone/>
            </a:pPr>
            <a:r>
              <a:rPr sz="750" b="0" i="0">
                <a:solidFill>
                  <a:srgbClr val="525766"/>
                </a:solidFill>
                <a:latin typeface="Segoe UI"/>
              </a:rPr>
              <a:t>S&amp;P Global, LSEG, FactSet, Bloomberg, Deutsche Börse (SimCorp)</a:t>
            </a:r>
          </a:p>
        </p:txBody>
      </p:sp>
      <p:sp>
        <p:nvSpPr>
          <p:cNvPr id="50" name="Rectangle 49"/>
          <p:cNvSpPr/>
          <p:nvPr/>
        </p:nvSpPr>
        <p:spPr>
          <a:xfrm>
            <a:off x="228600" y="5550407"/>
            <a:ext cx="1133856" cy="374904"/>
          </a:xfrm>
          <a:prstGeom prst="rect">
            <a:avLst/>
          </a:prstGeom>
          <a:solidFill>
            <a:srgbClr val="1C4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marL="0" indent="0">
              <a:lnSpc>
                <a:spcPct val="100000"/>
              </a:lnSpc>
              <a:spcBef>
                <a:spcPts val="0"/>
              </a:spcBef>
              <a:spcAft>
                <a:spcPts val="0"/>
              </a:spcAft>
              <a:buNone/>
            </a:pPr>
            <a:r>
              <a:rPr sz="700" b="1" i="0">
                <a:solidFill>
                  <a:srgbClr val="FFFFFF"/>
                </a:solidFill>
                <a:latin typeface="Segoe UI Semibold"/>
              </a:rPr>
              <a:t>PLATFORM CONSOLIDATORS</a:t>
            </a:r>
          </a:p>
        </p:txBody>
      </p:sp>
      <p:sp>
        <p:nvSpPr>
          <p:cNvPr id="51" name="TextBox 50"/>
          <p:cNvSpPr txBox="1"/>
          <p:nvPr/>
        </p:nvSpPr>
        <p:spPr>
          <a:xfrm>
            <a:off x="1453896" y="5550407"/>
            <a:ext cx="2615184" cy="374904"/>
          </a:xfrm>
          <a:prstGeom prst="rect">
            <a:avLst/>
          </a:prstGeom>
          <a:noFill/>
        </p:spPr>
        <p:txBody>
          <a:bodyPr wrap="square" lIns="0" rIns="0" tIns="0" bIns="0" anchor="ctr">
            <a:spAutoFit/>
          </a:bodyPr>
          <a:lstStyle/>
          <a:p>
            <a:pPr algn="l" marL="0" indent="0">
              <a:lnSpc>
                <a:spcPct val="105000"/>
              </a:lnSpc>
              <a:spcBef>
                <a:spcPts val="0"/>
              </a:spcBef>
              <a:spcAft>
                <a:spcPts val="0"/>
              </a:spcAft>
              <a:buNone/>
            </a:pPr>
            <a:r>
              <a:rPr sz="750" b="0" i="0">
                <a:solidFill>
                  <a:srgbClr val="525766"/>
                </a:solidFill>
                <a:latin typeface="Segoe UI"/>
              </a:rPr>
              <a:t>Clearwater Analytics, SS&amp;C, Broadridge, FIS</a:t>
            </a:r>
          </a:p>
        </p:txBody>
      </p:sp>
      <p:sp>
        <p:nvSpPr>
          <p:cNvPr id="52" name="Rectangle 51"/>
          <p:cNvSpPr/>
          <p:nvPr/>
        </p:nvSpPr>
        <p:spPr>
          <a:xfrm>
            <a:off x="228600" y="5980176"/>
            <a:ext cx="1133856" cy="374904"/>
          </a:xfrm>
          <a:prstGeom prst="rect">
            <a:avLst/>
          </a:prstGeom>
          <a:solidFill>
            <a:srgbClr val="3861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marL="0" indent="0">
              <a:lnSpc>
                <a:spcPct val="100000"/>
              </a:lnSpc>
              <a:spcBef>
                <a:spcPts val="0"/>
              </a:spcBef>
              <a:spcAft>
                <a:spcPts val="0"/>
              </a:spcAft>
              <a:buNone/>
            </a:pPr>
            <a:r>
              <a:rPr sz="700" b="1" i="0">
                <a:solidFill>
                  <a:srgbClr val="FFFFFF"/>
                </a:solidFill>
                <a:latin typeface="Segoe UI Semibold"/>
              </a:rPr>
              <a:t>CATEGORY SPONSORS</a:t>
            </a:r>
          </a:p>
        </p:txBody>
      </p:sp>
      <p:sp>
        <p:nvSpPr>
          <p:cNvPr id="53" name="TextBox 52"/>
          <p:cNvSpPr txBox="1"/>
          <p:nvPr/>
        </p:nvSpPr>
        <p:spPr>
          <a:xfrm>
            <a:off x="1453896" y="5980176"/>
            <a:ext cx="2615184" cy="374904"/>
          </a:xfrm>
          <a:prstGeom prst="rect">
            <a:avLst/>
          </a:prstGeom>
          <a:noFill/>
        </p:spPr>
        <p:txBody>
          <a:bodyPr wrap="square" lIns="0" rIns="0" tIns="0" bIns="0" anchor="ctr">
            <a:spAutoFit/>
          </a:bodyPr>
          <a:lstStyle/>
          <a:p>
            <a:pPr algn="l" marL="0" indent="0">
              <a:lnSpc>
                <a:spcPct val="105000"/>
              </a:lnSpc>
              <a:spcBef>
                <a:spcPts val="0"/>
              </a:spcBef>
              <a:spcAft>
                <a:spcPts val="0"/>
              </a:spcAft>
              <a:buNone/>
            </a:pPr>
            <a:r>
              <a:rPr sz="750" b="0" i="0">
                <a:solidFill>
                  <a:srgbClr val="525766"/>
                </a:solidFill>
                <a:latin typeface="Segoe UI"/>
              </a:rPr>
              <a:t>STG (Alveo, Gresham, S&amp;P EDM), Eurazeo (NeoXam), large-cap software funds</a:t>
            </a:r>
          </a:p>
        </p:txBody>
      </p:sp>
      <p:sp>
        <p:nvSpPr>
          <p:cNvPr id="54" name="Rectangle 53"/>
          <p:cNvSpPr/>
          <p:nvPr/>
        </p:nvSpPr>
        <p:spPr>
          <a:xfrm>
            <a:off x="4251960" y="4809744"/>
            <a:ext cx="4663440" cy="219456"/>
          </a:xfrm>
          <a:prstGeom prst="rect">
            <a:avLst/>
          </a:prstGeom>
          <a:solidFill>
            <a:srgbClr val="00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43400" y="4809744"/>
            <a:ext cx="4480559" cy="219456"/>
          </a:xfrm>
          <a:prstGeom prst="rect">
            <a:avLst/>
          </a:prstGeom>
          <a:noFill/>
        </p:spPr>
        <p:txBody>
          <a:bodyPr wrap="square" lIns="0" rIns="0" tIns="0" bIns="0" anchor="ctr">
            <a:spAutoFit/>
          </a:bodyPr>
          <a:lstStyle/>
          <a:p>
            <a:pPr algn="l" marL="0" indent="0">
              <a:lnSpc>
                <a:spcPct val="102000"/>
              </a:lnSpc>
              <a:spcBef>
                <a:spcPts val="0"/>
              </a:spcBef>
              <a:spcAft>
                <a:spcPts val="0"/>
              </a:spcAft>
              <a:buNone/>
            </a:pPr>
            <a:r>
              <a:rPr sz="850" b="1" i="0">
                <a:solidFill>
                  <a:srgbClr val="FFFFFF"/>
                </a:solidFill>
                <a:latin typeface="Segoe UI Semibold"/>
              </a:rPr>
              <a:t>COVERAGE ANGLE</a:t>
            </a:r>
          </a:p>
        </p:txBody>
      </p:sp>
      <p:sp>
        <p:nvSpPr>
          <p:cNvPr id="56" name="TextBox 55"/>
          <p:cNvSpPr txBox="1"/>
          <p:nvPr/>
        </p:nvSpPr>
        <p:spPr>
          <a:xfrm>
            <a:off x="4270248" y="5120640"/>
            <a:ext cx="4626864" cy="1234440"/>
          </a:xfrm>
          <a:prstGeom prst="rect">
            <a:avLst/>
          </a:prstGeom>
          <a:noFill/>
        </p:spPr>
        <p:txBody>
          <a:bodyPr wrap="square" lIns="0" rIns="0" tIns="0" bIns="0" anchor="t">
            <a:spAutoFit/>
          </a:bodyPr>
          <a:lstStyle/>
          <a:p>
            <a:pPr algn="l" marL="105156" indent="-105156">
              <a:lnSpc>
                <a:spcPct val="102000"/>
              </a:lnSpc>
              <a:spcBef>
                <a:spcPts val="0"/>
              </a:spcBef>
              <a:spcAft>
                <a:spcPts val="250"/>
              </a:spcAft>
              <a:buClr>
                <a:srgbClr val="508BC9"/>
              </a:buClr>
              <a:buSzPct val="90000"/>
              <a:buFont typeface="Arial"/>
              <a:buChar char="▪"/>
            </a:pPr>
            <a:r>
              <a:rPr sz="750" b="1" i="0">
                <a:solidFill>
                  <a:srgbClr val="002855"/>
                </a:solidFill>
                <a:latin typeface="Segoe UI Semibold"/>
              </a:rPr>
              <a:t>Hold period. </a:t>
            </a:r>
            <a:r>
              <a:rPr sz="750" b="0" i="0">
                <a:solidFill>
                  <a:srgbClr val="525766"/>
                </a:solidFill>
                <a:latin typeface="Segoe UI"/>
              </a:rPr>
              <a:t>Gemspring entered in May 2022; at four-plus years and off a record 2025, the asset is in the window for a sponsor-to-sponsor or strategic process.</a:t>
            </a:r>
          </a:p>
          <a:p>
            <a:pPr algn="l" marL="105156" indent="-105156">
              <a:lnSpc>
                <a:spcPct val="102000"/>
              </a:lnSpc>
              <a:spcBef>
                <a:spcPts val="0"/>
              </a:spcBef>
              <a:spcAft>
                <a:spcPts val="250"/>
              </a:spcAft>
              <a:buClr>
                <a:srgbClr val="508BC9"/>
              </a:buClr>
              <a:buSzPct val="90000"/>
              <a:buFont typeface="Arial"/>
              <a:buChar char="▪"/>
            </a:pPr>
            <a:r>
              <a:rPr sz="750" b="1" i="0">
                <a:solidFill>
                  <a:srgbClr val="002855"/>
                </a:solidFill>
                <a:latin typeface="Segoe UI Semibold"/>
              </a:rPr>
              <a:t>Recent investment. </a:t>
            </a:r>
            <a:r>
              <a:rPr sz="750" b="0" i="0">
                <a:solidFill>
                  <a:srgbClr val="525766"/>
                </a:solidFill>
                <a:latin typeface="Segoe UI"/>
              </a:rPr>
              <a:t>Scout, OMNI, V10 and the IBOR account for what the sponsor funded; headcount is up roughly 60% since close.</a:t>
            </a:r>
          </a:p>
          <a:p>
            <a:pPr algn="l" marL="105156" indent="-105156">
              <a:lnSpc>
                <a:spcPct val="102000"/>
              </a:lnSpc>
              <a:spcBef>
                <a:spcPts val="0"/>
              </a:spcBef>
              <a:spcAft>
                <a:spcPts val="250"/>
              </a:spcAft>
              <a:buClr>
                <a:srgbClr val="508BC9"/>
              </a:buClr>
              <a:buSzPct val="90000"/>
              <a:buFont typeface="Arial"/>
              <a:buChar char="▪"/>
            </a:pPr>
            <a:r>
              <a:rPr sz="750" b="1" i="0">
                <a:solidFill>
                  <a:srgbClr val="002855"/>
                </a:solidFill>
                <a:latin typeface="Segoe UI Semibold"/>
              </a:rPr>
              <a:t>Limited remaining supply. </a:t>
            </a:r>
            <a:r>
              <a:rPr sz="750" b="0" i="0">
                <a:solidFill>
                  <a:srgbClr val="525766"/>
                </a:solidFill>
                <a:latin typeface="Segoe UI"/>
              </a:rPr>
              <a:t>The top-right quadrant above is down to three names, two of them already consolidated.</a:t>
            </a:r>
          </a:p>
          <a:p>
            <a:pPr algn="l" marL="105156" indent="-105156">
              <a:lnSpc>
                <a:spcPct val="102000"/>
              </a:lnSpc>
              <a:spcBef>
                <a:spcPts val="0"/>
              </a:spcBef>
              <a:spcAft>
                <a:spcPts val="250"/>
              </a:spcAft>
              <a:buClr>
                <a:srgbClr val="508BC9"/>
              </a:buClr>
              <a:buSzPct val="90000"/>
              <a:buFont typeface="Arial"/>
              <a:buChar char="▪"/>
            </a:pPr>
            <a:r>
              <a:rPr sz="750" b="1" i="0">
                <a:solidFill>
                  <a:srgbClr val="002855"/>
                </a:solidFill>
                <a:latin typeface="Segoe UI Semibold"/>
              </a:rPr>
              <a:t>Test in diligence. </a:t>
            </a:r>
            <a:r>
              <a:rPr sz="750" b="0" i="0">
                <a:solidFill>
                  <a:srgbClr val="525766"/>
                </a:solidFill>
                <a:latin typeface="Segoe UI"/>
              </a:rPr>
              <a:t>Licence versus services mix; cloud ARR share against on-premise maintenance; net revenue retention; and how much of Scout has shipped.</a:t>
            </a:r>
          </a:p>
          <a:p>
            <a:pPr algn="l" marL="105156" indent="-105156">
              <a:lnSpc>
                <a:spcPct val="102000"/>
              </a:lnSpc>
              <a:spcBef>
                <a:spcPts val="0"/>
              </a:spcBef>
              <a:spcAft>
                <a:spcPts val="250"/>
              </a:spcAft>
              <a:buClr>
                <a:srgbClr val="24B1B1"/>
              </a:buClr>
              <a:buSzPct val="90000"/>
              <a:buFont typeface="Arial"/>
              <a:buChar char="▪"/>
            </a:pPr>
            <a:r>
              <a:rPr sz="750" b="1" i="0">
                <a:solidFill>
                  <a:srgbClr val="002855"/>
                </a:solidFill>
                <a:latin typeface="Segoe UI Semibold"/>
              </a:rPr>
              <a:t>Relevant HL experience. </a:t>
            </a:r>
            <a:r>
              <a:rPr sz="750" b="0" i="0">
                <a:solidFill>
                  <a:srgbClr val="525766"/>
                </a:solidFill>
                <a:latin typeface="Segoe UI"/>
              </a:rPr>
              <a:t>Rule 3 adviser to Gresham on its 2024 take-private by STG, and co-adviser to STG/Gresham on the 2026 S&amp;P EDM and thinkFolio carve-out.</a:t>
            </a:r>
          </a:p>
        </p:txBody>
      </p:sp>
      <p:sp>
        <p:nvSpPr>
          <p:cNvPr id="57" name="TextBox 56"/>
          <p:cNvSpPr txBox="1"/>
          <p:nvPr/>
        </p:nvSpPr>
        <p:spPr>
          <a:xfrm>
            <a:off x="1874519" y="6492240"/>
            <a:ext cx="7040880" cy="347472"/>
          </a:xfrm>
          <a:prstGeom prst="rect">
            <a:avLst/>
          </a:prstGeom>
          <a:noFill/>
        </p:spPr>
        <p:txBody>
          <a:bodyPr wrap="square" lIns="0" rIns="0" tIns="0" bIns="0" anchor="t">
            <a:spAutoFit/>
          </a:bodyPr>
          <a:lstStyle/>
          <a:p>
            <a:pPr algn="l" marL="0" indent="0">
              <a:lnSpc>
                <a:spcPct val="100000"/>
              </a:lnSpc>
              <a:spcBef>
                <a:spcPts val="0"/>
              </a:spcBef>
              <a:spcAft>
                <a:spcPts val="0"/>
              </a:spcAft>
              <a:buNone/>
            </a:pPr>
            <a:r>
              <a:rPr sz="700" b="0" i="1">
                <a:solidFill>
                  <a:srgbClr val="7E8597"/>
                </a:solidFill>
                <a:latin typeface="Segoe UI"/>
              </a:rPr>
              <a:t>Sources: Houlihan Lokey transaction disclosures; S&amp;P Global, Clearwater Analytics, Deutsche Börse and STG press releases; Businesswire; Finextra; A-Team Insight; InvestOps 2026. Values as disclosed; n.d. = not disclosed. Competitive positioning and buyer universe are HL analysis.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USERHIDDEN" val="1"/>
</p:tagLst>
</file>

<file path=ppt/tags/tag3.xml><?xml version="1.0" encoding="utf-8"?>
<p:tagLst xmlns:a="http://schemas.openxmlformats.org/drawingml/2006/main" xmlns:r="http://schemas.openxmlformats.org/officeDocument/2006/relationships" xmlns:p="http://schemas.openxmlformats.org/presentationml/2006/main">
  <p:tag name="COVER_BANNER" val="Y"/>
</p:tagLst>
</file>

<file path=ppt/tags/tag4.xml><?xml version="1.0" encoding="utf-8"?>
<p:tagLst xmlns:a="http://schemas.openxmlformats.org/drawingml/2006/main" xmlns:r="http://schemas.openxmlformats.org/officeDocument/2006/relationships" xmlns:p="http://schemas.openxmlformats.org/presentationml/2006/main">
  <p:tag name="CHAPTER_SUBTITLE" val="Y"/>
</p:tagLst>
</file>

<file path=ppt/tags/tag5.xml><?xml version="1.0" encoding="utf-8"?>
<p:tagLst xmlns:a="http://schemas.openxmlformats.org/drawingml/2006/main" xmlns:r="http://schemas.openxmlformats.org/officeDocument/2006/relationships" xmlns:p="http://schemas.openxmlformats.org/presentationml/2006/main">
  <p:tag name="H_LINE" val="Y"/>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COVER_BANNER" val="Y"/>
</p:tagLst>
</file>

<file path=ppt/theme/theme1.xml><?xml version="1.0" encoding="utf-8"?>
<a:theme xmlns:a="http://schemas.openxmlformats.org/drawingml/2006/main" name="PowerPresent">
  <a:themeElements>
    <a:clrScheme name="HL Refresh 2023">
      <a:dk1>
        <a:srgbClr val="525766"/>
      </a:dk1>
      <a:lt1>
        <a:sysClr val="window" lastClr="FFFFFF"/>
      </a:lt1>
      <a:dk2>
        <a:srgbClr val="002855"/>
      </a:dk2>
      <a:lt2>
        <a:srgbClr val="0067A5"/>
      </a:lt2>
      <a:accent1>
        <a:srgbClr val="508BC9"/>
      </a:accent1>
      <a:accent2>
        <a:srgbClr val="BCBFC6"/>
      </a:accent2>
      <a:accent3>
        <a:srgbClr val="7E8597"/>
      </a:accent3>
      <a:accent4>
        <a:srgbClr val="24B1B1"/>
      </a:accent4>
      <a:accent5>
        <a:srgbClr val="6C1E36"/>
      </a:accent5>
      <a:accent6>
        <a:srgbClr val="9FC3DA"/>
      </a:accent6>
      <a:hlink>
        <a:srgbClr val="0067A5"/>
      </a:hlink>
      <a:folHlink>
        <a:srgbClr val="7CACC6"/>
      </a:folHlink>
    </a:clrScheme>
    <a:fontScheme name="Present 2015">
      <a:majorFont>
        <a:latin typeface="Segoe UI Semibold"/>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w="6350">
          <a:solidFill>
            <a:schemeClr val="accent2">
              <a:lumMod val="75000"/>
            </a:schemeClr>
          </a:solidFill>
        </a:ln>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0" marR="0" indent="0" algn="ctr" defTabSz="914400" eaLnBrk="1" fontAlgn="base" latinLnBrk="0" hangingPunct="1">
          <a:lnSpc>
            <a:spcPct val="113000"/>
          </a:lnSpc>
          <a:spcBef>
            <a:spcPts val="0"/>
          </a:spcBef>
          <a:spcAft>
            <a:spcPts val="0"/>
          </a:spcAft>
          <a:buClrTx/>
          <a:buSzTx/>
          <a:buFontTx/>
          <a:buNone/>
          <a:tabLst/>
          <a:defRPr kumimoji="0" sz="1100" b="0" i="0" u="none" strike="noStrike" kern="0" cap="none" spc="0" normalizeH="0" baseline="0" noProof="0" smtClean="0">
            <a:ln>
              <a:noFill/>
            </a:ln>
            <a:solidFill>
              <a:srgbClr val="BCBFC6">
                <a:lumMod val="75000"/>
              </a:srgbClr>
            </a:solidFill>
            <a:effectLst/>
            <a:uLnTx/>
            <a:uFillTx/>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algn="l">
          <a:lnSpc>
            <a:spcPct val="114000"/>
          </a:lnSpc>
          <a:spcAft>
            <a:spcPts val="600"/>
          </a:spcAft>
          <a:buSzPct val="100000"/>
          <a:defRPr sz="1000" dirty="0" err="1" smtClean="0"/>
        </a:defPPr>
      </a:lstStyle>
    </a:txDef>
  </a:objectDefaults>
  <a:extraClrSchemeLst/>
  <a:custClrLst>
    <a:custClr name="Metalic Seaweed">
      <a:srgbClr val="1F808F"/>
    </a:custClr>
    <a:custClr name="Rust">
      <a:srgbClr val="B54E15"/>
    </a:custClr>
    <a:custClr name="English Lavender">
      <a:srgbClr val="B58D9A"/>
    </a:custClr>
    <a:custClr name="Swiss Coffee">
      <a:srgbClr val="D2C0B2"/>
    </a:custClr>
    <a:custClr name="Maize">
      <a:srgbClr val="E6C25B"/>
    </a:custClr>
    <a:custClr name="Metalic Sunburst">
      <a:srgbClr val="8C7337"/>
    </a:custClr>
    <a:custClr name="Maximum Green">
      <a:srgbClr val="508225"/>
    </a:custClr>
    <a:custClr name="Strikemaster">
      <a:srgbClr val="8E6C88"/>
    </a:custClr>
    <a:custClr name="Onyx">
      <a:srgbClr val="424142"/>
    </a:custClr>
    <a:custClr name="Oxford Blue">
      <a:srgbClr val="002855"/>
    </a:custClr>
    <a:custClr name="Custom Color 11">
      <a:srgbClr val="C7EDF3"/>
    </a:custClr>
    <a:custClr name="Custom Color 12">
      <a:srgbClr val="F8D9C7"/>
    </a:custClr>
    <a:custClr name="Custom Color 13">
      <a:srgbClr val="F0E8EA"/>
    </a:custClr>
    <a:custClr name="Custom Color 14">
      <a:srgbClr val="F6F2EF"/>
    </a:custClr>
    <a:custClr name="Custom Color 15">
      <a:srgbClr val="FAF2DE"/>
    </a:custClr>
    <a:custClr name="Custom Color 16">
      <a:srgbClr val="EDE5D1"/>
    </a:custClr>
    <a:custClr name="Custom Color 17">
      <a:srgbClr val="DBEFC9"/>
    </a:custClr>
    <a:custClr name="Custom Color 18">
      <a:srgbClr val="E8E1E7"/>
    </a:custClr>
    <a:custClr name="Custom Color 19">
      <a:srgbClr val="EAE9EA"/>
    </a:custClr>
    <a:custClr name="Custom Color 20">
      <a:srgbClr val="D4E8FF"/>
    </a:custClr>
    <a:custClr name="Custom Color 21">
      <a:srgbClr val="59C9DB"/>
    </a:custClr>
    <a:custClr name="Custom Color 22">
      <a:srgbClr val="EB8D59"/>
    </a:custClr>
    <a:custClr name="Custom Color 23">
      <a:srgbClr val="D2BAC2"/>
    </a:custClr>
    <a:custClr name="Custom Color 24">
      <a:srgbClr val="E3D9D0"/>
    </a:custClr>
    <a:custClr name="Custom Color 25">
      <a:srgbClr val="F0DA9C"/>
    </a:custClr>
    <a:custClr name="Custom Color 26">
      <a:srgbClr val="C9B177"/>
    </a:custClr>
    <a:custClr name="Custom Color 27">
      <a:srgbClr val="93D15E"/>
    </a:custClr>
    <a:custClr name="Custom Color 28">
      <a:srgbClr val="BBA6B7"/>
    </a:custClr>
    <a:custClr name="Custom Color 29">
      <a:srgbClr val="969496"/>
    </a:custClr>
    <a:custClr name="Custom Color 30">
      <a:srgbClr val="2A8EFE"/>
    </a:custClr>
    <a:custClr name="Custom Color 31">
      <a:srgbClr val="17606B"/>
    </a:custClr>
    <a:custClr name="Custom Color 32">
      <a:srgbClr val="873A0F"/>
    </a:custClr>
    <a:custClr name="Custom Color 33">
      <a:srgbClr val="925F6F"/>
    </a:custClr>
    <a:custClr name="Custom Color 34">
      <a:srgbClr val="AE8D74"/>
    </a:custClr>
    <a:custClr name="Custom Color 35">
      <a:srgbClr val="D0A31F"/>
    </a:custClr>
    <a:custClr name="Custom Color 36">
      <a:srgbClr val="614D1D"/>
    </a:custClr>
    <a:custClr name="Custom Color 37">
      <a:srgbClr val="3B611B"/>
    </a:custClr>
    <a:custClr name="Custom Color 38">
      <a:srgbClr val="6A5166"/>
    </a:custClr>
    <a:custClr name="Custom Color 39">
      <a:srgbClr val="615F61"/>
    </a:custClr>
    <a:custClr name="Custom Color 40">
      <a:srgbClr val="0059BF"/>
    </a:custClr>
    <a:custClr name="Custom Color 51">
      <a:srgbClr val="0F4047"/>
    </a:custClr>
    <a:custClr name="Custom Color 52">
      <a:srgbClr val="5A270A"/>
    </a:custClr>
    <a:custClr name="Custom Color 53">
      <a:srgbClr val="613F4A"/>
    </a:custClr>
    <a:custClr name="Custom Color 54">
      <a:srgbClr val="7A5D47"/>
    </a:custClr>
    <a:custClr name="Custom Color 55">
      <a:srgbClr val="8B6C15"/>
    </a:custClr>
    <a:custClr name="Custom Color 56">
      <a:srgbClr val="46391B"/>
    </a:custClr>
    <a:custClr name="Custom Color 57">
      <a:srgbClr val="274112"/>
    </a:custClr>
    <a:custClr name="Custom Color 58">
      <a:srgbClr val="473644"/>
    </a:custClr>
    <a:custClr name="Custom Color 59">
      <a:srgbClr val="413F41"/>
    </a:custClr>
    <a:custClr name="Custom Color 60">
      <a:srgbClr val="003C7F"/>
    </a:custClr>
  </a:custClrLst>
  <a:extLst>
    <a:ext uri="{05A4C25C-085E-4340-85A3-A5531E510DB2}">
      <thm15:themeFamily xmlns:thm15="http://schemas.microsoft.com/office/thememl/2012/main" name="Layouts.potx" id="{C2504081-24E1-415D-B095-15A927436BA8}" vid="{479493CE-5301-4313-898C-C7E8CBD73266}"/>
    </a:ext>
  </a:extLst>
</a:theme>
</file>

<file path=docProps/app.xml><?xml version="1.0" encoding="utf-8"?>
<Properties xmlns="http://schemas.openxmlformats.org/officeDocument/2006/extended-properties" xmlns:vt="http://schemas.openxmlformats.org/officeDocument/2006/docPropsVTypes">
  <Template>Layouts</Template>
  <TotalTime>32</TotalTime>
  <Words>2</Words>
  <Application>Microsoft Office PowerPoint</Application>
  <PresentationFormat>Letter Paper (8.5x11 in)</PresentationFormat>
  <Paragraphs>1</Paragraphs>
  <Slides>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Arial</vt:lpstr>
      <vt:lpstr>Segoe UI</vt:lpstr>
      <vt:lpstr>Segoe UI Semibold</vt:lpstr>
      <vt:lpstr>Symbol</vt:lpstr>
      <vt:lpstr>Wingdings 2</vt:lpstr>
      <vt:lpstr>PowerPresent</vt:lpstr>
      <vt:lpstr>think-cell Slide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Carroll, Ryan</dc:creator>
  <cp:lastModifiedBy>Carroll, Ryan</cp:lastModifiedBy>
  <cp:revision>2</cp:revision>
  <dcterms:created xsi:type="dcterms:W3CDTF">2026-07-28T20:05:48Z</dcterms:created>
  <dcterms:modified xsi:type="dcterms:W3CDTF">2026-07-28T20:38:42Z</dcterms:modified>
</cp:coreProperties>
</file>