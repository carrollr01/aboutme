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464308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2628" y="2423160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628" y="2574036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mastering, ESG-enabled</a:t>
            </a:r>
          </a:p>
        </p:txBody>
      </p:sp>
      <p:sp>
        <p:nvSpPr>
          <p:cNvPr id="5" name="Oval 4"/>
          <p:cNvSpPr/>
          <p:nvPr/>
        </p:nvSpPr>
        <p:spPr>
          <a:xfrm>
            <a:off x="320040" y="2866644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" y="2825496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Price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2976372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Rule-based multi-vendor pricing and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320040" y="3268980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" y="3227832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OMNI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" y="3378708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App; runs in the client’s own account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" y="3671316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" y="3630168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IBOR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" y="3781044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14" name="Oval 13"/>
          <p:cNvSpPr/>
          <p:nvPr/>
        </p:nvSpPr>
        <p:spPr>
          <a:xfrm>
            <a:off x="320040" y="4073652"/>
            <a:ext cx="73152" cy="73152"/>
          </a:xfrm>
          <a:prstGeom prst="ellipse">
            <a:avLst/>
          </a:prstGeom>
          <a:solidFill>
            <a:srgbClr val="24B1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" y="4032504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" y="4183380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59820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Market data vendors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67328" y="2689642"/>
            <a:ext cx="347472" cy="666206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788920" y="282027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Exchanges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67328" y="2911710"/>
            <a:ext cx="347472" cy="444138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88920" y="30423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Index providers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67328" y="3133779"/>
            <a:ext cx="347472" cy="222069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788920" y="326440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Custodians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67328" y="3355848"/>
            <a:ext cx="347472" cy="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88920" y="34864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Fund administrators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767328" y="3355848"/>
            <a:ext cx="347472" cy="222068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88920" y="370854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Internal systems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3767328" y="3355848"/>
            <a:ext cx="347472" cy="444137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88920" y="393061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Counterparties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767328" y="3355848"/>
            <a:ext cx="347472" cy="66620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114800" y="3345789"/>
            <a:ext cx="3886199" cy="2011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3460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9100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CONNECT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9100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Adaptors and 100+ pre-built vendor feeds</a:t>
            </a:r>
          </a:p>
        </p:txBody>
      </p:sp>
      <p:sp>
        <p:nvSpPr>
          <p:cNvPr id="35" name="Oval 34"/>
          <p:cNvSpPr/>
          <p:nvPr/>
        </p:nvSpPr>
        <p:spPr>
          <a:xfrm>
            <a:off x="6165342" y="3268979"/>
            <a:ext cx="173736" cy="173736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89270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MASTER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9270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Securities, entity, price, corporate actions and ESG resolved into one record</a:t>
            </a:r>
          </a:p>
        </p:txBody>
      </p:sp>
      <p:sp>
        <p:nvSpPr>
          <p:cNvPr id="38" name="Oval 37"/>
          <p:cNvSpPr/>
          <p:nvPr/>
        </p:nvSpPr>
        <p:spPr>
          <a:xfrm>
            <a:off x="7877556" y="3232404"/>
            <a:ext cx="246888" cy="246888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14616" y="3502152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GOLDEN COPY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14616" y="3666744"/>
            <a:ext cx="157276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One verified, governed record, shipped through the Data Warehouse, OMNI into Snowflake, real-time IBOR and APIs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00650" y="2514600"/>
            <a:ext cx="210312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B1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73802" y="2514600"/>
            <a:ext cx="195681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SCOUT   ·   AI reasoning layer on Amazon Bedrock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52210" y="2734056"/>
            <a:ext cx="0" cy="521208"/>
          </a:xfrm>
          <a:prstGeom prst="line">
            <a:avLst/>
          </a:prstGeom>
          <a:ln w="12700">
            <a:solidFill>
              <a:srgbClr val="24B1B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114800" y="4251959"/>
            <a:ext cx="3886199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0" y="4274820"/>
            <a:ext cx="38861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