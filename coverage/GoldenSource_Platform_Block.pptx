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423160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urities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3" y="2532888"/>
            <a:ext cx="128016" cy="12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7" y="2423160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Securities Master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44752" y="2423160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36192" y="2423160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Cross-asset instrument mastering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2825496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ice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3" y="2935224"/>
            <a:ext cx="128016" cy="128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7" y="2825496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Price Master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44752" y="2825496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36192" y="2825496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Multi-vendor pricing and 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3227832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m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3" y="3337560"/>
            <a:ext cx="128016" cy="1280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7" y="3227832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OMNI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3227832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3227832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Snowflake Native App, runs in-account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630168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b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3" y="3739896"/>
            <a:ext cx="128016" cy="1280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647" y="3630168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IBOR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44752" y="3630168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36192" y="3630168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investment book of record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4032504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co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3" y="4142232"/>
            <a:ext cx="128016" cy="1280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2647" y="4032504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Scout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44752" y="4032504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36192" y="4032504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AI layer on Amazon Bedrock,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258432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Bloomberg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51376" y="2675763"/>
            <a:ext cx="320040" cy="68008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88920" y="277863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LSEG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51376" y="2870073"/>
            <a:ext cx="320040" cy="48577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788920" y="297294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ICE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51376" y="3064383"/>
            <a:ext cx="320040" cy="29146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788920" y="316725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S&amp;P Global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151376" y="3258693"/>
            <a:ext cx="320040" cy="9715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788920" y="336156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MSCI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4151376" y="3355848"/>
            <a:ext cx="320040" cy="9715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788920" y="355587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Moody’s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4151376" y="3355848"/>
            <a:ext cx="320040" cy="29146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788920" y="375018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SIX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4151376" y="3355848"/>
            <a:ext cx="320040" cy="48577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788920" y="394449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25766"/>
                </a:solidFill>
                <a:latin typeface="Segoe UI"/>
              </a:rPr>
              <a:t>and 100+ more sources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4151376" y="3355848"/>
            <a:ext cx="320040" cy="68008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471416" y="3345789"/>
            <a:ext cx="3529583" cy="2011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08752" y="3287268"/>
            <a:ext cx="137160" cy="137160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14392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CONNECT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4392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Adaptors and 100+ pre-built vendor feeds</a:t>
            </a:r>
          </a:p>
        </p:txBody>
      </p:sp>
      <p:sp>
        <p:nvSpPr>
          <p:cNvPr id="47" name="Oval 46"/>
          <p:cNvSpPr/>
          <p:nvPr/>
        </p:nvSpPr>
        <p:spPr>
          <a:xfrm>
            <a:off x="6325819" y="3268979"/>
            <a:ext cx="173736" cy="173736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49747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MASTER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49747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Securities, entity, price, corporate actions and ESG resolved into one record</a:t>
            </a:r>
          </a:p>
        </p:txBody>
      </p:sp>
      <p:sp>
        <p:nvSpPr>
          <p:cNvPr id="50" name="Oval 49"/>
          <p:cNvSpPr/>
          <p:nvPr/>
        </p:nvSpPr>
        <p:spPr>
          <a:xfrm>
            <a:off x="7877556" y="3232404"/>
            <a:ext cx="246888" cy="246888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14616" y="3502152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GOLDEN COPY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14616" y="3666744"/>
            <a:ext cx="157276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One verified, governed record, shipped through the Data Warehouse, OMNI into Snowflake, real-time IBOR and APIs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61127" y="2514600"/>
            <a:ext cx="210312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B1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34279" y="2514600"/>
            <a:ext cx="195681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SCOUT   ·   AI reasoning layer on Amazon Bedrock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412687" y="2734056"/>
            <a:ext cx="0" cy="521208"/>
          </a:xfrm>
          <a:prstGeom prst="line">
            <a:avLst/>
          </a:prstGeom>
          <a:ln w="12700">
            <a:solidFill>
              <a:srgbClr val="24B1B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4471416" y="4251959"/>
            <a:ext cx="3529583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71416" y="4274820"/>
            <a:ext cx="352958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GOLDENSOURCE PLATFORM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