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3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bg>
      <p:bgPr>
        <a:blipFill dpi="0" rotWithShape="1">
          <a:blip>
            <a:lum contrast="-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E0168A-2989-1295-CF19-94D494291656}"/>
              </a:ext>
            </a:extLst>
          </p:cNvPr>
          <p:cNvSpPr/>
          <p:nvPr/>
        </p:nvSpPr>
        <p:spPr>
          <a:xfrm>
            <a:off x="12191" y="-1"/>
            <a:ext cx="5047250" cy="267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773212-06D7-5234-7492-E9EFE3A5D56B}"/>
              </a:ext>
            </a:extLst>
          </p:cNvPr>
          <p:cNvSpPr/>
          <p:nvPr/>
        </p:nvSpPr>
        <p:spPr>
          <a:xfrm>
            <a:off x="0" y="0"/>
            <a:ext cx="3044952" cy="267140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668351-DD66-6BDB-C68C-9E00B3316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3047999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pic>
        <p:nvPicPr>
          <p:cNvPr id="6" name="Picture 5"/>
          <p:cNvPicPr>
            <a:picLocks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white">
          <a:xfrm>
            <a:off x="1010739" y="1331649"/>
            <a:ext cx="6099048" cy="4194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044951" y="4078224"/>
            <a:ext cx="3374136" cy="365760"/>
          </a:xfrm>
          <a:noFill/>
          <a:ln>
            <a:noFill/>
          </a:ln>
        </p:spPr>
        <p:txBody>
          <a:bodyPr wrap="square" lIns="0" tIns="182880" rIns="0" bIns="0">
            <a:spAutoFit/>
          </a:bodyPr>
          <a:lstStyle>
            <a:lvl1pPr>
              <a:defRPr sz="240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044952" y="4791456"/>
            <a:ext cx="3374136" cy="25705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 cap="none" spc="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014984" y="557784"/>
            <a:ext cx="1737360" cy="21945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lang="en-US" sz="1400">
                <a:solidFill>
                  <a:schemeClr val="tx2"/>
                </a:solidFill>
              </a:defRPr>
            </a:lvl1pPr>
          </a:lstStyle>
          <a:p>
            <a:fld id="{6F840CD7-8D22-4AAF-BBD3-CC800D80653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681D7-ADF0-712D-804F-64AA33B1A4C3}"/>
              </a:ext>
            </a:extLst>
          </p:cNvPr>
          <p:cNvSpPr txBox="1"/>
          <p:nvPr/>
        </p:nvSpPr>
        <p:spPr>
          <a:xfrm>
            <a:off x="1014984" y="6388628"/>
            <a:ext cx="2843784" cy="17373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>
              <a:buSzPct val="100000"/>
            </a:pPr>
            <a:r>
              <a:rPr lang="en-GB" sz="1100" dirty="0">
                <a:solidFill>
                  <a:schemeClr val="accent3"/>
                </a:solidFill>
              </a:rPr>
              <a:t>Strictly Confidential. Not for Distribution.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5625E4-9E71-4871-1681-CBA75449C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8256" y="1728216"/>
            <a:ext cx="2395728" cy="10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6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6572" y="438912"/>
            <a:ext cx="5724144" cy="1581912"/>
          </a:xfrm>
        </p:spPr>
        <p:txBody>
          <a:bodyPr tIns="0" rIns="0" bIns="0" anchor="b" anchorCtr="0"/>
          <a:lstStyle>
            <a:lvl1pPr algn="l">
              <a:defRPr sz="22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766572" y="2404872"/>
            <a:ext cx="5689736" cy="283464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>
            <p:custDataLst>
              <p:tags r:id="rId2"/>
            </p:custDataLst>
          </p:nvPr>
        </p:nvCxnSpPr>
        <p:spPr>
          <a:xfrm>
            <a:off x="774725" y="2199780"/>
            <a:ext cx="56739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11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_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DA67EB-C05C-B0E7-6D0A-63E5D3D5A320}"/>
              </a:ext>
            </a:extLst>
          </p:cNvPr>
          <p:cNvSpPr/>
          <p:nvPr/>
        </p:nvSpPr>
        <p:spPr>
          <a:xfrm>
            <a:off x="0" y="-1"/>
            <a:ext cx="3044952" cy="1335024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F88748-AF38-092E-3E1B-38E5037EA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876" y="217805"/>
            <a:ext cx="1984248" cy="8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4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728FD6-2F3F-4E1D-20F0-3855A12B291B}"/>
              </a:ext>
            </a:extLst>
          </p:cNvPr>
          <p:cNvSpPr/>
          <p:nvPr/>
        </p:nvSpPr>
        <p:spPr>
          <a:xfrm>
            <a:off x="2928530" y="1188602"/>
            <a:ext cx="6215470" cy="1691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err="1">
              <a:solidFill>
                <a:schemeClr val="tx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C5FCFB-FB73-CD55-5ABC-8638625B478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4996"/>
          <a:stretch/>
        </p:blipFill>
        <p:spPr>
          <a:xfrm flipH="1">
            <a:off x="5867400" y="5003869"/>
            <a:ext cx="3276600" cy="18541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0" y="3285545"/>
            <a:ext cx="5486400" cy="3320399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100" dirty="0" smtClean="0">
                <a:solidFill>
                  <a:schemeClr val="tx1"/>
                </a:solidFill>
              </a:defRPr>
            </a:lvl1pPr>
            <a:lvl2pPr>
              <a:buClrTx/>
              <a:defRPr lang="en-US" sz="1100" dirty="0" smtClean="0">
                <a:solidFill>
                  <a:schemeClr val="tx1"/>
                </a:solidFill>
              </a:defRPr>
            </a:lvl2pPr>
            <a:lvl3pPr>
              <a:buClrTx/>
              <a:defRPr lang="en-US" sz="1100" dirty="0" smtClean="0">
                <a:solidFill>
                  <a:schemeClr val="tx1"/>
                </a:solidFill>
              </a:defRPr>
            </a:lvl3pPr>
            <a:lvl4pPr>
              <a:buClrTx/>
              <a:defRPr lang="en-US" sz="1100" dirty="0" smtClean="0">
                <a:solidFill>
                  <a:schemeClr val="tx1"/>
                </a:solidFill>
              </a:defRPr>
            </a:lvl4pPr>
            <a:lvl5pPr>
              <a:buClrTx/>
              <a:defRPr lang="en-US" sz="11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8" name="Title 57"/>
          <p:cNvSpPr>
            <a:spLocks noGrp="1"/>
          </p:cNvSpPr>
          <p:nvPr>
            <p:ph type="title" hasCustomPrompt="1"/>
          </p:nvPr>
        </p:nvSpPr>
        <p:spPr>
          <a:xfrm>
            <a:off x="3394075" y="1257272"/>
            <a:ext cx="5368924" cy="56215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94075" y="1860962"/>
            <a:ext cx="5368924" cy="501238"/>
          </a:xfrm>
        </p:spPr>
        <p:txBody>
          <a:bodyPr>
            <a:noAutofit/>
          </a:bodyPr>
          <a:lstStyle>
            <a:lvl1pPr marL="0" indent="0">
              <a:lnSpc>
                <a:spcPct val="105000"/>
              </a:lnSpc>
              <a:spcAft>
                <a:spcPts val="0"/>
              </a:spcAft>
              <a:buNone/>
              <a:defRPr sz="1300" b="1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Aft>
                <a:spcPts val="0"/>
              </a:spcAft>
              <a:buNone/>
              <a:defRPr sz="1300" b="0" cap="all" baseline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 dirty="0"/>
              <a:t>Primary Role</a:t>
            </a:r>
          </a:p>
          <a:p>
            <a:pPr lvl="1"/>
            <a:r>
              <a:rPr lang="en-US" dirty="0"/>
              <a:t>Group or Office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4D28F-FBD0-02E9-AC83-D474BBED0CB4}"/>
              </a:ext>
            </a:extLst>
          </p:cNvPr>
          <p:cNvSpPr/>
          <p:nvPr/>
        </p:nvSpPr>
        <p:spPr>
          <a:xfrm>
            <a:off x="0" y="1188602"/>
            <a:ext cx="1046398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err="1">
              <a:solidFill>
                <a:schemeClr val="tx1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50C8202-8F74-2924-34B5-4B1481E6F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D8C699-CF06-FD34-31F8-9259C341F7C8}"/>
              </a:ext>
            </a:extLst>
          </p:cNvPr>
          <p:cNvCxnSpPr>
            <a:cxnSpLocks/>
          </p:cNvCxnSpPr>
          <p:nvPr/>
        </p:nvCxnSpPr>
        <p:spPr>
          <a:xfrm>
            <a:off x="228600" y="6572797"/>
            <a:ext cx="150114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37A7F6A-1AC6-632C-873F-87D2ADD1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8" y="6626803"/>
            <a:ext cx="1088434" cy="1854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67B6D7-B70B-6955-3792-EE9BD952417F}"/>
              </a:ext>
            </a:extLst>
          </p:cNvPr>
          <p:cNvCxnSpPr>
            <a:cxnSpLocks/>
          </p:cNvCxnSpPr>
          <p:nvPr/>
        </p:nvCxnSpPr>
        <p:spPr>
          <a:xfrm>
            <a:off x="519699" y="6605945"/>
            <a:ext cx="0" cy="206337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94F1CB-78F6-BE01-43AB-9F391D64BE09}"/>
              </a:ext>
            </a:extLst>
          </p:cNvPr>
          <p:cNvSpPr txBox="1"/>
          <p:nvPr/>
        </p:nvSpPr>
        <p:spPr>
          <a:xfrm>
            <a:off x="1598058" y="3299834"/>
            <a:ext cx="122950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lvl="0" algn="r"/>
            <a:r>
              <a:rPr lang="en-US" sz="1000" b="1" kern="1200" spc="1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QUALIFICATIONS</a:t>
            </a:r>
          </a:p>
        </p:txBody>
      </p:sp>
    </p:spTree>
    <p:extLst>
      <p:ext uri="{BB962C8B-B14F-4D97-AF65-F5344CB8AC3E}">
        <p14:creationId xmlns:p14="http://schemas.microsoft.com/office/powerpoint/2010/main" val="171931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3548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908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7CC17-D37E-BDEC-935F-C3D3950B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BE0CFC2-5E19-470E-2B63-8FED66D2A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5852160" cy="4800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228A951-9461-5506-B323-B16B5C803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4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5852160" cy="452628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D2691EF-A53C-C846-79C9-E47DEBAF3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3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6400800" cy="4800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4D5EC5B-D34D-EF90-121A-F9296D605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8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411480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280160"/>
            <a:ext cx="411480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8CDB2-F5FA-B6B9-0B02-DA27ECEC1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4114800" cy="452628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554480"/>
            <a:ext cx="4114800" cy="452628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4B34A95-7314-A4FC-D826-E373A5B0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5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5897880" y="1280160"/>
            <a:ext cx="301752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301752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1D9A41C-26B2-27BB-CA27-980E069AE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1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585216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3931920"/>
            <a:ext cx="585216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63D4F69-49C5-97C5-2A5D-290826247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6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585216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4023360"/>
            <a:ext cx="585216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DE95835-E1F0-853E-E2CE-05F99D5E2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4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6400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514600" y="3931920"/>
            <a:ext cx="6400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3409A97-1FFC-1428-59C8-325E422EF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30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28016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393192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4800600" y="393192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991CC7B-2E94-1B0F-E1B4-064322FD8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5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55448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402336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4800600" y="402336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47CD7CD-310D-068D-F3C5-5EE8F50A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05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5897880" y="128016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514600" y="393192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5897880" y="393192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ECFC77A-0689-575B-D670-2B9445156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51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6070-FE35-CDF7-C205-C4FC09A71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B2AC0-9514-FFFA-3AE3-67832DFC1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EF5080E-69E4-582A-D201-90AD2B4D7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21080"/>
            <a:ext cx="8686800" cy="5074920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1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81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926714-CC3F-8D87-9D1F-F3DB8C244F94}"/>
              </a:ext>
            </a:extLst>
          </p:cNvPr>
          <p:cNvSpPr/>
          <p:nvPr/>
        </p:nvSpPr>
        <p:spPr>
          <a:xfrm>
            <a:off x="0" y="-1"/>
            <a:ext cx="3044952" cy="267140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CAA4D3A-A561-A3C3-0189-D177AD1AE83E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1010738" y="1331649"/>
            <a:ext cx="8133261" cy="55263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A81ACD-1C1D-67B8-6162-8C703906709A}"/>
              </a:ext>
            </a:extLst>
          </p:cNvPr>
          <p:cNvCxnSpPr/>
          <p:nvPr/>
        </p:nvCxnSpPr>
        <p:spPr>
          <a:xfrm flipV="1">
            <a:off x="6102045" y="5522976"/>
            <a:ext cx="0" cy="1335024"/>
          </a:xfrm>
          <a:prstGeom prst="straightConnector1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7FCD07F-B1C1-4F0F-EDF2-F240BDEB947D}"/>
              </a:ext>
            </a:extLst>
          </p:cNvPr>
          <p:cNvSpPr/>
          <p:nvPr/>
        </p:nvSpPr>
        <p:spPr>
          <a:xfrm>
            <a:off x="6235815" y="5486400"/>
            <a:ext cx="2441448" cy="1125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CORPORATE FINANCE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FINANCIAL RESTRUCTURING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FINANCIAL AND VALUATION ADVISORY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endParaRPr kumimoji="0" lang="en-US" sz="10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HL.com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A3B9C3-D5AA-0AB0-815C-F77426821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8256" y="1728216"/>
            <a:ext cx="2395728" cy="10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3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tags" Target="../tags/tag1.xml"/><Relationship Id="rId23" Type="http://schemas.openxmlformats.org/officeDocument/2006/relationships/tags" Target="../tags/tag2.xml"/><Relationship Id="rId24" Type="http://schemas.openxmlformats.org/officeDocument/2006/relationships/oleObject" Target="../embeddings/oleObject1.bin"/><Relationship Id="rId25" Type="http://schemas.openxmlformats.org/officeDocument/2006/relationships/image" Target="../media/image1.emf"/><Relationship Id="rId26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174775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270" imgH="270" progId="TCLayout.ActiveDocument.1">
                  <p:embed/>
                </p:oleObj>
              </mc:Choice>
              <mc:Fallback>
                <p:oleObj name="think-cell Slide" r:id="rId2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id" hidden="1"/>
          <p:cNvGrpSpPr/>
          <p:nvPr>
            <p:custDataLst>
              <p:tags r:id="rId23"/>
            </p:custDataLst>
          </p:nvPr>
        </p:nvGrpSpPr>
        <p:grpSpPr>
          <a:xfrm>
            <a:off x="-714726" y="-1858282"/>
            <a:ext cx="10573101" cy="10608018"/>
            <a:chOff x="-714726" y="-1858282"/>
            <a:chExt cx="10573101" cy="10608018"/>
          </a:xfrm>
        </p:grpSpPr>
        <p:sp>
          <p:nvSpPr>
            <p:cNvPr id="9" name="Line 5" hidden="1"/>
            <p:cNvSpPr>
              <a:spLocks noChangeShapeType="1"/>
            </p:cNvSpPr>
            <p:nvPr/>
          </p:nvSpPr>
          <p:spPr bwMode="auto">
            <a:xfrm>
              <a:off x="279062" y="1523284"/>
              <a:ext cx="8617756" cy="0"/>
            </a:xfrm>
            <a:prstGeom prst="line">
              <a:avLst/>
            </a:prstGeom>
            <a:noFill/>
            <a:ln w="11113" cap="flat">
              <a:solidFill>
                <a:srgbClr val="DCD5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7" hidden="1"/>
            <p:cNvSpPr>
              <a:spLocks noChangeShapeType="1"/>
            </p:cNvSpPr>
            <p:nvPr/>
          </p:nvSpPr>
          <p:spPr bwMode="auto">
            <a:xfrm flipH="1">
              <a:off x="-714726" y="50800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8" hidden="1"/>
            <p:cNvSpPr>
              <a:spLocks noChangeShapeType="1"/>
            </p:cNvSpPr>
            <p:nvPr/>
          </p:nvSpPr>
          <p:spPr bwMode="auto">
            <a:xfrm flipH="1">
              <a:off x="-714726" y="76182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9" hidden="1"/>
            <p:cNvSpPr>
              <a:spLocks noChangeShapeType="1"/>
            </p:cNvSpPr>
            <p:nvPr/>
          </p:nvSpPr>
          <p:spPr bwMode="auto">
            <a:xfrm flipH="1">
              <a:off x="-714726" y="101564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0" hidden="1"/>
            <p:cNvSpPr>
              <a:spLocks noChangeShapeType="1"/>
            </p:cNvSpPr>
            <p:nvPr/>
          </p:nvSpPr>
          <p:spPr bwMode="auto">
            <a:xfrm flipH="1">
              <a:off x="-714726" y="126946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 hidden="1"/>
            <p:cNvSpPr>
              <a:spLocks noChangeShapeType="1"/>
            </p:cNvSpPr>
            <p:nvPr/>
          </p:nvSpPr>
          <p:spPr bwMode="auto">
            <a:xfrm flipH="1">
              <a:off x="-714726" y="152328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 hidden="1"/>
            <p:cNvSpPr>
              <a:spLocks noChangeShapeType="1"/>
            </p:cNvSpPr>
            <p:nvPr/>
          </p:nvSpPr>
          <p:spPr bwMode="auto">
            <a:xfrm flipH="1">
              <a:off x="-714726" y="177710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 hidden="1"/>
            <p:cNvSpPr>
              <a:spLocks noChangeShapeType="1"/>
            </p:cNvSpPr>
            <p:nvPr/>
          </p:nvSpPr>
          <p:spPr bwMode="auto">
            <a:xfrm flipH="1">
              <a:off x="-714726" y="20309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 hidden="1"/>
            <p:cNvSpPr>
              <a:spLocks noChangeShapeType="1"/>
            </p:cNvSpPr>
            <p:nvPr/>
          </p:nvSpPr>
          <p:spPr bwMode="auto">
            <a:xfrm flipH="1">
              <a:off x="-714726" y="253990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 hidden="1"/>
            <p:cNvSpPr>
              <a:spLocks noChangeShapeType="1"/>
            </p:cNvSpPr>
            <p:nvPr/>
          </p:nvSpPr>
          <p:spPr bwMode="auto">
            <a:xfrm flipH="1">
              <a:off x="-714726" y="27937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 hidden="1"/>
            <p:cNvSpPr>
              <a:spLocks noChangeShapeType="1"/>
            </p:cNvSpPr>
            <p:nvPr/>
          </p:nvSpPr>
          <p:spPr bwMode="auto">
            <a:xfrm flipH="1">
              <a:off x="-714726" y="304754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 hidden="1"/>
            <p:cNvSpPr>
              <a:spLocks noChangeShapeType="1"/>
            </p:cNvSpPr>
            <p:nvPr/>
          </p:nvSpPr>
          <p:spPr bwMode="auto">
            <a:xfrm flipH="1">
              <a:off x="-714726" y="330135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8" hidden="1"/>
            <p:cNvSpPr>
              <a:spLocks noChangeShapeType="1"/>
            </p:cNvSpPr>
            <p:nvPr/>
          </p:nvSpPr>
          <p:spPr bwMode="auto">
            <a:xfrm flipH="1">
              <a:off x="-714726" y="355517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9" hidden="1"/>
            <p:cNvSpPr>
              <a:spLocks noChangeShapeType="1"/>
            </p:cNvSpPr>
            <p:nvPr/>
          </p:nvSpPr>
          <p:spPr bwMode="auto">
            <a:xfrm flipH="1">
              <a:off x="-714726" y="380899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0" hidden="1"/>
            <p:cNvSpPr>
              <a:spLocks noChangeShapeType="1"/>
            </p:cNvSpPr>
            <p:nvPr/>
          </p:nvSpPr>
          <p:spPr bwMode="auto">
            <a:xfrm flipH="1">
              <a:off x="-714726" y="406281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1" hidden="1"/>
            <p:cNvSpPr>
              <a:spLocks noChangeShapeType="1"/>
            </p:cNvSpPr>
            <p:nvPr/>
          </p:nvSpPr>
          <p:spPr bwMode="auto">
            <a:xfrm flipH="1">
              <a:off x="-714726" y="43166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" hidden="1"/>
            <p:cNvSpPr>
              <a:spLocks noChangeShapeType="1"/>
            </p:cNvSpPr>
            <p:nvPr/>
          </p:nvSpPr>
          <p:spPr bwMode="auto">
            <a:xfrm flipH="1">
              <a:off x="-714726" y="482561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 hidden="1"/>
            <p:cNvSpPr>
              <a:spLocks noChangeShapeType="1"/>
            </p:cNvSpPr>
            <p:nvPr/>
          </p:nvSpPr>
          <p:spPr bwMode="auto">
            <a:xfrm flipH="1">
              <a:off x="-714726" y="50794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 hidden="1"/>
            <p:cNvSpPr>
              <a:spLocks noChangeShapeType="1"/>
            </p:cNvSpPr>
            <p:nvPr/>
          </p:nvSpPr>
          <p:spPr bwMode="auto">
            <a:xfrm flipH="1">
              <a:off x="-714726" y="533325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 hidden="1"/>
            <p:cNvSpPr>
              <a:spLocks noChangeShapeType="1"/>
            </p:cNvSpPr>
            <p:nvPr/>
          </p:nvSpPr>
          <p:spPr bwMode="auto">
            <a:xfrm flipH="1">
              <a:off x="-714726" y="558707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6" hidden="1"/>
            <p:cNvSpPr>
              <a:spLocks noChangeShapeType="1"/>
            </p:cNvSpPr>
            <p:nvPr/>
          </p:nvSpPr>
          <p:spPr bwMode="auto">
            <a:xfrm flipH="1">
              <a:off x="-714726" y="584089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7" hidden="1"/>
            <p:cNvSpPr>
              <a:spLocks noChangeShapeType="1"/>
            </p:cNvSpPr>
            <p:nvPr/>
          </p:nvSpPr>
          <p:spPr bwMode="auto">
            <a:xfrm flipH="1">
              <a:off x="-714726" y="609471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8" hidden="1"/>
            <p:cNvSpPr>
              <a:spLocks noChangeShapeType="1"/>
            </p:cNvSpPr>
            <p:nvPr/>
          </p:nvSpPr>
          <p:spPr bwMode="auto">
            <a:xfrm flipH="1">
              <a:off x="-714726" y="634852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9" hidden="1"/>
            <p:cNvSpPr>
              <a:spLocks noChangeShapeType="1"/>
            </p:cNvSpPr>
            <p:nvPr/>
          </p:nvSpPr>
          <p:spPr bwMode="auto">
            <a:xfrm flipV="1">
              <a:off x="761184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0" hidden="1"/>
            <p:cNvSpPr>
              <a:spLocks noChangeShapeType="1"/>
            </p:cNvSpPr>
            <p:nvPr/>
          </p:nvSpPr>
          <p:spPr bwMode="auto">
            <a:xfrm flipV="1">
              <a:off x="152398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1" hidden="1"/>
            <p:cNvSpPr>
              <a:spLocks noChangeShapeType="1"/>
            </p:cNvSpPr>
            <p:nvPr/>
          </p:nvSpPr>
          <p:spPr bwMode="auto">
            <a:xfrm flipV="1">
              <a:off x="3048240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2" hidden="1"/>
            <p:cNvSpPr>
              <a:spLocks noChangeShapeType="1"/>
            </p:cNvSpPr>
            <p:nvPr/>
          </p:nvSpPr>
          <p:spPr bwMode="auto">
            <a:xfrm flipV="1">
              <a:off x="380969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33" hidden="1"/>
            <p:cNvSpPr>
              <a:spLocks noChangeShapeType="1"/>
            </p:cNvSpPr>
            <p:nvPr/>
          </p:nvSpPr>
          <p:spPr bwMode="auto">
            <a:xfrm flipV="1">
              <a:off x="533395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4" hidden="1"/>
            <p:cNvSpPr>
              <a:spLocks noChangeShapeType="1"/>
            </p:cNvSpPr>
            <p:nvPr/>
          </p:nvSpPr>
          <p:spPr bwMode="auto">
            <a:xfrm flipV="1">
              <a:off x="6095409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5" hidden="1"/>
            <p:cNvSpPr>
              <a:spLocks noChangeShapeType="1"/>
            </p:cNvSpPr>
            <p:nvPr/>
          </p:nvSpPr>
          <p:spPr bwMode="auto">
            <a:xfrm flipV="1">
              <a:off x="761966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6" hidden="1"/>
            <p:cNvSpPr>
              <a:spLocks noChangeShapeType="1"/>
            </p:cNvSpPr>
            <p:nvPr/>
          </p:nvSpPr>
          <p:spPr bwMode="auto">
            <a:xfrm flipV="1">
              <a:off x="8382465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 hidden="1"/>
            <p:cNvSpPr>
              <a:spLocks/>
            </p:cNvSpPr>
            <p:nvPr/>
          </p:nvSpPr>
          <p:spPr bwMode="auto">
            <a:xfrm>
              <a:off x="-273" y="2291455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 hidden="1"/>
            <p:cNvSpPr>
              <a:spLocks/>
            </p:cNvSpPr>
            <p:nvPr/>
          </p:nvSpPr>
          <p:spPr bwMode="auto">
            <a:xfrm>
              <a:off x="-273" y="4577168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 hidden="1"/>
            <p:cNvSpPr>
              <a:spLocks/>
            </p:cNvSpPr>
            <p:nvPr/>
          </p:nvSpPr>
          <p:spPr bwMode="auto">
            <a:xfrm>
              <a:off x="2280068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" hidden="1"/>
            <p:cNvSpPr>
              <a:spLocks/>
            </p:cNvSpPr>
            <p:nvPr/>
          </p:nvSpPr>
          <p:spPr bwMode="auto">
            <a:xfrm>
              <a:off x="4565781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5" hidden="1"/>
            <p:cNvSpPr>
              <a:spLocks/>
            </p:cNvSpPr>
            <p:nvPr/>
          </p:nvSpPr>
          <p:spPr bwMode="auto">
            <a:xfrm>
              <a:off x="6851494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5" name="Group 44" hidden="1"/>
            <p:cNvGrpSpPr/>
            <p:nvPr/>
          </p:nvGrpSpPr>
          <p:grpSpPr>
            <a:xfrm>
              <a:off x="-257908" y="2291455"/>
              <a:ext cx="9703057" cy="2285713"/>
              <a:chOff x="-1435894" y="2293837"/>
              <a:chExt cx="11291583" cy="2285713"/>
            </a:xfrm>
          </p:grpSpPr>
          <p:sp>
            <p:nvSpPr>
              <p:cNvPr id="54" name="Line 38" hidden="1"/>
              <p:cNvSpPr>
                <a:spLocks noChangeShapeType="1"/>
              </p:cNvSpPr>
              <p:nvPr/>
            </p:nvSpPr>
            <p:spPr bwMode="auto">
              <a:xfrm>
                <a:off x="-1435894" y="2293837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Line 40" hidden="1"/>
              <p:cNvSpPr>
                <a:spLocks noChangeShapeType="1"/>
              </p:cNvSpPr>
              <p:nvPr/>
            </p:nvSpPr>
            <p:spPr bwMode="auto">
              <a:xfrm>
                <a:off x="-1435894" y="4579550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6" name="Group 45" hidden="1"/>
            <p:cNvGrpSpPr/>
            <p:nvPr/>
          </p:nvGrpSpPr>
          <p:grpSpPr>
            <a:xfrm>
              <a:off x="2280068" y="-375658"/>
              <a:ext cx="4571426" cy="7722004"/>
              <a:chOff x="2280068" y="-1991539"/>
              <a:chExt cx="4571426" cy="10958530"/>
            </a:xfrm>
          </p:grpSpPr>
          <p:sp>
            <p:nvSpPr>
              <p:cNvPr id="51" name="Line 42" hidden="1"/>
              <p:cNvSpPr>
                <a:spLocks noChangeShapeType="1"/>
              </p:cNvSpPr>
              <p:nvPr/>
            </p:nvSpPr>
            <p:spPr bwMode="auto">
              <a:xfrm>
                <a:off x="2280068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Line 44" hidden="1"/>
              <p:cNvSpPr>
                <a:spLocks noChangeShapeType="1"/>
              </p:cNvSpPr>
              <p:nvPr/>
            </p:nvSpPr>
            <p:spPr bwMode="auto">
              <a:xfrm>
                <a:off x="4565781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Line 46" hidden="1"/>
              <p:cNvSpPr>
                <a:spLocks noChangeShapeType="1"/>
              </p:cNvSpPr>
              <p:nvPr/>
            </p:nvSpPr>
            <p:spPr bwMode="auto">
              <a:xfrm>
                <a:off x="6851494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7" name="Rectangle 47"/>
            <p:cNvSpPr>
              <a:spLocks noChangeArrowheads="1"/>
            </p:cNvSpPr>
            <p:nvPr/>
          </p:nvSpPr>
          <p:spPr bwMode="auto">
            <a:xfrm>
              <a:off x="0" y="-973"/>
              <a:ext cx="228600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48"/>
            <p:cNvSpPr>
              <a:spLocks noChangeArrowheads="1"/>
            </p:cNvSpPr>
            <p:nvPr/>
          </p:nvSpPr>
          <p:spPr bwMode="auto">
            <a:xfrm>
              <a:off x="8915400" y="-973"/>
              <a:ext cx="228600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49"/>
            <p:cNvSpPr>
              <a:spLocks noChangeArrowheads="1"/>
            </p:cNvSpPr>
            <p:nvPr/>
          </p:nvSpPr>
          <p:spPr bwMode="auto">
            <a:xfrm>
              <a:off x="-273" y="0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50"/>
            <p:cNvSpPr>
              <a:spLocks noChangeArrowheads="1"/>
            </p:cNvSpPr>
            <p:nvPr/>
          </p:nvSpPr>
          <p:spPr bwMode="auto">
            <a:xfrm>
              <a:off x="-273" y="6604181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058846"/>
            <a:ext cx="8686800" cy="5029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100" dirty="0"/>
          </a:p>
        </p:txBody>
      </p:sp>
      <p:sp>
        <p:nvSpPr>
          <p:cNvPr id="5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6" name="Table 55" hidden="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9362"/>
              </p:ext>
            </p:extLst>
          </p:nvPr>
        </p:nvGraphicFramePr>
        <p:xfrm>
          <a:off x="0" y="579422"/>
          <a:ext cx="9146782" cy="5525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742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742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</a:tblGrid>
              <a:tr h="470780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7D4CCBF-7967-1BFA-E29B-A7B175929DD0}"/>
              </a:ext>
            </a:extLst>
          </p:cNvPr>
          <p:cNvCxnSpPr>
            <a:cxnSpLocks/>
          </p:cNvCxnSpPr>
          <p:nvPr/>
        </p:nvCxnSpPr>
        <p:spPr>
          <a:xfrm>
            <a:off x="228600" y="6572797"/>
            <a:ext cx="150114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D9DC170F-5C10-FAAE-F8BC-21455BBB571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8528" y="6626803"/>
            <a:ext cx="1088434" cy="185473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BD50ED-C5F0-E50F-0C14-54B536E682C0}"/>
              </a:ext>
            </a:extLst>
          </p:cNvPr>
          <p:cNvCxnSpPr>
            <a:cxnSpLocks/>
          </p:cNvCxnSpPr>
          <p:nvPr/>
        </p:nvCxnSpPr>
        <p:spPr>
          <a:xfrm>
            <a:off x="519699" y="6605945"/>
            <a:ext cx="0" cy="206337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56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SzPct val="100000"/>
        <a:buFont typeface="Wingdings 2" panose="05020102010507070707" pitchFamily="18" charset="2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egoe UI" panose="020B0502040204020203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egoe UI" panose="020B0502040204020203" pitchFamily="34" charset="0"/>
        <a:buChar char="·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594360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3232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832104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950976" indent="-112713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1">
          <p15:clr>
            <a:srgbClr val="F26B43"/>
          </p15:clr>
        </p15:guide>
        <p15:guide id="3" pos="1446">
          <p15:clr>
            <a:srgbClr val="F26B43"/>
          </p15:clr>
        </p15:guide>
        <p15:guide id="4" pos="2880">
          <p15:clr>
            <a:srgbClr val="F26B43"/>
          </p15:clr>
        </p15:guide>
        <p15:guide id="5" pos="4313">
          <p15:clr>
            <a:srgbClr val="F26B43"/>
          </p15:clr>
        </p15:guide>
        <p15:guide id="6" orient="horz" pos="4061">
          <p15:clr>
            <a:srgbClr val="F26B43"/>
          </p15:clr>
        </p15:guide>
        <p15:guide id="7" pos="144">
          <p15:clr>
            <a:srgbClr val="F26B43"/>
          </p15:clr>
        </p15:guide>
        <p15:guide id="8" pos="5616">
          <p15:clr>
            <a:srgbClr val="F26B43"/>
          </p15:clr>
        </p15:guide>
        <p15:guide id="9" orient="horz" pos="156">
          <p15:clr>
            <a:srgbClr val="F26B43"/>
          </p15:clr>
        </p15:guide>
        <p15:guide id="10" orient="horz" pos="4140">
          <p15:clr>
            <a:srgbClr val="F26B43"/>
          </p15:clr>
        </p15:guide>
        <p15:guide id="11" orient="horz" pos="508">
          <p15:clr>
            <a:srgbClr val="F26B43"/>
          </p15:clr>
        </p15:guide>
        <p15:guide id="12" orient="horz" pos="2886">
          <p15:clr>
            <a:srgbClr val="F26B43"/>
          </p15:clr>
        </p15:guide>
        <p15:guide id="13" orient="horz" pos="1443">
          <p15:clr>
            <a:srgbClr val="F26B43"/>
          </p15:clr>
        </p15:guide>
        <p15:guide id="14" orient="horz" pos="3840">
          <p15:clr>
            <a:srgbClr val="F26B43"/>
          </p15:clr>
        </p15:guide>
        <p15:guide id="15" orient="horz" pos="216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urities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27732"/>
            <a:ext cx="146304" cy="146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496" y="2423160"/>
            <a:ext cx="20665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Securities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" y="2574036"/>
            <a:ext cx="2066543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Cross-asset instrument mastering, ESG-enabled</a:t>
            </a:r>
          </a:p>
        </p:txBody>
      </p:sp>
      <p:pic>
        <p:nvPicPr>
          <p:cNvPr id="5" name="Picture 4" descr="price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30068"/>
            <a:ext cx="146304" cy="14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" y="2825496"/>
            <a:ext cx="20665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Price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976372"/>
            <a:ext cx="2066543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Rule-based multi-vendor pricing and valuation</a:t>
            </a:r>
          </a:p>
        </p:txBody>
      </p:sp>
      <p:pic>
        <p:nvPicPr>
          <p:cNvPr id="8" name="Picture 7" descr="om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32404"/>
            <a:ext cx="146304" cy="146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" y="3227832"/>
            <a:ext cx="20665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OMNI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378708"/>
            <a:ext cx="2066543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Snowflake Native App; runs in the client’s own account</a:t>
            </a:r>
          </a:p>
        </p:txBody>
      </p:sp>
      <p:pic>
        <p:nvPicPr>
          <p:cNvPr id="11" name="Picture 10" descr="ib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34740"/>
            <a:ext cx="146304" cy="1463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" y="3630168"/>
            <a:ext cx="20665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IBOR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781044"/>
            <a:ext cx="2066543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Real-time investment book of record</a:t>
            </a:r>
          </a:p>
        </p:txBody>
      </p:sp>
      <p:pic>
        <p:nvPicPr>
          <p:cNvPr id="14" name="Picture 13" descr="sc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037076"/>
            <a:ext cx="146304" cy="146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" y="4032504"/>
            <a:ext cx="2066543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Scout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4183380"/>
            <a:ext cx="2066543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AI layer on Amazon Bedrock,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8432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Bloomberg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51376" y="2675763"/>
            <a:ext cx="320040" cy="68008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88920" y="277863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LSEG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51376" y="2870073"/>
            <a:ext cx="320040" cy="48577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88920" y="297294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51376" y="3064383"/>
            <a:ext cx="320040" cy="29146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88920" y="316725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S&amp;P Global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51376" y="3258693"/>
            <a:ext cx="320040" cy="9715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88920" y="336156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MSCI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151376" y="3355848"/>
            <a:ext cx="320040" cy="9715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8920" y="355587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Moody’s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151376" y="3355848"/>
            <a:ext cx="320040" cy="29146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88920" y="375018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25766"/>
                </a:solidFill>
                <a:latin typeface="Segoe UI"/>
              </a:rPr>
              <a:t>SIX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151376" y="3355848"/>
            <a:ext cx="320040" cy="48577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88920" y="3944493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525766"/>
                </a:solidFill>
                <a:latin typeface="Segoe UI"/>
              </a:rPr>
              <a:t>and 100+ more sources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151376" y="3355848"/>
            <a:ext cx="320040" cy="680085"/>
          </a:xfrm>
          <a:prstGeom prst="line">
            <a:avLst/>
          </a:prstGeom>
          <a:ln w="9525">
            <a:solidFill>
              <a:srgbClr val="BCBF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471416" y="3345789"/>
            <a:ext cx="3529583" cy="20116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08752" y="3287268"/>
            <a:ext cx="137160" cy="137160"/>
          </a:xfrm>
          <a:prstGeom prst="ellipse">
            <a:avLst/>
          </a:prstGeom>
          <a:solidFill>
            <a:srgbClr val="00285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4392" y="350215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2855"/>
                </a:solidFill>
                <a:latin typeface="Segoe UI Semibold"/>
              </a:rPr>
              <a:t>CONNECT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4392" y="3666744"/>
            <a:ext cx="13258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Adaptors and 100+ pre-built vendor feeds</a:t>
            </a:r>
          </a:p>
        </p:txBody>
      </p:sp>
      <p:sp>
        <p:nvSpPr>
          <p:cNvPr id="37" name="Oval 36"/>
          <p:cNvSpPr/>
          <p:nvPr/>
        </p:nvSpPr>
        <p:spPr>
          <a:xfrm>
            <a:off x="6325819" y="3268979"/>
            <a:ext cx="173736" cy="173736"/>
          </a:xfrm>
          <a:prstGeom prst="ellipse">
            <a:avLst/>
          </a:prstGeom>
          <a:solidFill>
            <a:srgbClr val="00285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49747" y="350215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2855"/>
                </a:solidFill>
                <a:latin typeface="Segoe UI Semibold"/>
              </a:rPr>
              <a:t>MASTER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9747" y="3666744"/>
            <a:ext cx="13258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Securities, entity, price, corporate actions and ESG resolved into one record</a:t>
            </a:r>
          </a:p>
        </p:txBody>
      </p:sp>
      <p:sp>
        <p:nvSpPr>
          <p:cNvPr id="40" name="Oval 39"/>
          <p:cNvSpPr/>
          <p:nvPr/>
        </p:nvSpPr>
        <p:spPr>
          <a:xfrm>
            <a:off x="7877556" y="3232404"/>
            <a:ext cx="246888" cy="246888"/>
          </a:xfrm>
          <a:prstGeom prst="ellipse">
            <a:avLst/>
          </a:prstGeom>
          <a:solidFill>
            <a:srgbClr val="00285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14616" y="3502152"/>
            <a:ext cx="15727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GOLDEN COPY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4616" y="3666744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25766"/>
                </a:solidFill>
                <a:latin typeface="Segoe UI"/>
              </a:rPr>
              <a:t>One verified, governed record, shipped through the Data Warehouse, OMNI into Snowflake, real-time IBOR and APIs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61127" y="2514600"/>
            <a:ext cx="210312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B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4279" y="2514600"/>
            <a:ext cx="19568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24B1B1"/>
                </a:solidFill>
                <a:latin typeface="Segoe UI Semibold"/>
              </a:rPr>
              <a:t>SCOUT   ·   AI reasoning layer on Amazon Bedrock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12687" y="2734056"/>
            <a:ext cx="0" cy="521208"/>
          </a:xfrm>
          <a:prstGeom prst="line">
            <a:avLst/>
          </a:prstGeom>
          <a:ln w="12700">
            <a:solidFill>
              <a:srgbClr val="24B1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471416" y="4251959"/>
            <a:ext cx="3529583" cy="10058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4274820"/>
            <a:ext cx="3529583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2855"/>
                </a:solidFill>
                <a:latin typeface="Segoe UI Semibold"/>
              </a:rPr>
              <a:t>GOLDENSOURCE PLATFORM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_BANNER" val="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HAPTER_SUBTITLE" val="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_LINE" val="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_BANNER" val="Y"/>
</p:tagLst>
</file>

<file path=ppt/theme/theme1.xml><?xml version="1.0" encoding="utf-8"?>
<a:theme xmlns:a="http://schemas.openxmlformats.org/drawingml/2006/main" name="PowerPresent">
  <a:themeElements>
    <a:clrScheme name="HL Refresh 2023">
      <a:dk1>
        <a:srgbClr val="525766"/>
      </a:dk1>
      <a:lt1>
        <a:sysClr val="window" lastClr="FFFFFF"/>
      </a:lt1>
      <a:dk2>
        <a:srgbClr val="002855"/>
      </a:dk2>
      <a:lt2>
        <a:srgbClr val="0067A5"/>
      </a:lt2>
      <a:accent1>
        <a:srgbClr val="508BC9"/>
      </a:accent1>
      <a:accent2>
        <a:srgbClr val="BCBFC6"/>
      </a:accent2>
      <a:accent3>
        <a:srgbClr val="7E8597"/>
      </a:accent3>
      <a:accent4>
        <a:srgbClr val="24B1B1"/>
      </a:accent4>
      <a:accent5>
        <a:srgbClr val="6C1E36"/>
      </a:accent5>
      <a:accent6>
        <a:srgbClr val="9FC3DA"/>
      </a:accent6>
      <a:hlink>
        <a:srgbClr val="0067A5"/>
      </a:hlink>
      <a:folHlink>
        <a:srgbClr val="7CACC6"/>
      </a:folHlink>
    </a:clrScheme>
    <a:fontScheme name="Present 201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 w="6350">
          <a:solidFill>
            <a:schemeClr val="accent2">
              <a:lumMod val="75000"/>
            </a:schemeClr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1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100" b="0" i="0" u="none" strike="noStrike" kern="0" cap="none" spc="0" normalizeH="0" baseline="0" noProof="0" smtClean="0">
            <a:ln>
              <a:noFill/>
            </a:ln>
            <a:solidFill>
              <a:srgbClr val="BCBFC6">
                <a:lumMod val="75000"/>
              </a:srgbClr>
            </a:solidFill>
            <a:effectLst/>
            <a:uLnTx/>
            <a:uFillTx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4000"/>
          </a:lnSpc>
          <a:spcAft>
            <a:spcPts val="600"/>
          </a:spcAft>
          <a:buSzPct val="100000"/>
          <a:defRPr sz="1000" dirty="0" err="1" smtClean="0"/>
        </a:defPPr>
      </a:lstStyle>
    </a:txDef>
  </a:objectDefaults>
  <a:extraClrSchemeLst/>
  <a:custClrLst>
    <a:custClr name="Metalic Seaweed">
      <a:srgbClr val="1F808F"/>
    </a:custClr>
    <a:custClr name="Rust">
      <a:srgbClr val="B54E15"/>
    </a:custClr>
    <a:custClr name="English Lavender">
      <a:srgbClr val="B58D9A"/>
    </a:custClr>
    <a:custClr name="Swiss Coffee">
      <a:srgbClr val="D2C0B2"/>
    </a:custClr>
    <a:custClr name="Maize">
      <a:srgbClr val="E6C25B"/>
    </a:custClr>
    <a:custClr name="Metalic Sunburst">
      <a:srgbClr val="8C7337"/>
    </a:custClr>
    <a:custClr name="Maximum Green">
      <a:srgbClr val="508225"/>
    </a:custClr>
    <a:custClr name="Strikemaster">
      <a:srgbClr val="8E6C88"/>
    </a:custClr>
    <a:custClr name="Onyx">
      <a:srgbClr val="424142"/>
    </a:custClr>
    <a:custClr name="Oxford Blue">
      <a:srgbClr val="002855"/>
    </a:custClr>
    <a:custClr name="Custom Color 11">
      <a:srgbClr val="C7EDF3"/>
    </a:custClr>
    <a:custClr name="Custom Color 12">
      <a:srgbClr val="F8D9C7"/>
    </a:custClr>
    <a:custClr name="Custom Color 13">
      <a:srgbClr val="F0E8EA"/>
    </a:custClr>
    <a:custClr name="Custom Color 14">
      <a:srgbClr val="F6F2EF"/>
    </a:custClr>
    <a:custClr name="Custom Color 15">
      <a:srgbClr val="FAF2DE"/>
    </a:custClr>
    <a:custClr name="Custom Color 16">
      <a:srgbClr val="EDE5D1"/>
    </a:custClr>
    <a:custClr name="Custom Color 17">
      <a:srgbClr val="DBEFC9"/>
    </a:custClr>
    <a:custClr name="Custom Color 18">
      <a:srgbClr val="E8E1E7"/>
    </a:custClr>
    <a:custClr name="Custom Color 19">
      <a:srgbClr val="EAE9EA"/>
    </a:custClr>
    <a:custClr name="Custom Color 20">
      <a:srgbClr val="D4E8FF"/>
    </a:custClr>
    <a:custClr name="Custom Color 21">
      <a:srgbClr val="59C9DB"/>
    </a:custClr>
    <a:custClr name="Custom Color 22">
      <a:srgbClr val="EB8D59"/>
    </a:custClr>
    <a:custClr name="Custom Color 23">
      <a:srgbClr val="D2BAC2"/>
    </a:custClr>
    <a:custClr name="Custom Color 24">
      <a:srgbClr val="E3D9D0"/>
    </a:custClr>
    <a:custClr name="Custom Color 25">
      <a:srgbClr val="F0DA9C"/>
    </a:custClr>
    <a:custClr name="Custom Color 26">
      <a:srgbClr val="C9B177"/>
    </a:custClr>
    <a:custClr name="Custom Color 27">
      <a:srgbClr val="93D15E"/>
    </a:custClr>
    <a:custClr name="Custom Color 28">
      <a:srgbClr val="BBA6B7"/>
    </a:custClr>
    <a:custClr name="Custom Color 29">
      <a:srgbClr val="969496"/>
    </a:custClr>
    <a:custClr name="Custom Color 30">
      <a:srgbClr val="2A8EFE"/>
    </a:custClr>
    <a:custClr name="Custom Color 31">
      <a:srgbClr val="17606B"/>
    </a:custClr>
    <a:custClr name="Custom Color 32">
      <a:srgbClr val="873A0F"/>
    </a:custClr>
    <a:custClr name="Custom Color 33">
      <a:srgbClr val="925F6F"/>
    </a:custClr>
    <a:custClr name="Custom Color 34">
      <a:srgbClr val="AE8D74"/>
    </a:custClr>
    <a:custClr name="Custom Color 35">
      <a:srgbClr val="D0A31F"/>
    </a:custClr>
    <a:custClr name="Custom Color 36">
      <a:srgbClr val="614D1D"/>
    </a:custClr>
    <a:custClr name="Custom Color 37">
      <a:srgbClr val="3B611B"/>
    </a:custClr>
    <a:custClr name="Custom Color 38">
      <a:srgbClr val="6A5166"/>
    </a:custClr>
    <a:custClr name="Custom Color 39">
      <a:srgbClr val="615F61"/>
    </a:custClr>
    <a:custClr name="Custom Color 40">
      <a:srgbClr val="0059BF"/>
    </a:custClr>
    <a:custClr name="Custom Color 51">
      <a:srgbClr val="0F4047"/>
    </a:custClr>
    <a:custClr name="Custom Color 52">
      <a:srgbClr val="5A270A"/>
    </a:custClr>
    <a:custClr name="Custom Color 53">
      <a:srgbClr val="613F4A"/>
    </a:custClr>
    <a:custClr name="Custom Color 54">
      <a:srgbClr val="7A5D47"/>
    </a:custClr>
    <a:custClr name="Custom Color 55">
      <a:srgbClr val="8B6C15"/>
    </a:custClr>
    <a:custClr name="Custom Color 56">
      <a:srgbClr val="46391B"/>
    </a:custClr>
    <a:custClr name="Custom Color 57">
      <a:srgbClr val="274112"/>
    </a:custClr>
    <a:custClr name="Custom Color 58">
      <a:srgbClr val="473644"/>
    </a:custClr>
    <a:custClr name="Custom Color 59">
      <a:srgbClr val="413F41"/>
    </a:custClr>
    <a:custClr name="Custom Color 60">
      <a:srgbClr val="003C7F"/>
    </a:custClr>
  </a:custClrLst>
  <a:extLst>
    <a:ext uri="{05A4C25C-085E-4340-85A3-A5531E510DB2}">
      <thm15:themeFamily xmlns:thm15="http://schemas.microsoft.com/office/thememl/2012/main" name="Layouts.potx" id="{C2504081-24E1-415D-B095-15A927436BA8}" vid="{479493CE-5301-4313-898C-C7E8CBD732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Layouts</Template>
  <TotalTime>32</TotalTime>
  <Words>2</Words>
  <Application>Microsoft Office PowerPoint</Application>
  <PresentationFormat>Letter Paper (8.5x11 in)</PresentationFormat>
  <Paragraphs>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Segoe UI</vt:lpstr>
      <vt:lpstr>Segoe UI Semibold</vt:lpstr>
      <vt:lpstr>Symbol</vt:lpstr>
      <vt:lpstr>Wingdings 2</vt:lpstr>
      <vt:lpstr>PowerPresent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Carroll, Ryan</dc:creator>
  <cp:lastModifiedBy>Carroll, Ryan</cp:lastModifiedBy>
  <cp:revision>2</cp:revision>
  <dcterms:created xsi:type="dcterms:W3CDTF">2026-07-28T20:05:48Z</dcterms:created>
  <dcterms:modified xsi:type="dcterms:W3CDTF">2026-07-28T20:38:42Z</dcterms:modified>
</cp:coreProperties>
</file>