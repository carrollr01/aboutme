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media/icon901.svg" ContentType="image/svg+xml"/>
  <Override PartName="/ppt/media/icon902.svg" ContentType="image/svg+xml"/>
  <Override PartName="/ppt/media/icon903.svg" ContentType="image/svg+xml"/>
  <Override PartName="/ppt/media/icon904.svg" ContentType="image/svg+xml"/>
  <Override PartName="/ppt/media/icon905.svg" ContentType="image/svg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3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3" r:id="rId1"/>
  </p:sldMasterIdLst>
  <p:sldIdLst>
    <p:sldId id="259" r:id="rId2"/>
    <p:sldId id="258" r:id="rId3"/>
    <p:sldId id="649" r:id="rId4"/>
    <p:sldId id="257" r:id="rId5"/>
    <p:sldId id="648" r:id="rId6"/>
  </p:sldIdLst>
  <p:sldSz cx="9144000" cy="6858000" type="letter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A5"/>
    <a:srgbClr val="000000"/>
    <a:srgbClr val="E4E4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00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74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3.sv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svg"/><Relationship Id="rId3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6.svg"/><Relationship Id="rId4" Type="http://schemas.openxmlformats.org/officeDocument/2006/relationships/image" Target="../media/image7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">
    <p:bg>
      <p:bgPr>
        <a:blipFill dpi="0" rotWithShape="1">
          <a:blip>
            <a:lum contrast="-3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EE0168A-2989-1295-CF19-94D494291656}"/>
              </a:ext>
            </a:extLst>
          </p:cNvPr>
          <p:cNvSpPr/>
          <p:nvPr/>
        </p:nvSpPr>
        <p:spPr>
          <a:xfrm>
            <a:off x="12191" y="-1"/>
            <a:ext cx="5047250" cy="2671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E773212-06D7-5234-7492-E9EFE3A5D56B}"/>
              </a:ext>
            </a:extLst>
          </p:cNvPr>
          <p:cNvSpPr/>
          <p:nvPr/>
        </p:nvSpPr>
        <p:spPr>
          <a:xfrm>
            <a:off x="0" y="0"/>
            <a:ext cx="3044952" cy="2671405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E668351-DD66-6BDB-C68C-9E00B33166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0"/>
            <a:ext cx="3047999" cy="6858000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pic>
      <p:pic>
        <p:nvPicPr>
          <p:cNvPr id="6" name="Picture 5"/>
          <p:cNvPicPr>
            <a:picLocks/>
          </p:cNvPicPr>
          <p:nvPr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white">
          <a:xfrm>
            <a:off x="1010739" y="1331649"/>
            <a:ext cx="6099048" cy="41946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044951" y="4078224"/>
            <a:ext cx="3374136" cy="365760"/>
          </a:xfrm>
          <a:noFill/>
          <a:ln>
            <a:noFill/>
          </a:ln>
        </p:spPr>
        <p:txBody>
          <a:bodyPr wrap="square" lIns="0" tIns="182880" rIns="0" bIns="0">
            <a:spAutoFit/>
          </a:bodyPr>
          <a:lstStyle>
            <a:lvl1pPr>
              <a:defRPr sz="2400" b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044952" y="4791456"/>
            <a:ext cx="3374136" cy="257058"/>
          </a:xfrm>
        </p:spPr>
        <p:txBody>
          <a:bodyPr wrap="square">
            <a:spAutoFit/>
          </a:bodyPr>
          <a:lstStyle>
            <a:lvl1pPr marL="0" indent="0" algn="l">
              <a:buNone/>
              <a:defRPr sz="1600" b="0" cap="none" spc="0" baseline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1014984" y="557784"/>
            <a:ext cx="1737360" cy="21945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>
              <a:defRPr lang="en-US" sz="1400">
                <a:solidFill>
                  <a:schemeClr val="tx2"/>
                </a:solidFill>
              </a:defRPr>
            </a:lvl1pPr>
          </a:lstStyle>
          <a:p>
            <a:fld id="{6F840CD7-8D22-4AAF-BBD3-CC800D806532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1681D7-ADF0-712D-804F-64AA33B1A4C3}"/>
              </a:ext>
            </a:extLst>
          </p:cNvPr>
          <p:cNvSpPr txBox="1"/>
          <p:nvPr/>
        </p:nvSpPr>
        <p:spPr>
          <a:xfrm>
            <a:off x="1014984" y="6388628"/>
            <a:ext cx="2843784" cy="173736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>
              <a:buSzPct val="100000"/>
            </a:pPr>
            <a:r>
              <a:rPr lang="en-GB" sz="1100" dirty="0">
                <a:solidFill>
                  <a:schemeClr val="accent3"/>
                </a:solidFill>
              </a:rPr>
              <a:t>Strictly Confidential. Not for Distribution.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D5625E4-9E71-4871-1681-CBA75449C2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48256" y="1728216"/>
            <a:ext cx="2395728" cy="108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063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6572" y="438912"/>
            <a:ext cx="5724144" cy="1581912"/>
          </a:xfrm>
        </p:spPr>
        <p:txBody>
          <a:bodyPr tIns="0" rIns="0" bIns="0" anchor="b" anchorCtr="0"/>
          <a:lstStyle>
            <a:lvl1pPr algn="l">
              <a:defRPr sz="2200" b="1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766572" y="2404872"/>
            <a:ext cx="5689736" cy="283464"/>
          </a:xfrm>
        </p:spPr>
        <p:txBody>
          <a:bodyPr anchor="b"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7" name="Straight Connector 6"/>
          <p:cNvCxnSpPr/>
          <p:nvPr>
            <p:custDataLst>
              <p:tags r:id="rId2"/>
            </p:custDataLst>
          </p:nvPr>
        </p:nvCxnSpPr>
        <p:spPr>
          <a:xfrm>
            <a:off x="774725" y="2199780"/>
            <a:ext cx="5673963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1227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_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2DA67EB-C05C-B0E7-6D0A-63E5D3D5A320}"/>
              </a:ext>
            </a:extLst>
          </p:cNvPr>
          <p:cNvSpPr/>
          <p:nvPr/>
        </p:nvSpPr>
        <p:spPr>
          <a:xfrm>
            <a:off x="0" y="-1"/>
            <a:ext cx="3044952" cy="1335024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4F88748-AF38-092E-3E1B-38E5037EA6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1876" y="217805"/>
            <a:ext cx="1984248" cy="898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880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6728FD6-2F3F-4E1D-20F0-3855A12B291B}"/>
              </a:ext>
            </a:extLst>
          </p:cNvPr>
          <p:cNvSpPr/>
          <p:nvPr/>
        </p:nvSpPr>
        <p:spPr>
          <a:xfrm>
            <a:off x="2928530" y="1188602"/>
            <a:ext cx="6215470" cy="1691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  <a:spcAft>
                <a:spcPts val="600"/>
              </a:spcAft>
              <a:buClr>
                <a:schemeClr val="tx1"/>
              </a:buClr>
              <a:buSzPct val="100000"/>
            </a:pPr>
            <a:endParaRPr lang="en-GB" sz="1100" err="1">
              <a:solidFill>
                <a:schemeClr val="tx1"/>
              </a:solidFill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4C5FCFB-FB73-CD55-5ABC-8638625B4789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14996"/>
          <a:stretch/>
        </p:blipFill>
        <p:spPr>
          <a:xfrm flipH="1">
            <a:off x="5867400" y="5003869"/>
            <a:ext cx="3276600" cy="1854131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6600" y="3285545"/>
            <a:ext cx="5486400" cy="3320399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100" dirty="0" smtClean="0">
                <a:solidFill>
                  <a:schemeClr val="tx1"/>
                </a:solidFill>
              </a:defRPr>
            </a:lvl1pPr>
            <a:lvl2pPr>
              <a:buClrTx/>
              <a:defRPr lang="en-US" sz="1100" dirty="0" smtClean="0">
                <a:solidFill>
                  <a:schemeClr val="tx1"/>
                </a:solidFill>
              </a:defRPr>
            </a:lvl2pPr>
            <a:lvl3pPr>
              <a:buClrTx/>
              <a:defRPr lang="en-US" sz="1100" dirty="0" smtClean="0">
                <a:solidFill>
                  <a:schemeClr val="tx1"/>
                </a:solidFill>
              </a:defRPr>
            </a:lvl3pPr>
            <a:lvl4pPr>
              <a:buClrTx/>
              <a:defRPr lang="en-US" sz="1100" dirty="0" smtClean="0">
                <a:solidFill>
                  <a:schemeClr val="tx1"/>
                </a:solidFill>
              </a:defRPr>
            </a:lvl4pPr>
            <a:lvl5pPr>
              <a:buClrTx/>
              <a:defRPr lang="en-US" sz="11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8" name="Title 57"/>
          <p:cNvSpPr>
            <a:spLocks noGrp="1"/>
          </p:cNvSpPr>
          <p:nvPr>
            <p:ph type="title" hasCustomPrompt="1"/>
          </p:nvPr>
        </p:nvSpPr>
        <p:spPr>
          <a:xfrm>
            <a:off x="3394075" y="1257272"/>
            <a:ext cx="5368924" cy="56215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Firstname</a:t>
            </a:r>
            <a:r>
              <a:rPr lang="en-US" dirty="0"/>
              <a:t> </a:t>
            </a:r>
            <a:r>
              <a:rPr lang="en-US" dirty="0" err="1"/>
              <a:t>Lastname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3394075" y="1860962"/>
            <a:ext cx="5368924" cy="501238"/>
          </a:xfrm>
        </p:spPr>
        <p:txBody>
          <a:bodyPr>
            <a:noAutofit/>
          </a:bodyPr>
          <a:lstStyle>
            <a:lvl1pPr marL="0" indent="0">
              <a:lnSpc>
                <a:spcPct val="105000"/>
              </a:lnSpc>
              <a:spcAft>
                <a:spcPts val="0"/>
              </a:spcAft>
              <a:buNone/>
              <a:defRPr sz="1300" b="1">
                <a:solidFill>
                  <a:schemeClr val="bg1"/>
                </a:solidFill>
              </a:defRPr>
            </a:lvl1pPr>
            <a:lvl2pPr marL="0" indent="0">
              <a:lnSpc>
                <a:spcPct val="105000"/>
              </a:lnSpc>
              <a:spcAft>
                <a:spcPts val="0"/>
              </a:spcAft>
              <a:buNone/>
              <a:defRPr sz="1300" b="0" cap="all" baseline="0">
                <a:solidFill>
                  <a:schemeClr val="accent1"/>
                </a:solidFill>
              </a:defRPr>
            </a:lvl2pPr>
          </a:lstStyle>
          <a:p>
            <a:pPr lvl="0"/>
            <a:r>
              <a:rPr lang="en-US" dirty="0"/>
              <a:t>Primary Role</a:t>
            </a:r>
          </a:p>
          <a:p>
            <a:pPr lvl="1"/>
            <a:r>
              <a:rPr lang="en-US" dirty="0"/>
              <a:t>Group or Office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14D28F-FBD0-02E9-AC83-D474BBED0CB4}"/>
              </a:ext>
            </a:extLst>
          </p:cNvPr>
          <p:cNvSpPr/>
          <p:nvPr/>
        </p:nvSpPr>
        <p:spPr>
          <a:xfrm>
            <a:off x="0" y="1188602"/>
            <a:ext cx="1046398" cy="1691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  <a:spcAft>
                <a:spcPts val="600"/>
              </a:spcAft>
              <a:buClr>
                <a:schemeClr val="tx1"/>
              </a:buClr>
              <a:buSzPct val="100000"/>
            </a:pPr>
            <a:endParaRPr lang="en-GB" sz="1100" err="1">
              <a:solidFill>
                <a:schemeClr val="tx1"/>
              </a:solidFill>
            </a:endParaRP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450C8202-8F74-2924-34B5-4B1481E6F0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600" y="6592653"/>
            <a:ext cx="285821" cy="265348"/>
          </a:xfrm>
          <a:prstGeom prst="rect">
            <a:avLst/>
          </a:prstGeom>
        </p:spPr>
        <p:txBody>
          <a:bodyPr lIns="0" rIns="0"/>
          <a:lstStyle>
            <a:lvl1pPr algn="ctr">
              <a:defRPr sz="900">
                <a:solidFill>
                  <a:schemeClr val="tx2"/>
                </a:solidFill>
              </a:defRPr>
            </a:lvl1pPr>
          </a:lstStyle>
          <a:p>
            <a:fld id="{8D508841-7C58-4AFF-A5FE-7816CAD1C39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0D8C699-CF06-FD34-31F8-9259C341F7C8}"/>
              </a:ext>
            </a:extLst>
          </p:cNvPr>
          <p:cNvCxnSpPr>
            <a:cxnSpLocks/>
          </p:cNvCxnSpPr>
          <p:nvPr/>
        </p:nvCxnSpPr>
        <p:spPr>
          <a:xfrm>
            <a:off x="228600" y="6572797"/>
            <a:ext cx="1501140" cy="0"/>
          </a:xfrm>
          <a:prstGeom prst="line">
            <a:avLst/>
          </a:prstGeom>
          <a:ln w="31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437A7F6A-1AC6-632C-873F-87D2ADD11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28" y="6626803"/>
            <a:ext cx="1088434" cy="18547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67B6D7-B70B-6955-3792-EE9BD952417F}"/>
              </a:ext>
            </a:extLst>
          </p:cNvPr>
          <p:cNvCxnSpPr>
            <a:cxnSpLocks/>
          </p:cNvCxnSpPr>
          <p:nvPr/>
        </p:nvCxnSpPr>
        <p:spPr>
          <a:xfrm>
            <a:off x="519699" y="6605945"/>
            <a:ext cx="0" cy="206337"/>
          </a:xfrm>
          <a:prstGeom prst="line">
            <a:avLst/>
          </a:prstGeom>
          <a:ln w="31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894F1CB-78F6-BE01-43AB-9F391D64BE09}"/>
              </a:ext>
            </a:extLst>
          </p:cNvPr>
          <p:cNvSpPr txBox="1"/>
          <p:nvPr/>
        </p:nvSpPr>
        <p:spPr>
          <a:xfrm>
            <a:off x="1598058" y="3299834"/>
            <a:ext cx="1229504" cy="15388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lvl="0" algn="r"/>
            <a:r>
              <a:rPr lang="en-US" sz="1000" b="1" kern="1200" spc="1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QUALIFICATIONS</a:t>
            </a:r>
          </a:p>
        </p:txBody>
      </p:sp>
    </p:spTree>
    <p:extLst>
      <p:ext uri="{BB962C8B-B14F-4D97-AF65-F5344CB8AC3E}">
        <p14:creationId xmlns:p14="http://schemas.microsoft.com/office/powerpoint/2010/main" val="2714983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035485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30369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6"/>
          <p:cNvSpPr txBox="1">
            <a:spLocks/>
          </p:cNvSpPr>
          <p:nvPr/>
        </p:nvSpPr>
        <p:spPr>
          <a:xfrm>
            <a:off x="1874520" y="6583680"/>
            <a:ext cx="704088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l" defTabSz="914400" rtl="0" eaLnBrk="1" latinLnBrk="0" hangingPunct="1">
              <a:defRPr sz="7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1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77CC17-D37E-BDEC-935F-C3D3950B9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CBE0CFC2-5E19-470E-2B63-8FED66D2A0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600" y="6592653"/>
            <a:ext cx="285821" cy="265348"/>
          </a:xfrm>
          <a:prstGeom prst="rect">
            <a:avLst/>
          </a:prstGeom>
        </p:spPr>
        <p:txBody>
          <a:bodyPr lIns="0" rIns="0"/>
          <a:lstStyle>
            <a:lvl1pPr algn="ctr">
              <a:defRPr sz="900">
                <a:solidFill>
                  <a:schemeClr val="tx2"/>
                </a:solidFill>
              </a:defRPr>
            </a:lvl1pPr>
          </a:lstStyle>
          <a:p>
            <a:fld id="{8D508841-7C58-4AFF-A5FE-7816CAD1C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999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80160"/>
            <a:ext cx="5852160" cy="480060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buClrTx/>
              <a:defRPr>
                <a:solidFill>
                  <a:schemeClr val="tx1"/>
                </a:solidFill>
              </a:defRPr>
            </a:lvl2pPr>
            <a:lvl3pPr>
              <a:buClrTx/>
              <a:defRPr>
                <a:solidFill>
                  <a:schemeClr val="tx1"/>
                </a:solidFill>
              </a:defRPr>
            </a:lvl3pPr>
            <a:lvl4pPr>
              <a:buClrTx/>
              <a:defRPr>
                <a:solidFill>
                  <a:schemeClr val="tx1"/>
                </a:solidFill>
              </a:defRPr>
            </a:lvl4pPr>
            <a:lvl5pPr>
              <a:buClrTx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/>
          <p:cNvSpPr txBox="1">
            <a:spLocks/>
          </p:cNvSpPr>
          <p:nvPr/>
        </p:nvSpPr>
        <p:spPr>
          <a:xfrm>
            <a:off x="1874520" y="6583680"/>
            <a:ext cx="704088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l" defTabSz="914400" rtl="0" eaLnBrk="1" latinLnBrk="0" hangingPunct="1">
              <a:defRPr sz="7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1" u="none" strike="noStrike" kern="1200" cap="none" spc="0" normalizeH="0" baseline="0" noProof="0" dirty="0">
              <a:ln>
                <a:noFill/>
              </a:ln>
              <a:solidFill>
                <a:srgbClr val="BEB7A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4228A951-9461-5506-B323-B16B5C8037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600" y="6592653"/>
            <a:ext cx="285821" cy="265348"/>
          </a:xfrm>
          <a:prstGeom prst="rect">
            <a:avLst/>
          </a:prstGeom>
        </p:spPr>
        <p:txBody>
          <a:bodyPr lIns="0" rIns="0"/>
          <a:lstStyle>
            <a:lvl1pPr algn="ctr">
              <a:defRPr sz="900">
                <a:solidFill>
                  <a:schemeClr val="tx2"/>
                </a:solidFill>
              </a:defRPr>
            </a:lvl1pPr>
          </a:lstStyle>
          <a:p>
            <a:fld id="{8D508841-7C58-4AFF-A5FE-7816CAD1C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4413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ngle Horizontal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54480"/>
            <a:ext cx="5852160" cy="452628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buClrTx/>
              <a:defRPr>
                <a:solidFill>
                  <a:schemeClr val="tx1"/>
                </a:solidFill>
              </a:defRPr>
            </a:lvl2pPr>
            <a:lvl3pPr>
              <a:buClrTx/>
              <a:defRPr>
                <a:solidFill>
                  <a:schemeClr val="tx1"/>
                </a:solidFill>
              </a:defRPr>
            </a:lvl3pPr>
            <a:lvl4pPr>
              <a:buClrTx/>
              <a:defRPr>
                <a:solidFill>
                  <a:schemeClr val="tx1"/>
                </a:solidFill>
              </a:defRPr>
            </a:lvl4pPr>
            <a:lvl5pPr>
              <a:buClrTx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6"/>
          <p:cNvSpPr txBox="1">
            <a:spLocks/>
          </p:cNvSpPr>
          <p:nvPr/>
        </p:nvSpPr>
        <p:spPr>
          <a:xfrm>
            <a:off x="1874520" y="6583680"/>
            <a:ext cx="704088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l" defTabSz="914400" rtl="0" eaLnBrk="1" latinLnBrk="0" hangingPunct="1">
              <a:defRPr sz="7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1" u="none" strike="noStrike" kern="1200" cap="none" spc="0" normalizeH="0" baseline="0" noProof="0" dirty="0">
              <a:ln>
                <a:noFill/>
              </a:ln>
              <a:solidFill>
                <a:srgbClr val="BEB7A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CD2691EF-A53C-C846-79C9-E47DEBAF3B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600" y="6592653"/>
            <a:ext cx="285821" cy="265348"/>
          </a:xfrm>
          <a:prstGeom prst="rect">
            <a:avLst/>
          </a:prstGeom>
        </p:spPr>
        <p:txBody>
          <a:bodyPr lIns="0" rIns="0"/>
          <a:lstStyle>
            <a:lvl1pPr algn="ctr">
              <a:defRPr sz="900">
                <a:solidFill>
                  <a:schemeClr val="tx2"/>
                </a:solidFill>
              </a:defRPr>
            </a:lvl1pPr>
          </a:lstStyle>
          <a:p>
            <a:fld id="{8D508841-7C58-4AFF-A5FE-7816CAD1C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312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ngle Vertical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4600" y="1280160"/>
            <a:ext cx="6400800" cy="480060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buClrTx/>
              <a:defRPr>
                <a:solidFill>
                  <a:schemeClr val="tx1"/>
                </a:solidFill>
              </a:defRPr>
            </a:lvl2pPr>
            <a:lvl3pPr>
              <a:buClrTx/>
              <a:defRPr>
                <a:solidFill>
                  <a:schemeClr val="tx1"/>
                </a:solidFill>
              </a:defRPr>
            </a:lvl3pPr>
            <a:lvl4pPr>
              <a:buClrTx/>
              <a:defRPr>
                <a:solidFill>
                  <a:schemeClr val="tx1"/>
                </a:solidFill>
              </a:defRPr>
            </a:lvl4pPr>
            <a:lvl5pPr>
              <a:buClrTx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6"/>
          <p:cNvSpPr txBox="1">
            <a:spLocks/>
          </p:cNvSpPr>
          <p:nvPr/>
        </p:nvSpPr>
        <p:spPr>
          <a:xfrm>
            <a:off x="1874520" y="6583680"/>
            <a:ext cx="704088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l" defTabSz="914400" rtl="0" eaLnBrk="1" latinLnBrk="0" hangingPunct="1">
              <a:defRPr sz="7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1" u="none" strike="noStrike" kern="1200" cap="none" spc="0" normalizeH="0" baseline="0" noProof="0" dirty="0">
              <a:ln>
                <a:noFill/>
              </a:ln>
              <a:solidFill>
                <a:srgbClr val="BEB7A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C4D5EC5B-D34D-EF90-121A-F9296D6054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600" y="6592653"/>
            <a:ext cx="285821" cy="265348"/>
          </a:xfrm>
          <a:prstGeom prst="rect">
            <a:avLst/>
          </a:prstGeom>
        </p:spPr>
        <p:txBody>
          <a:bodyPr lIns="0" rIns="0"/>
          <a:lstStyle>
            <a:lvl1pPr algn="ctr">
              <a:defRPr sz="900">
                <a:solidFill>
                  <a:schemeClr val="tx2"/>
                </a:solidFill>
              </a:defRPr>
            </a:lvl1pPr>
          </a:lstStyle>
          <a:p>
            <a:fld id="{8D508841-7C58-4AFF-A5FE-7816CAD1C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134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Vertica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80160"/>
            <a:ext cx="4114800" cy="480060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buClrTx/>
              <a:defRPr lang="en-US" dirty="0" smtClean="0">
                <a:solidFill>
                  <a:schemeClr val="tx1"/>
                </a:solidFill>
              </a:defRPr>
            </a:lvl2pPr>
            <a:lvl3pPr>
              <a:buClrTx/>
              <a:defRPr lang="en-US" dirty="0" smtClean="0">
                <a:solidFill>
                  <a:schemeClr val="tx1"/>
                </a:solidFill>
              </a:defRPr>
            </a:lvl3pPr>
            <a:lvl4pPr>
              <a:buClrTx/>
              <a:defRPr lang="en-US" dirty="0" smtClean="0">
                <a:solidFill>
                  <a:schemeClr val="tx1"/>
                </a:solidFill>
              </a:defRPr>
            </a:lvl4pPr>
            <a:lvl5pPr>
              <a:buClrTx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3"/>
          </p:nvPr>
        </p:nvSpPr>
        <p:spPr>
          <a:xfrm>
            <a:off x="4800600" y="1280160"/>
            <a:ext cx="4114800" cy="480060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buClrTx/>
              <a:defRPr lang="en-US" dirty="0" smtClean="0">
                <a:solidFill>
                  <a:schemeClr val="tx1"/>
                </a:solidFill>
              </a:defRPr>
            </a:lvl2pPr>
            <a:lvl3pPr>
              <a:buClrTx/>
              <a:defRPr lang="en-US" dirty="0" smtClean="0">
                <a:solidFill>
                  <a:schemeClr val="tx1"/>
                </a:solidFill>
              </a:defRPr>
            </a:lvl3pPr>
            <a:lvl4pPr>
              <a:buClrTx/>
              <a:defRPr lang="en-US" dirty="0" smtClean="0">
                <a:solidFill>
                  <a:schemeClr val="tx1"/>
                </a:solidFill>
              </a:defRPr>
            </a:lvl4pPr>
            <a:lvl5pPr>
              <a:buClrTx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6"/>
          <p:cNvSpPr txBox="1">
            <a:spLocks/>
          </p:cNvSpPr>
          <p:nvPr/>
        </p:nvSpPr>
        <p:spPr>
          <a:xfrm>
            <a:off x="1874520" y="6583680"/>
            <a:ext cx="704088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l" defTabSz="914400" rtl="0" eaLnBrk="1" latinLnBrk="0" hangingPunct="1">
              <a:defRPr sz="7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1" u="none" strike="noStrike" kern="1200" cap="none" spc="0" normalizeH="0" baseline="0" noProof="0" dirty="0">
              <a:ln>
                <a:noFill/>
              </a:ln>
              <a:solidFill>
                <a:srgbClr val="BEB7A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6868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408CDB2-F5FA-B6B9-0B02-DA27ECEC13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600" y="6592653"/>
            <a:ext cx="285821" cy="265348"/>
          </a:xfrm>
          <a:prstGeom prst="rect">
            <a:avLst/>
          </a:prstGeom>
        </p:spPr>
        <p:txBody>
          <a:bodyPr lIns="0" rIns="0"/>
          <a:lstStyle>
            <a:lvl1pPr algn="ctr">
              <a:defRPr sz="900">
                <a:solidFill>
                  <a:schemeClr val="tx2"/>
                </a:solidFill>
              </a:defRPr>
            </a:lvl1pPr>
          </a:lstStyle>
          <a:p>
            <a:fld id="{8D508841-7C58-4AFF-A5FE-7816CAD1C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187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Vertical Horizontal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54480"/>
            <a:ext cx="4114800" cy="452628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buClrTx/>
              <a:defRPr lang="en-US" dirty="0" smtClean="0">
                <a:solidFill>
                  <a:schemeClr val="tx1"/>
                </a:solidFill>
              </a:defRPr>
            </a:lvl2pPr>
            <a:lvl3pPr>
              <a:buClrTx/>
              <a:defRPr lang="en-US" dirty="0" smtClean="0">
                <a:solidFill>
                  <a:schemeClr val="tx1"/>
                </a:solidFill>
              </a:defRPr>
            </a:lvl3pPr>
            <a:lvl4pPr>
              <a:buClrTx/>
              <a:defRPr lang="en-US" dirty="0" smtClean="0">
                <a:solidFill>
                  <a:schemeClr val="tx1"/>
                </a:solidFill>
              </a:defRPr>
            </a:lvl4pPr>
            <a:lvl5pPr>
              <a:buClrTx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3"/>
          </p:nvPr>
        </p:nvSpPr>
        <p:spPr>
          <a:xfrm>
            <a:off x="4800600" y="1554480"/>
            <a:ext cx="4114800" cy="452628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buClrTx/>
              <a:defRPr lang="en-US" dirty="0" smtClean="0">
                <a:solidFill>
                  <a:schemeClr val="tx1"/>
                </a:solidFill>
              </a:defRPr>
            </a:lvl2pPr>
            <a:lvl3pPr>
              <a:buClrTx/>
              <a:defRPr lang="en-US" dirty="0" smtClean="0">
                <a:solidFill>
                  <a:schemeClr val="tx1"/>
                </a:solidFill>
              </a:defRPr>
            </a:lvl3pPr>
            <a:lvl4pPr>
              <a:buClrTx/>
              <a:defRPr lang="en-US" dirty="0" smtClean="0">
                <a:solidFill>
                  <a:schemeClr val="tx1"/>
                </a:solidFill>
              </a:defRPr>
            </a:lvl4pPr>
            <a:lvl5pPr>
              <a:buClrTx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6"/>
          <p:cNvSpPr txBox="1">
            <a:spLocks/>
          </p:cNvSpPr>
          <p:nvPr/>
        </p:nvSpPr>
        <p:spPr>
          <a:xfrm>
            <a:off x="1874520" y="6583680"/>
            <a:ext cx="704088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l" defTabSz="914400" rtl="0" eaLnBrk="1" latinLnBrk="0" hangingPunct="1">
              <a:defRPr sz="7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1" u="none" strike="noStrike" kern="1200" cap="none" spc="0" normalizeH="0" baseline="0" noProof="0" dirty="0">
              <a:ln>
                <a:noFill/>
              </a:ln>
              <a:solidFill>
                <a:srgbClr val="BEB7A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6868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F4B34A95-7314-A4FC-D826-E373A5B0EA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600" y="6592653"/>
            <a:ext cx="285821" cy="265348"/>
          </a:xfrm>
          <a:prstGeom prst="rect">
            <a:avLst/>
          </a:prstGeom>
        </p:spPr>
        <p:txBody>
          <a:bodyPr lIns="0" rIns="0"/>
          <a:lstStyle>
            <a:lvl1pPr algn="ctr">
              <a:defRPr sz="900">
                <a:solidFill>
                  <a:schemeClr val="tx2"/>
                </a:solidFill>
              </a:defRPr>
            </a:lvl1pPr>
          </a:lstStyle>
          <a:p>
            <a:fld id="{8D508841-7C58-4AFF-A5FE-7816CAD1C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514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Vertical Vertical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idx="13"/>
          </p:nvPr>
        </p:nvSpPr>
        <p:spPr>
          <a:xfrm>
            <a:off x="5897880" y="1280160"/>
            <a:ext cx="3017520" cy="480060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buClrTx/>
              <a:defRPr lang="en-US" dirty="0" smtClean="0">
                <a:solidFill>
                  <a:schemeClr val="tx1"/>
                </a:solidFill>
              </a:defRPr>
            </a:lvl2pPr>
            <a:lvl3pPr>
              <a:buClrTx/>
              <a:defRPr lang="en-US" dirty="0" smtClean="0">
                <a:solidFill>
                  <a:schemeClr val="tx1"/>
                </a:solidFill>
              </a:defRPr>
            </a:lvl3pPr>
            <a:lvl4pPr>
              <a:buClrTx/>
              <a:defRPr lang="en-US" dirty="0" smtClean="0">
                <a:solidFill>
                  <a:schemeClr val="tx1"/>
                </a:solidFill>
              </a:defRPr>
            </a:lvl4pPr>
            <a:lvl5pPr>
              <a:buClrTx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4600" y="1280160"/>
            <a:ext cx="3017520" cy="480060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buClrTx/>
              <a:defRPr lang="en-US" dirty="0" smtClean="0">
                <a:solidFill>
                  <a:schemeClr val="tx1"/>
                </a:solidFill>
              </a:defRPr>
            </a:lvl2pPr>
            <a:lvl3pPr>
              <a:buClrTx/>
              <a:defRPr lang="en-US" dirty="0" smtClean="0">
                <a:solidFill>
                  <a:schemeClr val="tx1"/>
                </a:solidFill>
              </a:defRPr>
            </a:lvl3pPr>
            <a:lvl4pPr>
              <a:buClrTx/>
              <a:defRPr lang="en-US" dirty="0" smtClean="0">
                <a:solidFill>
                  <a:schemeClr val="tx1"/>
                </a:solidFill>
              </a:defRPr>
            </a:lvl4pPr>
            <a:lvl5pPr>
              <a:buClrTx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6"/>
          <p:cNvSpPr txBox="1">
            <a:spLocks/>
          </p:cNvSpPr>
          <p:nvPr/>
        </p:nvSpPr>
        <p:spPr>
          <a:xfrm>
            <a:off x="1874520" y="6583680"/>
            <a:ext cx="704088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l" defTabSz="914400" rtl="0" eaLnBrk="1" latinLnBrk="0" hangingPunct="1">
              <a:defRPr sz="7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1" u="none" strike="noStrike" kern="1200" cap="none" spc="0" normalizeH="0" baseline="0" noProof="0" dirty="0">
              <a:ln>
                <a:noFill/>
              </a:ln>
              <a:solidFill>
                <a:srgbClr val="BEB7A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B1D9A41C-26B2-27BB-CA27-980E069AEE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600" y="6592653"/>
            <a:ext cx="285821" cy="265348"/>
          </a:xfrm>
          <a:prstGeom prst="rect">
            <a:avLst/>
          </a:prstGeom>
        </p:spPr>
        <p:txBody>
          <a:bodyPr lIns="0" rIns="0"/>
          <a:lstStyle>
            <a:lvl1pPr algn="ctr">
              <a:defRPr sz="900">
                <a:solidFill>
                  <a:schemeClr val="tx2"/>
                </a:solidFill>
              </a:defRPr>
            </a:lvl1pPr>
          </a:lstStyle>
          <a:p>
            <a:fld id="{8D508841-7C58-4AFF-A5FE-7816CAD1C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4201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80160"/>
            <a:ext cx="5852160" cy="214884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buClrTx/>
              <a:defRPr lang="en-US" dirty="0" smtClean="0">
                <a:solidFill>
                  <a:schemeClr val="tx1"/>
                </a:solidFill>
              </a:defRPr>
            </a:lvl2pPr>
            <a:lvl3pPr>
              <a:buClrTx/>
              <a:defRPr lang="en-US" dirty="0" smtClean="0">
                <a:solidFill>
                  <a:schemeClr val="tx1"/>
                </a:solidFill>
              </a:defRPr>
            </a:lvl3pPr>
            <a:lvl4pPr>
              <a:buClrTx/>
              <a:defRPr lang="en-US" dirty="0" smtClean="0">
                <a:solidFill>
                  <a:schemeClr val="tx1"/>
                </a:solidFill>
              </a:defRPr>
            </a:lvl4pPr>
            <a:lvl5pPr>
              <a:buClrTx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idx="14"/>
          </p:nvPr>
        </p:nvSpPr>
        <p:spPr>
          <a:xfrm>
            <a:off x="228600" y="3931920"/>
            <a:ext cx="5852160" cy="214884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buClrTx/>
              <a:defRPr lang="en-US" dirty="0" smtClean="0">
                <a:solidFill>
                  <a:schemeClr val="tx1"/>
                </a:solidFill>
              </a:defRPr>
            </a:lvl2pPr>
            <a:lvl3pPr>
              <a:buClrTx/>
              <a:defRPr lang="en-US" dirty="0" smtClean="0">
                <a:solidFill>
                  <a:schemeClr val="tx1"/>
                </a:solidFill>
              </a:defRPr>
            </a:lvl3pPr>
            <a:lvl4pPr>
              <a:buClrTx/>
              <a:defRPr lang="en-US" dirty="0" smtClean="0">
                <a:solidFill>
                  <a:schemeClr val="tx1"/>
                </a:solidFill>
              </a:defRPr>
            </a:lvl4pPr>
            <a:lvl5pPr>
              <a:buClrTx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6"/>
          <p:cNvSpPr txBox="1">
            <a:spLocks/>
          </p:cNvSpPr>
          <p:nvPr/>
        </p:nvSpPr>
        <p:spPr>
          <a:xfrm>
            <a:off x="1874520" y="6583680"/>
            <a:ext cx="704088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l" defTabSz="914400" rtl="0" eaLnBrk="1" latinLnBrk="0" hangingPunct="1">
              <a:defRPr sz="7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1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63D4F69-49C5-97C5-2A5D-290826247C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600" y="6592653"/>
            <a:ext cx="285821" cy="265348"/>
          </a:xfrm>
          <a:prstGeom prst="rect">
            <a:avLst/>
          </a:prstGeom>
        </p:spPr>
        <p:txBody>
          <a:bodyPr lIns="0" rIns="0"/>
          <a:lstStyle>
            <a:lvl1pPr algn="ctr">
              <a:defRPr sz="900">
                <a:solidFill>
                  <a:schemeClr val="tx2"/>
                </a:solidFill>
              </a:defRPr>
            </a:lvl1pPr>
          </a:lstStyle>
          <a:p>
            <a:fld id="{8D508841-7C58-4AFF-A5FE-7816CAD1C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8325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Horizontal Horizontal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54480"/>
            <a:ext cx="5852160" cy="205740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buClrTx/>
              <a:defRPr lang="en-US" dirty="0" smtClean="0">
                <a:solidFill>
                  <a:schemeClr val="tx1"/>
                </a:solidFill>
              </a:defRPr>
            </a:lvl2pPr>
            <a:lvl3pPr>
              <a:buClrTx/>
              <a:defRPr lang="en-US" dirty="0" smtClean="0">
                <a:solidFill>
                  <a:schemeClr val="tx1"/>
                </a:solidFill>
              </a:defRPr>
            </a:lvl3pPr>
            <a:lvl4pPr>
              <a:buClrTx/>
              <a:defRPr lang="en-US" dirty="0" smtClean="0">
                <a:solidFill>
                  <a:schemeClr val="tx1"/>
                </a:solidFill>
              </a:defRPr>
            </a:lvl4pPr>
            <a:lvl5pPr>
              <a:buClrTx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idx="14"/>
          </p:nvPr>
        </p:nvSpPr>
        <p:spPr>
          <a:xfrm>
            <a:off x="228600" y="4023360"/>
            <a:ext cx="5852160" cy="205740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buClrTx/>
              <a:defRPr lang="en-US" dirty="0" smtClean="0">
                <a:solidFill>
                  <a:schemeClr val="tx1"/>
                </a:solidFill>
              </a:defRPr>
            </a:lvl2pPr>
            <a:lvl3pPr>
              <a:buClrTx/>
              <a:defRPr lang="en-US" dirty="0" smtClean="0">
                <a:solidFill>
                  <a:schemeClr val="tx1"/>
                </a:solidFill>
              </a:defRPr>
            </a:lvl3pPr>
            <a:lvl4pPr>
              <a:buClrTx/>
              <a:defRPr lang="en-US" dirty="0" smtClean="0">
                <a:solidFill>
                  <a:schemeClr val="tx1"/>
                </a:solidFill>
              </a:defRPr>
            </a:lvl4pPr>
            <a:lvl5pPr>
              <a:buClrTx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6"/>
          <p:cNvSpPr txBox="1">
            <a:spLocks/>
          </p:cNvSpPr>
          <p:nvPr/>
        </p:nvSpPr>
        <p:spPr>
          <a:xfrm>
            <a:off x="1874520" y="6583680"/>
            <a:ext cx="704088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l" defTabSz="914400" rtl="0" eaLnBrk="1" latinLnBrk="0" hangingPunct="1">
              <a:defRPr sz="7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1" u="none" strike="noStrike" kern="1200" cap="none" spc="0" normalizeH="0" baseline="0" noProof="0" dirty="0">
              <a:ln>
                <a:noFill/>
              </a:ln>
              <a:solidFill>
                <a:srgbClr val="BEB7A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DDE95835-E1F0-853E-E2CE-05F99D5E21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600" y="6592653"/>
            <a:ext cx="285821" cy="265348"/>
          </a:xfrm>
          <a:prstGeom prst="rect">
            <a:avLst/>
          </a:prstGeom>
        </p:spPr>
        <p:txBody>
          <a:bodyPr lIns="0" rIns="0"/>
          <a:lstStyle>
            <a:lvl1pPr algn="ctr">
              <a:defRPr sz="900">
                <a:solidFill>
                  <a:schemeClr val="tx2"/>
                </a:solidFill>
              </a:defRPr>
            </a:lvl1pPr>
          </a:lstStyle>
          <a:p>
            <a:fld id="{8D508841-7C58-4AFF-A5FE-7816CAD1C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1002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Horizontal Vertical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4600" y="1280160"/>
            <a:ext cx="6400800" cy="214884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buClrTx/>
              <a:defRPr lang="en-US" dirty="0" smtClean="0">
                <a:solidFill>
                  <a:schemeClr val="tx1"/>
                </a:solidFill>
              </a:defRPr>
            </a:lvl2pPr>
            <a:lvl3pPr>
              <a:buClrTx/>
              <a:defRPr lang="en-US" dirty="0" smtClean="0">
                <a:solidFill>
                  <a:schemeClr val="tx1"/>
                </a:solidFill>
              </a:defRPr>
            </a:lvl3pPr>
            <a:lvl4pPr>
              <a:buClrTx/>
              <a:defRPr lang="en-US" dirty="0" smtClean="0">
                <a:solidFill>
                  <a:schemeClr val="tx1"/>
                </a:solidFill>
              </a:defRPr>
            </a:lvl4pPr>
            <a:lvl5pPr>
              <a:buClrTx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idx="14"/>
          </p:nvPr>
        </p:nvSpPr>
        <p:spPr>
          <a:xfrm>
            <a:off x="2514600" y="3931920"/>
            <a:ext cx="6400800" cy="214884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buClrTx/>
              <a:defRPr lang="en-US" dirty="0" smtClean="0">
                <a:solidFill>
                  <a:schemeClr val="tx1"/>
                </a:solidFill>
              </a:defRPr>
            </a:lvl2pPr>
            <a:lvl3pPr>
              <a:buClrTx/>
              <a:defRPr lang="en-US" dirty="0" smtClean="0">
                <a:solidFill>
                  <a:schemeClr val="tx1"/>
                </a:solidFill>
              </a:defRPr>
            </a:lvl3pPr>
            <a:lvl4pPr>
              <a:buClrTx/>
              <a:defRPr lang="en-US" dirty="0" smtClean="0">
                <a:solidFill>
                  <a:schemeClr val="tx1"/>
                </a:solidFill>
              </a:defRPr>
            </a:lvl4pPr>
            <a:lvl5pPr>
              <a:buClrTx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6"/>
          <p:cNvSpPr txBox="1">
            <a:spLocks/>
          </p:cNvSpPr>
          <p:nvPr/>
        </p:nvSpPr>
        <p:spPr>
          <a:xfrm>
            <a:off x="1874520" y="6583680"/>
            <a:ext cx="704088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l" defTabSz="914400" rtl="0" eaLnBrk="1" latinLnBrk="0" hangingPunct="1">
              <a:defRPr sz="7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1" u="none" strike="noStrike" kern="1200" cap="none" spc="0" normalizeH="0" baseline="0" noProof="0" dirty="0">
              <a:ln>
                <a:noFill/>
              </a:ln>
              <a:solidFill>
                <a:srgbClr val="BEB7A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3409A97-1FFC-1428-59C8-325E422EFB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600" y="6592653"/>
            <a:ext cx="285821" cy="265348"/>
          </a:xfrm>
          <a:prstGeom prst="rect">
            <a:avLst/>
          </a:prstGeom>
        </p:spPr>
        <p:txBody>
          <a:bodyPr lIns="0" rIns="0"/>
          <a:lstStyle>
            <a:lvl1pPr algn="ctr">
              <a:defRPr sz="900">
                <a:solidFill>
                  <a:schemeClr val="tx2"/>
                </a:solidFill>
              </a:defRPr>
            </a:lvl1pPr>
          </a:lstStyle>
          <a:p>
            <a:fld id="{8D508841-7C58-4AFF-A5FE-7816CAD1C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263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80160"/>
            <a:ext cx="4114800" cy="214884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buClrTx/>
              <a:defRPr lang="en-US" dirty="0" smtClean="0">
                <a:solidFill>
                  <a:schemeClr val="tx1"/>
                </a:solidFill>
              </a:defRPr>
            </a:lvl2pPr>
            <a:lvl3pPr>
              <a:buClrTx/>
              <a:defRPr lang="en-US" dirty="0" smtClean="0">
                <a:solidFill>
                  <a:schemeClr val="tx1"/>
                </a:solidFill>
              </a:defRPr>
            </a:lvl3pPr>
            <a:lvl4pPr>
              <a:buClrTx/>
              <a:defRPr lang="en-US" dirty="0" smtClean="0">
                <a:solidFill>
                  <a:schemeClr val="tx1"/>
                </a:solidFill>
              </a:defRPr>
            </a:lvl4pPr>
            <a:lvl5pPr>
              <a:buClrTx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3"/>
          </p:nvPr>
        </p:nvSpPr>
        <p:spPr>
          <a:xfrm>
            <a:off x="4800600" y="1280160"/>
            <a:ext cx="4114800" cy="214884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buClrTx/>
              <a:defRPr lang="en-US" dirty="0" smtClean="0">
                <a:solidFill>
                  <a:schemeClr val="tx1"/>
                </a:solidFill>
              </a:defRPr>
            </a:lvl2pPr>
            <a:lvl3pPr>
              <a:buClrTx/>
              <a:defRPr lang="en-US" dirty="0" smtClean="0">
                <a:solidFill>
                  <a:schemeClr val="tx1"/>
                </a:solidFill>
              </a:defRPr>
            </a:lvl3pPr>
            <a:lvl4pPr>
              <a:buClrTx/>
              <a:defRPr lang="en-US" dirty="0" smtClean="0">
                <a:solidFill>
                  <a:schemeClr val="tx1"/>
                </a:solidFill>
              </a:defRPr>
            </a:lvl4pPr>
            <a:lvl5pPr>
              <a:buClrTx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idx="14"/>
          </p:nvPr>
        </p:nvSpPr>
        <p:spPr>
          <a:xfrm>
            <a:off x="228600" y="3931920"/>
            <a:ext cx="4114800" cy="214884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buClrTx/>
              <a:defRPr lang="en-US" dirty="0" smtClean="0">
                <a:solidFill>
                  <a:schemeClr val="tx1"/>
                </a:solidFill>
              </a:defRPr>
            </a:lvl2pPr>
            <a:lvl3pPr>
              <a:buClrTx/>
              <a:defRPr lang="en-US" dirty="0" smtClean="0">
                <a:solidFill>
                  <a:schemeClr val="tx1"/>
                </a:solidFill>
              </a:defRPr>
            </a:lvl3pPr>
            <a:lvl4pPr>
              <a:buClrTx/>
              <a:defRPr lang="en-US" dirty="0" smtClean="0">
                <a:solidFill>
                  <a:schemeClr val="tx1"/>
                </a:solidFill>
              </a:defRPr>
            </a:lvl4pPr>
            <a:lvl5pPr>
              <a:buClrTx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idx="15"/>
          </p:nvPr>
        </p:nvSpPr>
        <p:spPr>
          <a:xfrm>
            <a:off x="4800600" y="3931920"/>
            <a:ext cx="4114800" cy="214884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buClrTx/>
              <a:defRPr lang="en-US" dirty="0" smtClean="0">
                <a:solidFill>
                  <a:schemeClr val="tx1"/>
                </a:solidFill>
              </a:defRPr>
            </a:lvl2pPr>
            <a:lvl3pPr>
              <a:buClrTx/>
              <a:defRPr lang="en-US" dirty="0" smtClean="0">
                <a:solidFill>
                  <a:schemeClr val="tx1"/>
                </a:solidFill>
              </a:defRPr>
            </a:lvl3pPr>
            <a:lvl4pPr>
              <a:buClrTx/>
              <a:defRPr lang="en-US" dirty="0" smtClean="0">
                <a:solidFill>
                  <a:schemeClr val="tx1"/>
                </a:solidFill>
              </a:defRPr>
            </a:lvl4pPr>
            <a:lvl5pPr>
              <a:buClrTx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6"/>
          <p:cNvSpPr txBox="1">
            <a:spLocks/>
          </p:cNvSpPr>
          <p:nvPr/>
        </p:nvSpPr>
        <p:spPr>
          <a:xfrm>
            <a:off x="1874520" y="6583680"/>
            <a:ext cx="704088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l" defTabSz="914400" rtl="0" eaLnBrk="1" latinLnBrk="0" hangingPunct="1">
              <a:defRPr sz="7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1" u="none" strike="noStrike" kern="1200" cap="none" spc="0" normalizeH="0" baseline="0" noProof="0" dirty="0">
              <a:ln>
                <a:noFill/>
              </a:ln>
              <a:solidFill>
                <a:srgbClr val="BEB7A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0991CC7B-2E94-1B0F-E1B4-064322FD8C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600" y="6592653"/>
            <a:ext cx="285821" cy="265348"/>
          </a:xfrm>
          <a:prstGeom prst="rect">
            <a:avLst/>
          </a:prstGeom>
        </p:spPr>
        <p:txBody>
          <a:bodyPr lIns="0" rIns="0"/>
          <a:lstStyle>
            <a:lvl1pPr algn="ctr">
              <a:defRPr sz="900">
                <a:solidFill>
                  <a:schemeClr val="tx2"/>
                </a:solidFill>
              </a:defRPr>
            </a:lvl1pPr>
          </a:lstStyle>
          <a:p>
            <a:fld id="{8D508841-7C58-4AFF-A5FE-7816CAD1C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8798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d Horizontal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54480"/>
            <a:ext cx="4114800" cy="205740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buClrTx/>
              <a:defRPr lang="en-US" dirty="0" smtClean="0">
                <a:solidFill>
                  <a:schemeClr val="tx1"/>
                </a:solidFill>
              </a:defRPr>
            </a:lvl2pPr>
            <a:lvl3pPr>
              <a:buClrTx/>
              <a:defRPr lang="en-US" dirty="0" smtClean="0">
                <a:solidFill>
                  <a:schemeClr val="tx1"/>
                </a:solidFill>
              </a:defRPr>
            </a:lvl3pPr>
            <a:lvl4pPr>
              <a:buClrTx/>
              <a:defRPr lang="en-US" dirty="0" smtClean="0">
                <a:solidFill>
                  <a:schemeClr val="tx1"/>
                </a:solidFill>
              </a:defRPr>
            </a:lvl4pPr>
            <a:lvl5pPr>
              <a:buClrTx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3"/>
          </p:nvPr>
        </p:nvSpPr>
        <p:spPr>
          <a:xfrm>
            <a:off x="4800600" y="1554480"/>
            <a:ext cx="4114800" cy="205740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buClrTx/>
              <a:defRPr lang="en-US" dirty="0" smtClean="0">
                <a:solidFill>
                  <a:schemeClr val="tx1"/>
                </a:solidFill>
              </a:defRPr>
            </a:lvl2pPr>
            <a:lvl3pPr>
              <a:buClrTx/>
              <a:defRPr lang="en-US" dirty="0" smtClean="0">
                <a:solidFill>
                  <a:schemeClr val="tx1"/>
                </a:solidFill>
              </a:defRPr>
            </a:lvl3pPr>
            <a:lvl4pPr>
              <a:buClrTx/>
              <a:defRPr lang="en-US" dirty="0" smtClean="0">
                <a:solidFill>
                  <a:schemeClr val="tx1"/>
                </a:solidFill>
              </a:defRPr>
            </a:lvl4pPr>
            <a:lvl5pPr>
              <a:buClrTx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idx="14"/>
          </p:nvPr>
        </p:nvSpPr>
        <p:spPr>
          <a:xfrm>
            <a:off x="228600" y="4023360"/>
            <a:ext cx="4114800" cy="205740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buClrTx/>
              <a:defRPr lang="en-US" dirty="0" smtClean="0">
                <a:solidFill>
                  <a:schemeClr val="tx1"/>
                </a:solidFill>
              </a:defRPr>
            </a:lvl2pPr>
            <a:lvl3pPr>
              <a:buClrTx/>
              <a:defRPr lang="en-US" dirty="0" smtClean="0">
                <a:solidFill>
                  <a:schemeClr val="tx1"/>
                </a:solidFill>
              </a:defRPr>
            </a:lvl3pPr>
            <a:lvl4pPr>
              <a:buClrTx/>
              <a:defRPr lang="en-US" dirty="0" smtClean="0">
                <a:solidFill>
                  <a:schemeClr val="tx1"/>
                </a:solidFill>
              </a:defRPr>
            </a:lvl4pPr>
            <a:lvl5pPr>
              <a:buClrTx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idx="15"/>
          </p:nvPr>
        </p:nvSpPr>
        <p:spPr>
          <a:xfrm>
            <a:off x="4800600" y="4023360"/>
            <a:ext cx="4114800" cy="205740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buClrTx/>
              <a:defRPr lang="en-US" dirty="0" smtClean="0">
                <a:solidFill>
                  <a:schemeClr val="tx1"/>
                </a:solidFill>
              </a:defRPr>
            </a:lvl2pPr>
            <a:lvl3pPr>
              <a:buClrTx/>
              <a:defRPr lang="en-US" dirty="0" smtClean="0">
                <a:solidFill>
                  <a:schemeClr val="tx1"/>
                </a:solidFill>
              </a:defRPr>
            </a:lvl3pPr>
            <a:lvl4pPr>
              <a:buClrTx/>
              <a:defRPr lang="en-US" dirty="0" smtClean="0">
                <a:solidFill>
                  <a:schemeClr val="tx1"/>
                </a:solidFill>
              </a:defRPr>
            </a:lvl4pPr>
            <a:lvl5pPr>
              <a:buClrTx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6"/>
          <p:cNvSpPr txBox="1">
            <a:spLocks/>
          </p:cNvSpPr>
          <p:nvPr/>
        </p:nvSpPr>
        <p:spPr>
          <a:xfrm>
            <a:off x="1874520" y="6583680"/>
            <a:ext cx="704088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l" defTabSz="914400" rtl="0" eaLnBrk="1" latinLnBrk="0" hangingPunct="1">
              <a:defRPr sz="7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1" u="none" strike="noStrike" kern="1200" cap="none" spc="0" normalizeH="0" baseline="0" noProof="0" dirty="0">
              <a:ln>
                <a:noFill/>
              </a:ln>
              <a:solidFill>
                <a:srgbClr val="BEB7A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B47CD7CD-310D-068D-F3C5-5EE8F50A77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600" y="6592653"/>
            <a:ext cx="285821" cy="265348"/>
          </a:xfrm>
          <a:prstGeom prst="rect">
            <a:avLst/>
          </a:prstGeom>
        </p:spPr>
        <p:txBody>
          <a:bodyPr lIns="0" rIns="0"/>
          <a:lstStyle>
            <a:lvl1pPr algn="ctr">
              <a:defRPr sz="900">
                <a:solidFill>
                  <a:schemeClr val="tx2"/>
                </a:solidFill>
              </a:defRPr>
            </a:lvl1pPr>
          </a:lstStyle>
          <a:p>
            <a:fld id="{8D508841-7C58-4AFF-A5FE-7816CAD1C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9250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d Vertical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4600" y="1280160"/>
            <a:ext cx="3017520" cy="214884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buClrTx/>
              <a:defRPr lang="en-US" dirty="0" smtClean="0">
                <a:solidFill>
                  <a:schemeClr val="tx1"/>
                </a:solidFill>
              </a:defRPr>
            </a:lvl2pPr>
            <a:lvl3pPr>
              <a:buClrTx/>
              <a:defRPr lang="en-US" dirty="0" smtClean="0">
                <a:solidFill>
                  <a:schemeClr val="tx1"/>
                </a:solidFill>
              </a:defRPr>
            </a:lvl3pPr>
            <a:lvl4pPr>
              <a:buClrTx/>
              <a:defRPr lang="en-US" dirty="0" smtClean="0">
                <a:solidFill>
                  <a:schemeClr val="tx1"/>
                </a:solidFill>
              </a:defRPr>
            </a:lvl4pPr>
            <a:lvl5pPr>
              <a:buClrTx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3"/>
          </p:nvPr>
        </p:nvSpPr>
        <p:spPr>
          <a:xfrm>
            <a:off x="5897880" y="1280160"/>
            <a:ext cx="3017520" cy="214884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buClrTx/>
              <a:defRPr lang="en-US" dirty="0" smtClean="0">
                <a:solidFill>
                  <a:schemeClr val="tx1"/>
                </a:solidFill>
              </a:defRPr>
            </a:lvl2pPr>
            <a:lvl3pPr>
              <a:buClrTx/>
              <a:defRPr lang="en-US" dirty="0" smtClean="0">
                <a:solidFill>
                  <a:schemeClr val="tx1"/>
                </a:solidFill>
              </a:defRPr>
            </a:lvl3pPr>
            <a:lvl4pPr>
              <a:buClrTx/>
              <a:defRPr lang="en-US" dirty="0" smtClean="0">
                <a:solidFill>
                  <a:schemeClr val="tx1"/>
                </a:solidFill>
              </a:defRPr>
            </a:lvl4pPr>
            <a:lvl5pPr>
              <a:buClrTx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idx="14"/>
          </p:nvPr>
        </p:nvSpPr>
        <p:spPr>
          <a:xfrm>
            <a:off x="2514600" y="3931920"/>
            <a:ext cx="3017520" cy="214884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buClrTx/>
              <a:defRPr lang="en-US" dirty="0" smtClean="0">
                <a:solidFill>
                  <a:schemeClr val="tx1"/>
                </a:solidFill>
              </a:defRPr>
            </a:lvl2pPr>
            <a:lvl3pPr>
              <a:buClrTx/>
              <a:defRPr lang="en-US" dirty="0" smtClean="0">
                <a:solidFill>
                  <a:schemeClr val="tx1"/>
                </a:solidFill>
              </a:defRPr>
            </a:lvl3pPr>
            <a:lvl4pPr>
              <a:buClrTx/>
              <a:defRPr lang="en-US" dirty="0" smtClean="0">
                <a:solidFill>
                  <a:schemeClr val="tx1"/>
                </a:solidFill>
              </a:defRPr>
            </a:lvl4pPr>
            <a:lvl5pPr>
              <a:buClrTx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idx="15"/>
          </p:nvPr>
        </p:nvSpPr>
        <p:spPr>
          <a:xfrm>
            <a:off x="5897880" y="3931920"/>
            <a:ext cx="3017520" cy="214884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buClrTx/>
              <a:defRPr lang="en-US" dirty="0" smtClean="0">
                <a:solidFill>
                  <a:schemeClr val="tx1"/>
                </a:solidFill>
              </a:defRPr>
            </a:lvl2pPr>
            <a:lvl3pPr>
              <a:buClrTx/>
              <a:defRPr lang="en-US" dirty="0" smtClean="0">
                <a:solidFill>
                  <a:schemeClr val="tx1"/>
                </a:solidFill>
              </a:defRPr>
            </a:lvl3pPr>
            <a:lvl4pPr>
              <a:buClrTx/>
              <a:defRPr lang="en-US" dirty="0" smtClean="0">
                <a:solidFill>
                  <a:schemeClr val="tx1"/>
                </a:solidFill>
              </a:defRPr>
            </a:lvl4pPr>
            <a:lvl5pPr>
              <a:buClrTx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6"/>
          <p:cNvSpPr txBox="1">
            <a:spLocks/>
          </p:cNvSpPr>
          <p:nvPr/>
        </p:nvSpPr>
        <p:spPr>
          <a:xfrm>
            <a:off x="1874520" y="6583680"/>
            <a:ext cx="704088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l" defTabSz="914400" rtl="0" eaLnBrk="1" latinLnBrk="0" hangingPunct="1">
              <a:defRPr sz="7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1" u="none" strike="noStrike" kern="1200" cap="none" spc="0" normalizeH="0" baseline="0" noProof="0" dirty="0">
              <a:ln>
                <a:noFill/>
              </a:ln>
              <a:solidFill>
                <a:srgbClr val="BEB7A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EECFC77A-0689-575B-D670-2B9445156A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600" y="6592653"/>
            <a:ext cx="285821" cy="265348"/>
          </a:xfrm>
          <a:prstGeom prst="rect">
            <a:avLst/>
          </a:prstGeom>
        </p:spPr>
        <p:txBody>
          <a:bodyPr lIns="0" rIns="0"/>
          <a:lstStyle>
            <a:lvl1pPr algn="ctr">
              <a:defRPr sz="900">
                <a:solidFill>
                  <a:schemeClr val="tx2"/>
                </a:solidFill>
              </a:defRPr>
            </a:lvl1pPr>
          </a:lstStyle>
          <a:p>
            <a:fld id="{8D508841-7C58-4AFF-A5FE-7816CAD1C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729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86070-FE35-CDF7-C205-C4FC09A711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Disclaimer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AB2AC0-9514-FFFA-3AE3-67832DFC14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508841-7C58-4AFF-A5FE-7816CAD1C39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4EF5080E-69E4-582A-D201-90AD2B4D7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21080"/>
            <a:ext cx="8686800" cy="5074920"/>
          </a:xfrm>
        </p:spPr>
        <p:txBody>
          <a:bodyPr/>
          <a:lstStyle/>
          <a:p>
            <a:pPr lvl="0">
              <a:lnSpc>
                <a:spcPct val="11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1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1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1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10000"/>
              </a:lnSpc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4184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5926714-CC3F-8D87-9D1F-F3DB8C244F94}"/>
              </a:ext>
            </a:extLst>
          </p:cNvPr>
          <p:cNvSpPr/>
          <p:nvPr/>
        </p:nvSpPr>
        <p:spPr>
          <a:xfrm>
            <a:off x="0" y="-1"/>
            <a:ext cx="3044952" cy="2671405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3CAA4D3A-A561-A3C3-0189-D177AD1AE83E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white">
          <a:xfrm>
            <a:off x="1010738" y="1331649"/>
            <a:ext cx="8133261" cy="5526351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6A81ACD-1C1D-67B8-6162-8C703906709A}"/>
              </a:ext>
            </a:extLst>
          </p:cNvPr>
          <p:cNvCxnSpPr/>
          <p:nvPr/>
        </p:nvCxnSpPr>
        <p:spPr>
          <a:xfrm flipV="1">
            <a:off x="6102045" y="5522976"/>
            <a:ext cx="0" cy="1335024"/>
          </a:xfrm>
          <a:prstGeom prst="straightConnector1">
            <a:avLst/>
          </a:prstGeom>
          <a:ln w="12700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D7FCD07F-B1C1-4F0F-EDF2-F240BDEB947D}"/>
              </a:ext>
            </a:extLst>
          </p:cNvPr>
          <p:cNvSpPr/>
          <p:nvPr/>
        </p:nvSpPr>
        <p:spPr>
          <a:xfrm>
            <a:off x="6235815" y="5486400"/>
            <a:ext cx="2441448" cy="11255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CORPORATE FINANCE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FINANCIAL RESTRUCTURING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FINANCIAL AND VALUATION ADVISORY</a:t>
            </a:r>
            <a:b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</a:br>
            <a:endParaRPr kumimoji="0" lang="en-US" sz="1000" b="0" i="0" u="none" strike="noStrike" kern="1200" cap="none" spc="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HL.com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2A3B9C3-D5AA-0AB0-815C-F77426821E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48256" y="1728216"/>
            <a:ext cx="2395728" cy="108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4164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Relationship Id="rId22" Type="http://schemas.openxmlformats.org/officeDocument/2006/relationships/tags" Target="../tags/tag1.xml"/><Relationship Id="rId23" Type="http://schemas.openxmlformats.org/officeDocument/2006/relationships/tags" Target="../tags/tag2.xml"/><Relationship Id="rId24" Type="http://schemas.openxmlformats.org/officeDocument/2006/relationships/oleObject" Target="../embeddings/oleObject1.bin"/><Relationship Id="rId25" Type="http://schemas.openxmlformats.org/officeDocument/2006/relationships/image" Target="../media/image1.emf"/><Relationship Id="rId26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371747754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4" imgW="270" imgH="270" progId="TCLayout.ActiveDocument.1">
                  <p:embed/>
                </p:oleObj>
              </mc:Choice>
              <mc:Fallback>
                <p:oleObj name="think-cell Slide" r:id="rId24" imgW="270" imgH="27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id" hidden="1"/>
          <p:cNvGrpSpPr/>
          <p:nvPr>
            <p:custDataLst>
              <p:tags r:id="rId23"/>
            </p:custDataLst>
          </p:nvPr>
        </p:nvGrpSpPr>
        <p:grpSpPr>
          <a:xfrm>
            <a:off x="-714726" y="-1858282"/>
            <a:ext cx="10573101" cy="10608018"/>
            <a:chOff x="-714726" y="-1858282"/>
            <a:chExt cx="10573101" cy="10608018"/>
          </a:xfrm>
        </p:grpSpPr>
        <p:sp>
          <p:nvSpPr>
            <p:cNvPr id="9" name="Line 5" hidden="1"/>
            <p:cNvSpPr>
              <a:spLocks noChangeShapeType="1"/>
            </p:cNvSpPr>
            <p:nvPr/>
          </p:nvSpPr>
          <p:spPr bwMode="auto">
            <a:xfrm>
              <a:off x="279062" y="1523284"/>
              <a:ext cx="8617756" cy="0"/>
            </a:xfrm>
            <a:prstGeom prst="line">
              <a:avLst/>
            </a:prstGeom>
            <a:noFill/>
            <a:ln w="11113" cap="flat">
              <a:solidFill>
                <a:srgbClr val="DCD5C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Line 7" hidden="1"/>
            <p:cNvSpPr>
              <a:spLocks noChangeShapeType="1"/>
            </p:cNvSpPr>
            <p:nvPr/>
          </p:nvSpPr>
          <p:spPr bwMode="auto">
            <a:xfrm flipH="1">
              <a:off x="-714726" y="508008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Line 8" hidden="1"/>
            <p:cNvSpPr>
              <a:spLocks noChangeShapeType="1"/>
            </p:cNvSpPr>
            <p:nvPr/>
          </p:nvSpPr>
          <p:spPr bwMode="auto">
            <a:xfrm flipH="1">
              <a:off x="-714726" y="761827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Line 9" hidden="1"/>
            <p:cNvSpPr>
              <a:spLocks noChangeShapeType="1"/>
            </p:cNvSpPr>
            <p:nvPr/>
          </p:nvSpPr>
          <p:spPr bwMode="auto">
            <a:xfrm flipH="1">
              <a:off x="-714726" y="1015646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Line 10" hidden="1"/>
            <p:cNvSpPr>
              <a:spLocks noChangeShapeType="1"/>
            </p:cNvSpPr>
            <p:nvPr/>
          </p:nvSpPr>
          <p:spPr bwMode="auto">
            <a:xfrm flipH="1">
              <a:off x="-714726" y="1269465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Line 11" hidden="1"/>
            <p:cNvSpPr>
              <a:spLocks noChangeShapeType="1"/>
            </p:cNvSpPr>
            <p:nvPr/>
          </p:nvSpPr>
          <p:spPr bwMode="auto">
            <a:xfrm flipH="1">
              <a:off x="-714726" y="1523284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Line 12" hidden="1"/>
            <p:cNvSpPr>
              <a:spLocks noChangeShapeType="1"/>
            </p:cNvSpPr>
            <p:nvPr/>
          </p:nvSpPr>
          <p:spPr bwMode="auto">
            <a:xfrm flipH="1">
              <a:off x="-714726" y="1777103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Line 13" hidden="1"/>
            <p:cNvSpPr>
              <a:spLocks noChangeShapeType="1"/>
            </p:cNvSpPr>
            <p:nvPr/>
          </p:nvSpPr>
          <p:spPr bwMode="auto">
            <a:xfrm flipH="1">
              <a:off x="-714726" y="2030921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Line 14" hidden="1"/>
            <p:cNvSpPr>
              <a:spLocks noChangeShapeType="1"/>
            </p:cNvSpPr>
            <p:nvPr/>
          </p:nvSpPr>
          <p:spPr bwMode="auto">
            <a:xfrm flipH="1">
              <a:off x="-714726" y="2539902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Line 15" hidden="1"/>
            <p:cNvSpPr>
              <a:spLocks noChangeShapeType="1"/>
            </p:cNvSpPr>
            <p:nvPr/>
          </p:nvSpPr>
          <p:spPr bwMode="auto">
            <a:xfrm flipH="1">
              <a:off x="-714726" y="2793721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Line 16" hidden="1"/>
            <p:cNvSpPr>
              <a:spLocks noChangeShapeType="1"/>
            </p:cNvSpPr>
            <p:nvPr/>
          </p:nvSpPr>
          <p:spPr bwMode="auto">
            <a:xfrm flipH="1">
              <a:off x="-714726" y="3047540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Line 17" hidden="1"/>
            <p:cNvSpPr>
              <a:spLocks noChangeShapeType="1"/>
            </p:cNvSpPr>
            <p:nvPr/>
          </p:nvSpPr>
          <p:spPr bwMode="auto">
            <a:xfrm flipH="1">
              <a:off x="-714726" y="3301359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Line 18" hidden="1"/>
            <p:cNvSpPr>
              <a:spLocks noChangeShapeType="1"/>
            </p:cNvSpPr>
            <p:nvPr/>
          </p:nvSpPr>
          <p:spPr bwMode="auto">
            <a:xfrm flipH="1">
              <a:off x="-714726" y="3555178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Line 19" hidden="1"/>
            <p:cNvSpPr>
              <a:spLocks noChangeShapeType="1"/>
            </p:cNvSpPr>
            <p:nvPr/>
          </p:nvSpPr>
          <p:spPr bwMode="auto">
            <a:xfrm flipH="1">
              <a:off x="-714726" y="3808997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Line 20" hidden="1"/>
            <p:cNvSpPr>
              <a:spLocks noChangeShapeType="1"/>
            </p:cNvSpPr>
            <p:nvPr/>
          </p:nvSpPr>
          <p:spPr bwMode="auto">
            <a:xfrm flipH="1">
              <a:off x="-714726" y="4062816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Line 21" hidden="1"/>
            <p:cNvSpPr>
              <a:spLocks noChangeShapeType="1"/>
            </p:cNvSpPr>
            <p:nvPr/>
          </p:nvSpPr>
          <p:spPr bwMode="auto">
            <a:xfrm flipH="1">
              <a:off x="-714726" y="4316634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Line 22" hidden="1"/>
            <p:cNvSpPr>
              <a:spLocks noChangeShapeType="1"/>
            </p:cNvSpPr>
            <p:nvPr/>
          </p:nvSpPr>
          <p:spPr bwMode="auto">
            <a:xfrm flipH="1">
              <a:off x="-714726" y="4825615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Line 23" hidden="1"/>
            <p:cNvSpPr>
              <a:spLocks noChangeShapeType="1"/>
            </p:cNvSpPr>
            <p:nvPr/>
          </p:nvSpPr>
          <p:spPr bwMode="auto">
            <a:xfrm flipH="1">
              <a:off x="-714726" y="5079434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Line 24" hidden="1"/>
            <p:cNvSpPr>
              <a:spLocks noChangeShapeType="1"/>
            </p:cNvSpPr>
            <p:nvPr/>
          </p:nvSpPr>
          <p:spPr bwMode="auto">
            <a:xfrm flipH="1">
              <a:off x="-714726" y="5333253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Line 25" hidden="1"/>
            <p:cNvSpPr>
              <a:spLocks noChangeShapeType="1"/>
            </p:cNvSpPr>
            <p:nvPr/>
          </p:nvSpPr>
          <p:spPr bwMode="auto">
            <a:xfrm flipH="1">
              <a:off x="-714726" y="5587072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Line 26" hidden="1"/>
            <p:cNvSpPr>
              <a:spLocks noChangeShapeType="1"/>
            </p:cNvSpPr>
            <p:nvPr/>
          </p:nvSpPr>
          <p:spPr bwMode="auto">
            <a:xfrm flipH="1">
              <a:off x="-714726" y="5840891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Line 27" hidden="1"/>
            <p:cNvSpPr>
              <a:spLocks noChangeShapeType="1"/>
            </p:cNvSpPr>
            <p:nvPr/>
          </p:nvSpPr>
          <p:spPr bwMode="auto">
            <a:xfrm flipH="1">
              <a:off x="-714726" y="6094710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Line 28" hidden="1"/>
            <p:cNvSpPr>
              <a:spLocks noChangeShapeType="1"/>
            </p:cNvSpPr>
            <p:nvPr/>
          </p:nvSpPr>
          <p:spPr bwMode="auto">
            <a:xfrm flipH="1">
              <a:off x="-714726" y="6348529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Line 29" hidden="1"/>
            <p:cNvSpPr>
              <a:spLocks noChangeShapeType="1"/>
            </p:cNvSpPr>
            <p:nvPr/>
          </p:nvSpPr>
          <p:spPr bwMode="auto">
            <a:xfrm flipV="1">
              <a:off x="761184" y="-1858282"/>
              <a:ext cx="0" cy="10608018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Line 30" hidden="1"/>
            <p:cNvSpPr>
              <a:spLocks noChangeShapeType="1"/>
            </p:cNvSpPr>
            <p:nvPr/>
          </p:nvSpPr>
          <p:spPr bwMode="auto">
            <a:xfrm flipV="1">
              <a:off x="1523983" y="-1858282"/>
              <a:ext cx="0" cy="10608018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Line 31" hidden="1"/>
            <p:cNvSpPr>
              <a:spLocks noChangeShapeType="1"/>
            </p:cNvSpPr>
            <p:nvPr/>
          </p:nvSpPr>
          <p:spPr bwMode="auto">
            <a:xfrm flipV="1">
              <a:off x="3048240" y="-1858282"/>
              <a:ext cx="0" cy="10608018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Line 32" hidden="1"/>
            <p:cNvSpPr>
              <a:spLocks noChangeShapeType="1"/>
            </p:cNvSpPr>
            <p:nvPr/>
          </p:nvSpPr>
          <p:spPr bwMode="auto">
            <a:xfrm flipV="1">
              <a:off x="3809696" y="-1858282"/>
              <a:ext cx="0" cy="10608018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Line 33" hidden="1"/>
            <p:cNvSpPr>
              <a:spLocks noChangeShapeType="1"/>
            </p:cNvSpPr>
            <p:nvPr/>
          </p:nvSpPr>
          <p:spPr bwMode="auto">
            <a:xfrm flipV="1">
              <a:off x="5333953" y="-1858282"/>
              <a:ext cx="0" cy="10608018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Line 34" hidden="1"/>
            <p:cNvSpPr>
              <a:spLocks noChangeShapeType="1"/>
            </p:cNvSpPr>
            <p:nvPr/>
          </p:nvSpPr>
          <p:spPr bwMode="auto">
            <a:xfrm flipV="1">
              <a:off x="6095409" y="-1858282"/>
              <a:ext cx="0" cy="10608018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Line 35" hidden="1"/>
            <p:cNvSpPr>
              <a:spLocks noChangeShapeType="1"/>
            </p:cNvSpPr>
            <p:nvPr/>
          </p:nvSpPr>
          <p:spPr bwMode="auto">
            <a:xfrm flipV="1">
              <a:off x="7619666" y="-1858282"/>
              <a:ext cx="0" cy="10608018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Line 36" hidden="1"/>
            <p:cNvSpPr>
              <a:spLocks noChangeShapeType="1"/>
            </p:cNvSpPr>
            <p:nvPr/>
          </p:nvSpPr>
          <p:spPr bwMode="auto">
            <a:xfrm flipV="1">
              <a:off x="8382465" y="-1858282"/>
              <a:ext cx="0" cy="10608018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37" hidden="1"/>
            <p:cNvSpPr>
              <a:spLocks/>
            </p:cNvSpPr>
            <p:nvPr/>
          </p:nvSpPr>
          <p:spPr bwMode="auto">
            <a:xfrm>
              <a:off x="-273" y="2291455"/>
              <a:ext cx="9144195" cy="0"/>
            </a:xfrm>
            <a:custGeom>
              <a:avLst/>
              <a:gdLst>
                <a:gd name="T0" fmla="*/ 0 w 6809"/>
                <a:gd name="T1" fmla="*/ 6809 w 6809"/>
                <a:gd name="T2" fmla="*/ 0 w 680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6809">
                  <a:moveTo>
                    <a:pt x="0" y="0"/>
                  </a:moveTo>
                  <a:lnTo>
                    <a:pt x="680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40" hidden="1"/>
            <p:cNvSpPr>
              <a:spLocks/>
            </p:cNvSpPr>
            <p:nvPr/>
          </p:nvSpPr>
          <p:spPr bwMode="auto">
            <a:xfrm>
              <a:off x="-273" y="4577168"/>
              <a:ext cx="9144195" cy="0"/>
            </a:xfrm>
            <a:custGeom>
              <a:avLst/>
              <a:gdLst>
                <a:gd name="T0" fmla="*/ 0 w 6809"/>
                <a:gd name="T1" fmla="*/ 6809 w 6809"/>
                <a:gd name="T2" fmla="*/ 0 w 680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6809">
                  <a:moveTo>
                    <a:pt x="0" y="0"/>
                  </a:moveTo>
                  <a:lnTo>
                    <a:pt x="680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41" hidden="1"/>
            <p:cNvSpPr>
              <a:spLocks/>
            </p:cNvSpPr>
            <p:nvPr/>
          </p:nvSpPr>
          <p:spPr bwMode="auto">
            <a:xfrm>
              <a:off x="2280068" y="-973"/>
              <a:ext cx="0" cy="6858482"/>
            </a:xfrm>
            <a:custGeom>
              <a:avLst/>
              <a:gdLst>
                <a:gd name="T0" fmla="*/ 0 h 5107"/>
                <a:gd name="T1" fmla="*/ 5107 h 5107"/>
                <a:gd name="T2" fmla="*/ 0 h 5107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5107">
                  <a:moveTo>
                    <a:pt x="0" y="0"/>
                  </a:moveTo>
                  <a:lnTo>
                    <a:pt x="0" y="51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43" hidden="1"/>
            <p:cNvSpPr>
              <a:spLocks/>
            </p:cNvSpPr>
            <p:nvPr/>
          </p:nvSpPr>
          <p:spPr bwMode="auto">
            <a:xfrm>
              <a:off x="4565781" y="-973"/>
              <a:ext cx="0" cy="6858482"/>
            </a:xfrm>
            <a:custGeom>
              <a:avLst/>
              <a:gdLst>
                <a:gd name="T0" fmla="*/ 0 h 5107"/>
                <a:gd name="T1" fmla="*/ 5107 h 5107"/>
                <a:gd name="T2" fmla="*/ 0 h 5107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5107">
                  <a:moveTo>
                    <a:pt x="0" y="0"/>
                  </a:moveTo>
                  <a:lnTo>
                    <a:pt x="0" y="51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45" hidden="1"/>
            <p:cNvSpPr>
              <a:spLocks/>
            </p:cNvSpPr>
            <p:nvPr/>
          </p:nvSpPr>
          <p:spPr bwMode="auto">
            <a:xfrm>
              <a:off x="6851494" y="-973"/>
              <a:ext cx="0" cy="6858482"/>
            </a:xfrm>
            <a:custGeom>
              <a:avLst/>
              <a:gdLst>
                <a:gd name="T0" fmla="*/ 0 h 5107"/>
                <a:gd name="T1" fmla="*/ 5107 h 5107"/>
                <a:gd name="T2" fmla="*/ 0 h 5107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5107">
                  <a:moveTo>
                    <a:pt x="0" y="0"/>
                  </a:moveTo>
                  <a:lnTo>
                    <a:pt x="0" y="51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45" name="Group 44" hidden="1"/>
            <p:cNvGrpSpPr/>
            <p:nvPr/>
          </p:nvGrpSpPr>
          <p:grpSpPr>
            <a:xfrm>
              <a:off x="-257908" y="2291455"/>
              <a:ext cx="9703057" cy="2285713"/>
              <a:chOff x="-1435894" y="2293837"/>
              <a:chExt cx="11291583" cy="2285713"/>
            </a:xfrm>
          </p:grpSpPr>
          <p:sp>
            <p:nvSpPr>
              <p:cNvPr id="54" name="Line 38" hidden="1"/>
              <p:cNvSpPr>
                <a:spLocks noChangeShapeType="1"/>
              </p:cNvSpPr>
              <p:nvPr/>
            </p:nvSpPr>
            <p:spPr bwMode="auto">
              <a:xfrm>
                <a:off x="-1435894" y="2293837"/>
                <a:ext cx="11291583" cy="0"/>
              </a:xfrm>
              <a:prstGeom prst="line">
                <a:avLst/>
              </a:prstGeom>
              <a:noFill/>
              <a:ln w="15875" cap="flat">
                <a:solidFill>
                  <a:srgbClr val="FF00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" name="Line 40" hidden="1"/>
              <p:cNvSpPr>
                <a:spLocks noChangeShapeType="1"/>
              </p:cNvSpPr>
              <p:nvPr/>
            </p:nvSpPr>
            <p:spPr bwMode="auto">
              <a:xfrm>
                <a:off x="-1435894" y="4579550"/>
                <a:ext cx="11291583" cy="0"/>
              </a:xfrm>
              <a:prstGeom prst="line">
                <a:avLst/>
              </a:prstGeom>
              <a:noFill/>
              <a:ln w="15875" cap="flat">
                <a:solidFill>
                  <a:srgbClr val="FF00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46" name="Group 45" hidden="1"/>
            <p:cNvGrpSpPr/>
            <p:nvPr/>
          </p:nvGrpSpPr>
          <p:grpSpPr>
            <a:xfrm>
              <a:off x="2280068" y="-375658"/>
              <a:ext cx="4571426" cy="7722004"/>
              <a:chOff x="2280068" y="-1991539"/>
              <a:chExt cx="4571426" cy="10958530"/>
            </a:xfrm>
          </p:grpSpPr>
          <p:sp>
            <p:nvSpPr>
              <p:cNvPr id="51" name="Line 42" hidden="1"/>
              <p:cNvSpPr>
                <a:spLocks noChangeShapeType="1"/>
              </p:cNvSpPr>
              <p:nvPr/>
            </p:nvSpPr>
            <p:spPr bwMode="auto">
              <a:xfrm>
                <a:off x="2280068" y="-1991539"/>
                <a:ext cx="0" cy="10958530"/>
              </a:xfrm>
              <a:prstGeom prst="line">
                <a:avLst/>
              </a:prstGeom>
              <a:noFill/>
              <a:ln w="15875" cap="flat">
                <a:solidFill>
                  <a:srgbClr val="FF00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2" name="Line 44" hidden="1"/>
              <p:cNvSpPr>
                <a:spLocks noChangeShapeType="1"/>
              </p:cNvSpPr>
              <p:nvPr/>
            </p:nvSpPr>
            <p:spPr bwMode="auto">
              <a:xfrm>
                <a:off x="4565781" y="-1991539"/>
                <a:ext cx="0" cy="10958530"/>
              </a:xfrm>
              <a:prstGeom prst="line">
                <a:avLst/>
              </a:prstGeom>
              <a:noFill/>
              <a:ln w="15875" cap="flat">
                <a:solidFill>
                  <a:srgbClr val="FF00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3" name="Line 46" hidden="1"/>
              <p:cNvSpPr>
                <a:spLocks noChangeShapeType="1"/>
              </p:cNvSpPr>
              <p:nvPr/>
            </p:nvSpPr>
            <p:spPr bwMode="auto">
              <a:xfrm>
                <a:off x="6851494" y="-1991539"/>
                <a:ext cx="0" cy="10958530"/>
              </a:xfrm>
              <a:prstGeom prst="line">
                <a:avLst/>
              </a:prstGeom>
              <a:noFill/>
              <a:ln w="15875" cap="flat">
                <a:solidFill>
                  <a:srgbClr val="FF00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47" name="Rectangle 47"/>
            <p:cNvSpPr>
              <a:spLocks noChangeArrowheads="1"/>
            </p:cNvSpPr>
            <p:nvPr/>
          </p:nvSpPr>
          <p:spPr bwMode="auto">
            <a:xfrm>
              <a:off x="0" y="-973"/>
              <a:ext cx="228600" cy="6858482"/>
            </a:xfrm>
            <a:prstGeom prst="rect">
              <a:avLst/>
            </a:prstGeom>
            <a:solidFill>
              <a:srgbClr val="8AC1D9">
                <a:alpha val="5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Rectangle 48"/>
            <p:cNvSpPr>
              <a:spLocks noChangeArrowheads="1"/>
            </p:cNvSpPr>
            <p:nvPr/>
          </p:nvSpPr>
          <p:spPr bwMode="auto">
            <a:xfrm>
              <a:off x="8915400" y="-973"/>
              <a:ext cx="228600" cy="6858482"/>
            </a:xfrm>
            <a:prstGeom prst="rect">
              <a:avLst/>
            </a:prstGeom>
            <a:solidFill>
              <a:srgbClr val="8AC1D9">
                <a:alpha val="5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49"/>
            <p:cNvSpPr>
              <a:spLocks noChangeArrowheads="1"/>
            </p:cNvSpPr>
            <p:nvPr/>
          </p:nvSpPr>
          <p:spPr bwMode="auto">
            <a:xfrm>
              <a:off x="-273" y="0"/>
              <a:ext cx="9144195" cy="253819"/>
            </a:xfrm>
            <a:prstGeom prst="rect">
              <a:avLst/>
            </a:prstGeom>
            <a:solidFill>
              <a:srgbClr val="8AC1D9">
                <a:alpha val="5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Rectangle 50"/>
            <p:cNvSpPr>
              <a:spLocks noChangeArrowheads="1"/>
            </p:cNvSpPr>
            <p:nvPr/>
          </p:nvSpPr>
          <p:spPr bwMode="auto">
            <a:xfrm>
              <a:off x="-273" y="6604181"/>
              <a:ext cx="9144195" cy="253819"/>
            </a:xfrm>
            <a:prstGeom prst="rect">
              <a:avLst/>
            </a:prstGeom>
            <a:solidFill>
              <a:srgbClr val="8AC1D9">
                <a:alpha val="5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8600" y="0"/>
            <a:ext cx="8686800" cy="685800"/>
          </a:xfrm>
          <a:prstGeom prst="rect">
            <a:avLst/>
          </a:prstGeom>
        </p:spPr>
        <p:txBody>
          <a:bodyPr vert="horz" lIns="0" tIns="45720" rIns="91440" bIns="45720" rtlCol="0" anchor="b">
            <a:no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1058846"/>
            <a:ext cx="8686800" cy="5029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sz="1100" dirty="0"/>
          </a:p>
        </p:txBody>
      </p:sp>
      <p:sp>
        <p:nvSpPr>
          <p:cNvPr id="59" name="Footer Placeholder 6"/>
          <p:cNvSpPr txBox="1">
            <a:spLocks/>
          </p:cNvSpPr>
          <p:nvPr/>
        </p:nvSpPr>
        <p:spPr>
          <a:xfrm>
            <a:off x="1874520" y="6583680"/>
            <a:ext cx="7040880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en-US"/>
            </a:defPPr>
            <a:lvl1pPr marL="0" algn="l" defTabSz="914400" rtl="0" eaLnBrk="1" latinLnBrk="0" hangingPunct="1">
              <a:defRPr sz="7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1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7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228600" y="6592653"/>
            <a:ext cx="285821" cy="265348"/>
          </a:xfrm>
          <a:prstGeom prst="rect">
            <a:avLst/>
          </a:prstGeom>
        </p:spPr>
        <p:txBody>
          <a:bodyPr lIns="0" rIns="0"/>
          <a:lstStyle>
            <a:lvl1pPr algn="ctr">
              <a:defRPr sz="900">
                <a:solidFill>
                  <a:schemeClr val="tx2"/>
                </a:solidFill>
              </a:defRPr>
            </a:lvl1pPr>
          </a:lstStyle>
          <a:p>
            <a:fld id="{8D508841-7C58-4AFF-A5FE-7816CAD1C394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56" name="Table 55" hidden="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7361037"/>
              </p:ext>
            </p:extLst>
          </p:nvPr>
        </p:nvGraphicFramePr>
        <p:xfrm>
          <a:off x="0" y="579422"/>
          <a:ext cx="9146782" cy="55255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1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51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51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51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51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51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751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751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751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751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7517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7517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7517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2742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27423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18274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18274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18274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18274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90724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90724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90724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90724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90724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276094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276094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276094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276094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276094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32"/>
                    </a:ext>
                  </a:extLst>
                </a:gridCol>
              </a:tblGrid>
              <a:tr h="470780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11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11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11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11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11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011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011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011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011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4011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4011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4011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4011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4011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4011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4011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4011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4011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54011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D7D4CCBF-7967-1BFA-E29B-A7B175929DD0}"/>
              </a:ext>
            </a:extLst>
          </p:cNvPr>
          <p:cNvCxnSpPr>
            <a:cxnSpLocks/>
          </p:cNvCxnSpPr>
          <p:nvPr/>
        </p:nvCxnSpPr>
        <p:spPr>
          <a:xfrm>
            <a:off x="228600" y="6572797"/>
            <a:ext cx="1501140" cy="0"/>
          </a:xfrm>
          <a:prstGeom prst="line">
            <a:avLst/>
          </a:prstGeom>
          <a:ln w="31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" name="Picture 62">
            <a:extLst>
              <a:ext uri="{FF2B5EF4-FFF2-40B4-BE49-F238E27FC236}">
                <a16:creationId xmlns:a16="http://schemas.microsoft.com/office/drawing/2014/main" id="{D9DC170F-5C10-FAAE-F8BC-21455BBB5717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18528" y="6626803"/>
            <a:ext cx="1088434" cy="185473"/>
          </a:xfrm>
          <a:prstGeom prst="rect">
            <a:avLst/>
          </a:prstGeom>
        </p:spPr>
      </p:pic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A2BD50ED-C5F0-E50F-0C14-54B536E682C0}"/>
              </a:ext>
            </a:extLst>
          </p:cNvPr>
          <p:cNvCxnSpPr>
            <a:cxnSpLocks/>
          </p:cNvCxnSpPr>
          <p:nvPr/>
        </p:nvCxnSpPr>
        <p:spPr>
          <a:xfrm>
            <a:off x="519699" y="6605945"/>
            <a:ext cx="0" cy="206337"/>
          </a:xfrm>
          <a:prstGeom prst="line">
            <a:avLst/>
          </a:prstGeom>
          <a:ln w="31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6614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18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SzPct val="100000"/>
        <a:buFont typeface="Wingdings 2" panose="05020102010507070707" pitchFamily="18" charset="2"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" indent="-13716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Tx/>
        <a:buSzPct val="100000"/>
        <a:buFont typeface="Symbol" panose="05050102010706020507" pitchFamily="18" charset="2"/>
        <a:buChar char="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" indent="-13716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Tx/>
        <a:buSzPct val="100000"/>
        <a:buFont typeface="Segoe UI" panose="020B0502040204020203" pitchFamily="34" charset="0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" indent="-13716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Tx/>
        <a:buSzPct val="100000"/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" indent="-13716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Tx/>
        <a:buSzPct val="100000"/>
        <a:buFont typeface="Segoe UI" panose="020B0502040204020203" pitchFamily="34" charset="0"/>
        <a:buChar char="·"/>
        <a:defRPr sz="11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594360" indent="-1143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Tx/>
        <a:buSzPct val="100000"/>
        <a:buFont typeface="Wingdings 2" panose="05020102010507070707" pitchFamily="18" charset="2"/>
        <a:buChar char=""/>
        <a:defRPr sz="11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713232" indent="-1143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Tx/>
        <a:buSzPct val="100000"/>
        <a:buFont typeface="Wingdings 2" panose="05020102010507070707" pitchFamily="18" charset="2"/>
        <a:buChar char="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832104" indent="-1143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Tx/>
        <a:buSzPct val="100000"/>
        <a:buFont typeface="Wingdings 2" panose="05020102010507070707" pitchFamily="18" charset="2"/>
        <a:buChar char=""/>
        <a:defRPr sz="11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950976" indent="-112713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Tx/>
        <a:buSzPct val="100000"/>
        <a:buFont typeface="Wingdings 2" panose="05020102010507070707" pitchFamily="18" charset="2"/>
        <a:buChar char=""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71">
          <p15:clr>
            <a:srgbClr val="F26B43"/>
          </p15:clr>
        </p15:guide>
        <p15:guide id="3" pos="1446">
          <p15:clr>
            <a:srgbClr val="F26B43"/>
          </p15:clr>
        </p15:guide>
        <p15:guide id="4" pos="2880">
          <p15:clr>
            <a:srgbClr val="F26B43"/>
          </p15:clr>
        </p15:guide>
        <p15:guide id="5" pos="4313">
          <p15:clr>
            <a:srgbClr val="F26B43"/>
          </p15:clr>
        </p15:guide>
        <p15:guide id="6" orient="horz" pos="4061">
          <p15:clr>
            <a:srgbClr val="F26B43"/>
          </p15:clr>
        </p15:guide>
        <p15:guide id="7" pos="144">
          <p15:clr>
            <a:srgbClr val="F26B43"/>
          </p15:clr>
        </p15:guide>
        <p15:guide id="8" pos="5616">
          <p15:clr>
            <a:srgbClr val="F26B43"/>
          </p15:clr>
        </p15:guide>
        <p15:guide id="9" orient="horz" pos="156">
          <p15:clr>
            <a:srgbClr val="F26B43"/>
          </p15:clr>
        </p15:guide>
        <p15:guide id="10" orient="horz" pos="4140">
          <p15:clr>
            <a:srgbClr val="F26B43"/>
          </p15:clr>
        </p15:guide>
        <p15:guide id="11" orient="horz" pos="508">
          <p15:clr>
            <a:srgbClr val="F26B43"/>
          </p15:clr>
        </p15:guide>
        <p15:guide id="12" orient="horz" pos="2886">
          <p15:clr>
            <a:srgbClr val="F26B43"/>
          </p15:clr>
        </p15:guide>
        <p15:guide id="13" orient="horz" pos="1443">
          <p15:clr>
            <a:srgbClr val="F26B43"/>
          </p15:clr>
        </p15:guide>
        <p15:guide id="14" orient="horz" pos="3840">
          <p15:clr>
            <a:srgbClr val="F26B43"/>
          </p15:clr>
        </p15:guide>
        <p15:guide id="15" orient="horz" pos="216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svg"/><Relationship Id="rId3" Type="http://schemas.openxmlformats.org/officeDocument/2006/relationships/image" Target="../media/image11.svg"/><Relationship Id="rId4" Type="http://schemas.openxmlformats.org/officeDocument/2006/relationships/image" Target="../media/image12.svg"/><Relationship Id="rId5" Type="http://schemas.openxmlformats.org/officeDocument/2006/relationships/image" Target="../media/image13.svg"/><Relationship Id="rId6" Type="http://schemas.openxmlformats.org/officeDocument/2006/relationships/image" Target="../media/image14.sv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Relationship Id="rId13" Type="http://schemas.openxmlformats.org/officeDocument/2006/relationships/image" Target="../media/image2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18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image" Target="../media/image30.png"/><Relationship Id="rId12" Type="http://schemas.openxmlformats.org/officeDocument/2006/relationships/image" Target="../media/image31.png"/><Relationship Id="rId13" Type="http://schemas.openxmlformats.org/officeDocument/2006/relationships/image" Target="../media/image32.png"/><Relationship Id="rId14" Type="http://schemas.openxmlformats.org/officeDocument/2006/relationships/image" Target="../media/image33.png"/><Relationship Id="rId15" Type="http://schemas.openxmlformats.org/officeDocument/2006/relationships/image" Target="../media/image34.png"/><Relationship Id="rId16" Type="http://schemas.openxmlformats.org/officeDocument/2006/relationships/image" Target="../media/image35.png"/><Relationship Id="rId17" Type="http://schemas.openxmlformats.org/officeDocument/2006/relationships/image" Target="../media/image15.png"/><Relationship Id="rId18" Type="http://schemas.openxmlformats.org/officeDocument/2006/relationships/image" Target="../media/image36.png"/><Relationship Id="rId19" Type="http://schemas.openxmlformats.org/officeDocument/2006/relationships/image" Target="../media/image17.png"/><Relationship Id="rId20" Type="http://schemas.openxmlformats.org/officeDocument/2006/relationships/image" Target="../media/image16.png"/><Relationship Id="rId21" Type="http://schemas.openxmlformats.org/officeDocument/2006/relationships/image" Target="../media/image37.png"/><Relationship Id="rId22" Type="http://schemas.openxmlformats.org/officeDocument/2006/relationships/image" Target="../media/image38.png"/><Relationship Id="rId23" Type="http://schemas.openxmlformats.org/officeDocument/2006/relationships/image" Target="../media/image39.png"/><Relationship Id="rId24" Type="http://schemas.openxmlformats.org/officeDocument/2006/relationships/image" Target="../media/image40.png"/><Relationship Id="rId25" Type="http://schemas.openxmlformats.org/officeDocument/2006/relationships/image" Target="../media/image41.png"/><Relationship Id="rId26" Type="http://schemas.openxmlformats.org/officeDocument/2006/relationships/image" Target="../media/image42.png"/><Relationship Id="rId27" Type="http://schemas.openxmlformats.org/officeDocument/2006/relationships/image" Target="../media/image43.png"/><Relationship Id="rId28" Type="http://schemas.openxmlformats.org/officeDocument/2006/relationships/image" Target="../media/icon901.svg"/><Relationship Id="rId29" Type="http://schemas.openxmlformats.org/officeDocument/2006/relationships/image" Target="../media/image44.png"/><Relationship Id="rId30" Type="http://schemas.openxmlformats.org/officeDocument/2006/relationships/image" Target="../media/icon902.svg"/><Relationship Id="rId31" Type="http://schemas.openxmlformats.org/officeDocument/2006/relationships/image" Target="../media/image45.png"/><Relationship Id="rId32" Type="http://schemas.openxmlformats.org/officeDocument/2006/relationships/image" Target="../media/icon903.svg"/><Relationship Id="rId33" Type="http://schemas.openxmlformats.org/officeDocument/2006/relationships/image" Target="../media/image46.png"/><Relationship Id="rId34" Type="http://schemas.openxmlformats.org/officeDocument/2006/relationships/image" Target="../media/icon904.svg"/><Relationship Id="rId35" Type="http://schemas.openxmlformats.org/officeDocument/2006/relationships/image" Target="../media/image47.png"/><Relationship Id="rId36" Type="http://schemas.openxmlformats.org/officeDocument/2006/relationships/image" Target="../media/icon905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98376B-C967-C02D-4659-109146BFB2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4951" y="3889986"/>
            <a:ext cx="3374136" cy="553998"/>
          </a:xfrm>
          <a:ln>
            <a:solidFill>
              <a:schemeClr val="bg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1138195-127F-783B-4FD1-73FAAE09D9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99392F0-9F42-7528-65ED-0CEAC8D12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July 2026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3986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16562-AC7E-11E5-427B-3B3255C4D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AD489-3BF6-39F7-7777-9E85F6A9D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1800" b="1">
                <a:solidFill>
                  <a:srgbClr val="002855"/>
                </a:solidFill>
                <a:latin typeface="Segoe UI Semibold"/>
              </a:rPr>
              <a:t>GoldenSource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5D953B-6C4A-C3A3-2237-5547104D6C57}"/>
              </a:ext>
            </a:extLst>
          </p:cNvPr>
          <p:cNvSpPr/>
          <p:nvPr/>
        </p:nvSpPr>
        <p:spPr>
          <a:xfrm>
            <a:off x="228600" y="822960"/>
            <a:ext cx="8686800" cy="530352"/>
          </a:xfrm>
          <a:prstGeom prst="rect">
            <a:avLst/>
          </a:prstGeom>
          <a:solidFill>
            <a:srgbClr val="00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33334F-2D07-7CD6-6DE3-4A4D3D658245}"/>
              </a:ext>
            </a:extLst>
          </p:cNvPr>
          <p:cNvSpPr txBox="1"/>
          <p:nvPr/>
        </p:nvSpPr>
        <p:spPr>
          <a:xfrm>
            <a:off x="356616" y="938736"/>
            <a:ext cx="8430768" cy="29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dirty="0" err="1">
                <a:solidFill>
                  <a:srgbClr val="FFFFFF"/>
                </a:solidFill>
                <a:latin typeface="Segoe UI Semibold"/>
              </a:rPr>
              <a:t>GoldenSource</a:t>
            </a:r>
            <a:r>
              <a:rPr sz="950" b="1" i="0" dirty="0">
                <a:solidFill>
                  <a:srgbClr val="FFFFFF"/>
                </a:solidFill>
                <a:latin typeface="Segoe UI Semibold"/>
              </a:rPr>
              <a:t> has mastered securities, pricing and entity data for capital markets since 1984</a:t>
            </a:r>
            <a:r>
              <a:rPr lang="en-US" sz="950" b="1" i="0" dirty="0">
                <a:solidFill>
                  <a:srgbClr val="FFFFFF"/>
                </a:solidFill>
                <a:latin typeface="Segoe UI Semibold"/>
              </a:rPr>
              <a:t>; the Company is owned by </a:t>
            </a:r>
            <a:r>
              <a:rPr lang="en-US" sz="950" b="1" i="0" dirty="0" err="1">
                <a:solidFill>
                  <a:srgbClr val="FFFFFF"/>
                </a:solidFill>
                <a:latin typeface="Segoe UI Semibold"/>
              </a:rPr>
              <a:t>Gemspring</a:t>
            </a:r>
            <a:r>
              <a:rPr lang="en-US" sz="950" b="1" i="0" dirty="0">
                <a:solidFill>
                  <a:srgbClr val="FFFFFF"/>
                </a:solidFill>
                <a:latin typeface="Segoe UI Semibold"/>
              </a:rPr>
              <a:t> Capital who has invested </a:t>
            </a:r>
            <a:r>
              <a:rPr sz="950" b="1" i="0" dirty="0">
                <a:solidFill>
                  <a:srgbClr val="FFFFFF"/>
                </a:solidFill>
                <a:latin typeface="Segoe UI Semibold"/>
              </a:rPr>
              <a:t> </a:t>
            </a:r>
            <a:r>
              <a:rPr sz="950" b="1" i="0" dirty="0" err="1">
                <a:solidFill>
                  <a:srgbClr val="FFFFFF"/>
                </a:solidFill>
                <a:latin typeface="Segoe UI Semibold"/>
              </a:rPr>
              <a:t>Gemspring</a:t>
            </a:r>
            <a:r>
              <a:rPr sz="950" b="1" i="0" dirty="0">
                <a:solidFill>
                  <a:srgbClr val="FFFFFF"/>
                </a:solidFill>
                <a:latin typeface="Segoe UI Semibold"/>
              </a:rPr>
              <a:t> Capital has owned it since May 2022; headcount is up roughly 60% over that period and 2025 was a record year.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48D40C-ED82-3013-23F7-13801788582D}"/>
              </a:ext>
            </a:extLst>
          </p:cNvPr>
          <p:cNvSpPr txBox="1"/>
          <p:nvPr/>
        </p:nvSpPr>
        <p:spPr>
          <a:xfrm>
            <a:off x="356616" y="1490472"/>
            <a:ext cx="191566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002855"/>
                </a:solidFill>
                <a:latin typeface="Segoe UI Semibold"/>
              </a:rPr>
              <a:t>1984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CA596A-9F21-CDF0-0973-4E543602D440}"/>
              </a:ext>
            </a:extLst>
          </p:cNvPr>
          <p:cNvSpPr txBox="1"/>
          <p:nvPr/>
        </p:nvSpPr>
        <p:spPr>
          <a:xfrm>
            <a:off x="356616" y="1709928"/>
            <a:ext cx="1915667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dirty="0">
                <a:solidFill>
                  <a:srgbClr val="000000"/>
                </a:solidFill>
                <a:latin typeface="Segoe UI"/>
              </a:rPr>
              <a:t>Founded; over 40 years in capital markets 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8E460A-E957-9AAC-70DC-2B13EB79BC1F}"/>
              </a:ext>
            </a:extLst>
          </p:cNvPr>
          <p:cNvSpPr/>
          <p:nvPr/>
        </p:nvSpPr>
        <p:spPr>
          <a:xfrm>
            <a:off x="2400300" y="1499616"/>
            <a:ext cx="7315" cy="420624"/>
          </a:xfrm>
          <a:prstGeom prst="rect">
            <a:avLst/>
          </a:prstGeom>
          <a:solidFill>
            <a:srgbClr val="BCB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1848F0-4CBC-D879-6751-1335CF78E50B}"/>
              </a:ext>
            </a:extLst>
          </p:cNvPr>
          <p:cNvSpPr txBox="1"/>
          <p:nvPr/>
        </p:nvSpPr>
        <p:spPr>
          <a:xfrm>
            <a:off x="2528316" y="1490472"/>
            <a:ext cx="191566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002855"/>
                </a:solidFill>
                <a:latin typeface="Segoe UI Semibold"/>
              </a:rPr>
              <a:t>100+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E8BC07-7A6B-7601-928E-C2362DF2AB8D}"/>
              </a:ext>
            </a:extLst>
          </p:cNvPr>
          <p:cNvSpPr txBox="1"/>
          <p:nvPr/>
        </p:nvSpPr>
        <p:spPr>
          <a:xfrm>
            <a:off x="2528316" y="1709928"/>
            <a:ext cx="1915667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dirty="0">
                <a:solidFill>
                  <a:srgbClr val="000000"/>
                </a:solidFill>
                <a:latin typeface="Segoe UI"/>
              </a:rPr>
              <a:t>Pre-built vendor data feeds and adaptors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0651F2-B09D-47F4-B3B9-B03B94BD1A4B}"/>
              </a:ext>
            </a:extLst>
          </p:cNvPr>
          <p:cNvSpPr/>
          <p:nvPr/>
        </p:nvSpPr>
        <p:spPr>
          <a:xfrm>
            <a:off x="4572000" y="1499616"/>
            <a:ext cx="7315" cy="420624"/>
          </a:xfrm>
          <a:prstGeom prst="rect">
            <a:avLst/>
          </a:prstGeom>
          <a:solidFill>
            <a:srgbClr val="BCB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378723-A276-1A63-ABBE-49DE648C337B}"/>
              </a:ext>
            </a:extLst>
          </p:cNvPr>
          <p:cNvSpPr txBox="1"/>
          <p:nvPr/>
        </p:nvSpPr>
        <p:spPr>
          <a:xfrm>
            <a:off x="4700016" y="1490472"/>
            <a:ext cx="191566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002855"/>
                </a:solidFill>
                <a:latin typeface="Segoe UI Semibold"/>
              </a:rPr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E8BA92-39B3-BA8A-5D8A-CDB16091AB95}"/>
              </a:ext>
            </a:extLst>
          </p:cNvPr>
          <p:cNvSpPr txBox="1"/>
          <p:nvPr/>
        </p:nvSpPr>
        <p:spPr>
          <a:xfrm>
            <a:off x="4700016" y="1709928"/>
            <a:ext cx="1915667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000000"/>
                </a:solidFill>
                <a:latin typeface="Segoe UI"/>
              </a:rPr>
              <a:t>Offices across North America, EMEA and APAC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FEBC536-3E7A-199C-22B4-BA88AACA0D51}"/>
              </a:ext>
            </a:extLst>
          </p:cNvPr>
          <p:cNvSpPr/>
          <p:nvPr/>
        </p:nvSpPr>
        <p:spPr>
          <a:xfrm>
            <a:off x="6743700" y="1499616"/>
            <a:ext cx="7315" cy="420624"/>
          </a:xfrm>
          <a:prstGeom prst="rect">
            <a:avLst/>
          </a:prstGeom>
          <a:solidFill>
            <a:srgbClr val="BCB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BCDADF-3B37-F09D-0C25-7522E9CF3865}"/>
              </a:ext>
            </a:extLst>
          </p:cNvPr>
          <p:cNvSpPr txBox="1"/>
          <p:nvPr/>
        </p:nvSpPr>
        <p:spPr>
          <a:xfrm>
            <a:off x="6871716" y="1490472"/>
            <a:ext cx="1915667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002855"/>
                </a:solidFill>
                <a:latin typeface="Segoe UI Semibold"/>
              </a:rPr>
              <a:t>4 yrs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C3EBED-13F6-A710-9450-FE449B4EF736}"/>
              </a:ext>
            </a:extLst>
          </p:cNvPr>
          <p:cNvSpPr txBox="1"/>
          <p:nvPr/>
        </p:nvSpPr>
        <p:spPr>
          <a:xfrm>
            <a:off x="6871716" y="1709928"/>
            <a:ext cx="1915667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dirty="0">
                <a:solidFill>
                  <a:srgbClr val="000000"/>
                </a:solidFill>
                <a:latin typeface="Segoe UI"/>
              </a:rPr>
              <a:t>Of </a:t>
            </a:r>
            <a:r>
              <a:rPr lang="en-US" sz="750" dirty="0" err="1">
                <a:solidFill>
                  <a:srgbClr val="000000"/>
                </a:solidFill>
                <a:latin typeface="Segoe UI"/>
              </a:rPr>
              <a:t>Gemspring</a:t>
            </a:r>
            <a:r>
              <a:rPr lang="en-US" sz="750" dirty="0">
                <a:solidFill>
                  <a:srgbClr val="000000"/>
                </a:solidFill>
                <a:latin typeface="Segoe UI"/>
              </a:rPr>
              <a:t> partnership</a:t>
            </a:r>
            <a:endParaRPr sz="750" b="0" i="0" dirty="0">
              <a:solidFill>
                <a:srgbClr val="000000"/>
              </a:solidFill>
              <a:latin typeface="Segoe U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F3AF07-0526-EDC8-787B-D2B5948A54EC}"/>
              </a:ext>
            </a:extLst>
          </p:cNvPr>
          <p:cNvSpPr/>
          <p:nvPr/>
        </p:nvSpPr>
        <p:spPr>
          <a:xfrm>
            <a:off x="228600" y="2048256"/>
            <a:ext cx="4983480" cy="219456"/>
          </a:xfrm>
          <a:prstGeom prst="rect">
            <a:avLst/>
          </a:prstGeom>
          <a:solidFill>
            <a:srgbClr val="00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C184E5-595E-25F4-D950-872AF43D0766}"/>
              </a:ext>
            </a:extLst>
          </p:cNvPr>
          <p:cNvSpPr txBox="1"/>
          <p:nvPr/>
        </p:nvSpPr>
        <p:spPr>
          <a:xfrm>
            <a:off x="320040" y="2048256"/>
            <a:ext cx="48006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>
                <a:solidFill>
                  <a:srgbClr val="FFFFFF"/>
                </a:solidFill>
                <a:latin typeface="Segoe UI Semibold"/>
              </a:rPr>
              <a:t>COMPANY OVERVIEW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FED26D-0E94-7C76-97B6-49AEBF41B340}"/>
              </a:ext>
            </a:extLst>
          </p:cNvPr>
          <p:cNvSpPr txBox="1"/>
          <p:nvPr/>
        </p:nvSpPr>
        <p:spPr>
          <a:xfrm>
            <a:off x="246888" y="2359152"/>
            <a:ext cx="4946904" cy="16807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05156" indent="-105156"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Clr>
                <a:srgbClr val="508BC9"/>
              </a:buClr>
              <a:buSzPct val="90000"/>
              <a:buFont typeface="Arial"/>
              <a:buChar char="▪"/>
            </a:pPr>
            <a:r>
              <a:rPr sz="800" b="0" i="0" dirty="0" err="1">
                <a:solidFill>
                  <a:srgbClr val="000000"/>
                </a:solidFill>
              </a:rPr>
              <a:t>GoldenSource</a:t>
            </a:r>
            <a:r>
              <a:rPr sz="800" b="0" i="0" dirty="0">
                <a:solidFill>
                  <a:srgbClr val="000000"/>
                </a:solidFill>
              </a:rPr>
              <a:t> is one of the </a:t>
            </a:r>
            <a:r>
              <a:rPr sz="800" b="1" i="0" dirty="0">
                <a:solidFill>
                  <a:srgbClr val="000000"/>
                </a:solidFill>
              </a:rPr>
              <a:t>original enterprise data management </a:t>
            </a:r>
            <a:r>
              <a:rPr sz="800" b="0" i="0" dirty="0">
                <a:solidFill>
                  <a:srgbClr val="000000"/>
                </a:solidFill>
              </a:rPr>
              <a:t>(EDM) vendors in capital markets and is credited with </a:t>
            </a:r>
            <a:r>
              <a:rPr sz="800" b="0" i="0" dirty="0" err="1">
                <a:solidFill>
                  <a:srgbClr val="000000"/>
                </a:solidFill>
              </a:rPr>
              <a:t>popularising</a:t>
            </a:r>
            <a:r>
              <a:rPr sz="800" b="0" i="0" dirty="0">
                <a:solidFill>
                  <a:srgbClr val="000000"/>
                </a:solidFill>
              </a:rPr>
              <a:t> the term</a:t>
            </a:r>
            <a:r>
              <a:rPr lang="en-US" sz="800" dirty="0">
                <a:solidFill>
                  <a:srgbClr val="000000"/>
                </a:solidFill>
              </a:rPr>
              <a:t> / building out the category</a:t>
            </a:r>
            <a:endParaRPr sz="800" b="0" i="0" dirty="0">
              <a:solidFill>
                <a:srgbClr val="000000"/>
              </a:solidFill>
            </a:endParaRPr>
          </a:p>
          <a:p>
            <a:pPr marL="105156" indent="-105156"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Clr>
                <a:srgbClr val="508BC9"/>
              </a:buClr>
              <a:buSzPct val="90000"/>
              <a:buFont typeface="Arial"/>
              <a:buChar char="▪"/>
            </a:pPr>
            <a:r>
              <a:rPr lang="en-US" sz="800" b="0" i="0" dirty="0">
                <a:solidFill>
                  <a:srgbClr val="000000"/>
                </a:solidFill>
              </a:rPr>
              <a:t>Simplifies and streamlines data that quickly becomes disjointed across many sources</a:t>
            </a:r>
            <a:endParaRPr sz="800" b="0" i="0" dirty="0">
              <a:solidFill>
                <a:srgbClr val="000000"/>
              </a:solidFill>
            </a:endParaRPr>
          </a:p>
          <a:p>
            <a:pPr marL="105156" indent="-105156"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Clr>
                <a:srgbClr val="508BC9"/>
              </a:buClr>
              <a:buSzPct val="90000"/>
              <a:buFont typeface="Arial"/>
              <a:buChar char="▪"/>
            </a:pPr>
            <a:r>
              <a:rPr lang="en-US" sz="800" b="0" i="0" dirty="0">
                <a:solidFill>
                  <a:srgbClr val="000000"/>
                </a:solidFill>
              </a:rPr>
              <a:t>Their </a:t>
            </a:r>
            <a:r>
              <a:rPr lang="en-US" sz="800" dirty="0">
                <a:solidFill>
                  <a:srgbClr val="000000"/>
                </a:solidFill>
              </a:rPr>
              <a:t>one platform uses</a:t>
            </a:r>
            <a:r>
              <a:rPr sz="800" b="0" i="0" dirty="0">
                <a:solidFill>
                  <a:srgbClr val="000000"/>
                </a:solidFill>
              </a:rPr>
              <a:t> two go-to-market lenses: the </a:t>
            </a:r>
            <a:r>
              <a:rPr sz="800" b="1" i="0" dirty="0">
                <a:solidFill>
                  <a:srgbClr val="000000"/>
                </a:solidFill>
              </a:rPr>
              <a:t>Investment Data Platform</a:t>
            </a:r>
            <a:r>
              <a:rPr sz="800" b="0" i="0" dirty="0">
                <a:solidFill>
                  <a:srgbClr val="000000"/>
                </a:solidFill>
              </a:rPr>
              <a:t> for the buy side and a </a:t>
            </a:r>
            <a:r>
              <a:rPr sz="800" b="1" i="0" dirty="0">
                <a:solidFill>
                  <a:srgbClr val="000000"/>
                </a:solidFill>
              </a:rPr>
              <a:t>Trading, Risk and Regulatory Data Platform</a:t>
            </a:r>
            <a:r>
              <a:rPr sz="800" b="0" i="0" dirty="0">
                <a:solidFill>
                  <a:srgbClr val="000000"/>
                </a:solidFill>
              </a:rPr>
              <a:t> for the sell side</a:t>
            </a:r>
          </a:p>
          <a:p>
            <a:pPr marL="105156" indent="-105156"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Clr>
                <a:srgbClr val="508BC9"/>
              </a:buClr>
              <a:buSzPct val="90000"/>
              <a:buFont typeface="Arial"/>
              <a:buChar char="▪"/>
            </a:pPr>
            <a:r>
              <a:rPr lang="en-US" sz="800" b="0" i="0" dirty="0">
                <a:solidFill>
                  <a:srgbClr val="000000"/>
                </a:solidFill>
              </a:rPr>
              <a:t>Operates with a r</a:t>
            </a:r>
            <a:r>
              <a:rPr sz="800" b="0" i="0" dirty="0">
                <a:solidFill>
                  <a:srgbClr val="000000"/>
                </a:solidFill>
              </a:rPr>
              <a:t>ecurring subscription licen</a:t>
            </a:r>
            <a:r>
              <a:rPr lang="en-US" sz="800" b="0" i="0" dirty="0">
                <a:solidFill>
                  <a:srgbClr val="000000"/>
                </a:solidFill>
              </a:rPr>
              <a:t>s</a:t>
            </a:r>
            <a:r>
              <a:rPr sz="800" b="0" i="0" dirty="0">
                <a:solidFill>
                  <a:srgbClr val="000000"/>
                </a:solidFill>
              </a:rPr>
              <a:t>e</a:t>
            </a:r>
            <a:r>
              <a:rPr lang="en-US" sz="800" b="0" i="0" dirty="0">
                <a:solidFill>
                  <a:srgbClr val="000000"/>
                </a:solidFill>
              </a:rPr>
              <a:t> but offers customers flexible solutions if they want hands-on</a:t>
            </a:r>
          </a:p>
          <a:p>
            <a:pPr marL="562356" lvl="1" indent="-105156">
              <a:lnSpc>
                <a:spcPct val="102000"/>
              </a:lnSpc>
              <a:spcAft>
                <a:spcPts val="400"/>
              </a:spcAft>
              <a:buClr>
                <a:srgbClr val="508BC9"/>
              </a:buClr>
              <a:buSzPct val="90000"/>
              <a:buFont typeface="Arial"/>
              <a:buChar char="▪"/>
            </a:pPr>
            <a:r>
              <a:rPr lang="en-US" sz="800" dirty="0" err="1">
                <a:solidFill>
                  <a:srgbClr val="000000"/>
                </a:solidFill>
              </a:rPr>
              <a:t>GoldenSource</a:t>
            </a:r>
            <a:r>
              <a:rPr lang="en-US" sz="800" dirty="0">
                <a:solidFill>
                  <a:srgbClr val="000000"/>
                </a:solidFill>
              </a:rPr>
              <a:t> lets customers host </a:t>
            </a:r>
            <a:r>
              <a:rPr lang="en-US" sz="800" b="1" dirty="0">
                <a:solidFill>
                  <a:srgbClr val="000000"/>
                </a:solidFill>
              </a:rPr>
              <a:t>on-premise</a:t>
            </a:r>
            <a:r>
              <a:rPr lang="en-US" sz="800" dirty="0">
                <a:solidFill>
                  <a:srgbClr val="000000"/>
                </a:solidFill>
              </a:rPr>
              <a:t> or </a:t>
            </a:r>
            <a:r>
              <a:rPr lang="en-US" sz="800" b="1" dirty="0">
                <a:solidFill>
                  <a:srgbClr val="000000"/>
                </a:solidFill>
              </a:rPr>
              <a:t>outsource</a:t>
            </a:r>
            <a:r>
              <a:rPr lang="en-US" sz="800" dirty="0">
                <a:solidFill>
                  <a:srgbClr val="000000"/>
                </a:solidFill>
              </a:rPr>
              <a:t> to </a:t>
            </a:r>
            <a:r>
              <a:rPr lang="en-US" sz="800" dirty="0" err="1">
                <a:solidFill>
                  <a:srgbClr val="000000"/>
                </a:solidFill>
              </a:rPr>
              <a:t>GoldenSource</a:t>
            </a:r>
            <a:r>
              <a:rPr lang="en-US" sz="800" dirty="0">
                <a:solidFill>
                  <a:srgbClr val="000000"/>
                </a:solidFill>
              </a:rPr>
              <a:t> for hosting</a:t>
            </a:r>
          </a:p>
          <a:p>
            <a:pPr marL="562356" lvl="1" indent="-105156">
              <a:lnSpc>
                <a:spcPct val="102000"/>
              </a:lnSpc>
              <a:spcAft>
                <a:spcPts val="400"/>
              </a:spcAft>
              <a:buClr>
                <a:srgbClr val="508BC9"/>
              </a:buClr>
              <a:buSzPct val="90000"/>
              <a:buFont typeface="Arial"/>
              <a:buChar char="▪"/>
            </a:pPr>
            <a:r>
              <a:rPr lang="en-US" sz="800" i="0" dirty="0" err="1">
                <a:solidFill>
                  <a:srgbClr val="000000"/>
                </a:solidFill>
              </a:rPr>
              <a:t>GoldenSource</a:t>
            </a:r>
            <a:r>
              <a:rPr lang="en-US" sz="800" i="0" dirty="0">
                <a:solidFill>
                  <a:srgbClr val="000000"/>
                </a:solidFill>
              </a:rPr>
              <a:t> offers </a:t>
            </a:r>
            <a:r>
              <a:rPr lang="en-US" sz="800" b="1" i="0" dirty="0">
                <a:solidFill>
                  <a:srgbClr val="000000"/>
                </a:solidFill>
              </a:rPr>
              <a:t>implementation services </a:t>
            </a:r>
            <a:r>
              <a:rPr lang="en-US" sz="800" i="0" dirty="0">
                <a:solidFill>
                  <a:srgbClr val="000000"/>
                </a:solidFill>
              </a:rPr>
              <a:t>and </a:t>
            </a:r>
            <a:r>
              <a:rPr lang="en-US" sz="800" b="1" i="0" dirty="0">
                <a:solidFill>
                  <a:srgbClr val="000000"/>
                </a:solidFill>
              </a:rPr>
              <a:t>managed services </a:t>
            </a:r>
            <a:r>
              <a:rPr lang="en-US" sz="800" i="0" dirty="0">
                <a:solidFill>
                  <a:srgbClr val="000000"/>
                </a:solidFill>
              </a:rPr>
              <a:t>for customers that want more touch-points</a:t>
            </a:r>
            <a:endParaRPr sz="800" i="0" dirty="0">
              <a:solidFill>
                <a:srgbClr val="000000"/>
              </a:solidFill>
            </a:endParaRPr>
          </a:p>
          <a:p>
            <a:pPr marL="105156" indent="-105156"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Clr>
                <a:srgbClr val="508BC9"/>
              </a:buClr>
              <a:buSzPct val="90000"/>
              <a:buFont typeface="Arial"/>
              <a:buChar char="▪"/>
            </a:pPr>
            <a:r>
              <a:rPr lang="en-US" sz="800" b="1" i="0" dirty="0">
                <a:solidFill>
                  <a:srgbClr val="000000"/>
                </a:solidFill>
              </a:rPr>
              <a:t>Fresh leadership</a:t>
            </a:r>
            <a:r>
              <a:rPr sz="800" b="1" i="0" dirty="0">
                <a:solidFill>
                  <a:srgbClr val="000000"/>
                </a:solidFill>
              </a:rPr>
              <a:t> under sponsor ownership: </a:t>
            </a:r>
            <a:r>
              <a:rPr sz="800" i="0" dirty="0">
                <a:solidFill>
                  <a:srgbClr val="000000"/>
                </a:solidFill>
              </a:rPr>
              <a:t>James Corrigan became CEO in September 2024, succeeding John Eley after a decade</a:t>
            </a:r>
            <a:r>
              <a:rPr lang="en-US" sz="800" i="0" dirty="0">
                <a:solidFill>
                  <a:srgbClr val="000000"/>
                </a:solidFill>
              </a:rPr>
              <a:t> of service with the firm</a:t>
            </a:r>
            <a:endParaRPr sz="800" i="0" dirty="0">
              <a:solidFill>
                <a:srgbClr val="00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516A466-2B45-72DC-9FA3-76A6EC030ECE}"/>
              </a:ext>
            </a:extLst>
          </p:cNvPr>
          <p:cNvSpPr/>
          <p:nvPr/>
        </p:nvSpPr>
        <p:spPr>
          <a:xfrm>
            <a:off x="5303520" y="2048256"/>
            <a:ext cx="3611880" cy="219456"/>
          </a:xfrm>
          <a:prstGeom prst="rect">
            <a:avLst/>
          </a:prstGeom>
          <a:solidFill>
            <a:srgbClr val="00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5C8889-EDAA-74BC-0DEF-5FDAD3B6CC0C}"/>
              </a:ext>
            </a:extLst>
          </p:cNvPr>
          <p:cNvSpPr txBox="1"/>
          <p:nvPr/>
        </p:nvSpPr>
        <p:spPr>
          <a:xfrm>
            <a:off x="5394959" y="2048256"/>
            <a:ext cx="34290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>
                <a:solidFill>
                  <a:srgbClr val="FFFFFF"/>
                </a:solidFill>
                <a:latin typeface="Segoe UI Semibold"/>
              </a:rPr>
              <a:t>COMPANY SNAPSHOT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0E9392C-2A34-3FFB-D57E-CF96D01D7C19}"/>
              </a:ext>
            </a:extLst>
          </p:cNvPr>
          <p:cNvSpPr/>
          <p:nvPr/>
        </p:nvSpPr>
        <p:spPr>
          <a:xfrm>
            <a:off x="228600" y="4187952"/>
            <a:ext cx="8686800" cy="219456"/>
          </a:xfrm>
          <a:prstGeom prst="rect">
            <a:avLst/>
          </a:prstGeom>
          <a:solidFill>
            <a:srgbClr val="00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9BD485E-A667-1AE6-D82F-F88ED5BEBA14}"/>
              </a:ext>
            </a:extLst>
          </p:cNvPr>
          <p:cNvSpPr txBox="1"/>
          <p:nvPr/>
        </p:nvSpPr>
        <p:spPr>
          <a:xfrm>
            <a:off x="320040" y="4187952"/>
            <a:ext cx="85039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>
                <a:solidFill>
                  <a:srgbClr val="FFFFFF"/>
                </a:solidFill>
                <a:latin typeface="Segoe UI Semibold"/>
              </a:rPr>
              <a:t>PLATFORM AND PRODUCT SUITE</a:t>
            </a:r>
          </a:p>
        </p:txBody>
      </p:sp>
      <p:sp>
        <p:nvSpPr>
          <p:cNvPr id="43" name="Chevron 42">
            <a:extLst>
              <a:ext uri="{FF2B5EF4-FFF2-40B4-BE49-F238E27FC236}">
                <a16:creationId xmlns:a16="http://schemas.microsoft.com/office/drawing/2014/main" id="{B4295847-BFA9-F66B-61B8-AE965782190A}"/>
              </a:ext>
            </a:extLst>
          </p:cNvPr>
          <p:cNvSpPr/>
          <p:nvPr/>
        </p:nvSpPr>
        <p:spPr>
          <a:xfrm>
            <a:off x="228600" y="4498848"/>
            <a:ext cx="2240280" cy="310896"/>
          </a:xfrm>
          <a:prstGeom prst="chevron">
            <a:avLst/>
          </a:prstGeom>
          <a:solidFill>
            <a:srgbClr val="00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0" rIns="54864" bIns="0" rtlCol="0" anchor="ctr"/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FFFFFF"/>
                </a:solidFill>
                <a:latin typeface="Segoe UI Semibold"/>
              </a:rPr>
              <a:t>SOURCE AND CONNECT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00DA0E5-3AAD-2081-FB4F-548430EA90FB}"/>
              </a:ext>
            </a:extLst>
          </p:cNvPr>
          <p:cNvSpPr txBox="1"/>
          <p:nvPr/>
        </p:nvSpPr>
        <p:spPr>
          <a:xfrm>
            <a:off x="393192" y="4873752"/>
            <a:ext cx="1965960" cy="2718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05156" indent="-105156"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rgbClr val="002855"/>
              </a:buClr>
              <a:buSzPct val="90000"/>
              <a:buFont typeface="Arial"/>
              <a:buChar char="▪"/>
            </a:pPr>
            <a:r>
              <a:rPr sz="800" b="0" i="0" dirty="0">
                <a:solidFill>
                  <a:srgbClr val="000000"/>
                </a:solidFill>
                <a:latin typeface="Segoe UI"/>
              </a:rPr>
              <a:t>Connections and Adaptors</a:t>
            </a:r>
          </a:p>
          <a:p>
            <a:pPr marL="105156" indent="-105156"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rgbClr val="002855"/>
              </a:buClr>
              <a:buSzPct val="90000"/>
              <a:buFont typeface="Arial"/>
              <a:buChar char="▪"/>
            </a:pPr>
            <a:r>
              <a:rPr sz="800" b="0" i="0" dirty="0">
                <a:solidFill>
                  <a:srgbClr val="000000"/>
                </a:solidFill>
                <a:latin typeface="Segoe UI"/>
              </a:rPr>
              <a:t>100+ vendor feeds</a:t>
            </a:r>
          </a:p>
        </p:txBody>
      </p:sp>
      <p:sp>
        <p:nvSpPr>
          <p:cNvPr id="45" name="Chevron 44">
            <a:extLst>
              <a:ext uri="{FF2B5EF4-FFF2-40B4-BE49-F238E27FC236}">
                <a16:creationId xmlns:a16="http://schemas.microsoft.com/office/drawing/2014/main" id="{CB672B8D-4ECD-DF6C-E489-0A73475FE223}"/>
              </a:ext>
            </a:extLst>
          </p:cNvPr>
          <p:cNvSpPr/>
          <p:nvPr/>
        </p:nvSpPr>
        <p:spPr>
          <a:xfrm>
            <a:off x="2377440" y="4498848"/>
            <a:ext cx="2240280" cy="310896"/>
          </a:xfrm>
          <a:prstGeom prst="chevron">
            <a:avLst/>
          </a:prstGeom>
          <a:solidFill>
            <a:srgbClr val="1C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0" rIns="54864" bIns="0" rtlCol="0" anchor="ctr"/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FFFFFF"/>
                </a:solidFill>
                <a:latin typeface="Segoe UI Semibold"/>
              </a:rPr>
              <a:t>MASTER AND GOVERN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092BCAE-26C0-912D-B0AF-27F2CFFDA697}"/>
              </a:ext>
            </a:extLst>
          </p:cNvPr>
          <p:cNvSpPr txBox="1"/>
          <p:nvPr/>
        </p:nvSpPr>
        <p:spPr>
          <a:xfrm>
            <a:off x="2542032" y="4873752"/>
            <a:ext cx="1965960" cy="2718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05156" indent="-105156"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rgbClr val="1C4470"/>
              </a:buClr>
              <a:buSzPct val="90000"/>
              <a:buFont typeface="Arial"/>
              <a:buChar char="▪"/>
            </a:pPr>
            <a:r>
              <a:rPr sz="800" b="0" i="0">
                <a:solidFill>
                  <a:srgbClr val="000000"/>
                </a:solidFill>
                <a:latin typeface="Segoe UI"/>
              </a:rPr>
              <a:t>Securities and Entity Master</a:t>
            </a:r>
          </a:p>
          <a:p>
            <a:pPr marL="105156" indent="-105156"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rgbClr val="1C4470"/>
              </a:buClr>
              <a:buSzPct val="90000"/>
              <a:buFont typeface="Arial"/>
              <a:buChar char="▪"/>
            </a:pPr>
            <a:r>
              <a:rPr sz="800" b="0" i="0">
                <a:solidFill>
                  <a:srgbClr val="000000"/>
                </a:solidFill>
                <a:latin typeface="Segoe UI"/>
              </a:rPr>
              <a:t>Price Master, corporate actions, ESG</a:t>
            </a:r>
          </a:p>
        </p:txBody>
      </p:sp>
      <p:sp>
        <p:nvSpPr>
          <p:cNvPr id="47" name="Chevron 46">
            <a:extLst>
              <a:ext uri="{FF2B5EF4-FFF2-40B4-BE49-F238E27FC236}">
                <a16:creationId xmlns:a16="http://schemas.microsoft.com/office/drawing/2014/main" id="{2F77402C-C83D-8030-ED03-10B136252488}"/>
              </a:ext>
            </a:extLst>
          </p:cNvPr>
          <p:cNvSpPr/>
          <p:nvPr/>
        </p:nvSpPr>
        <p:spPr>
          <a:xfrm>
            <a:off x="4526280" y="4498848"/>
            <a:ext cx="2240280" cy="310896"/>
          </a:xfrm>
          <a:prstGeom prst="chevron">
            <a:avLst/>
          </a:prstGeom>
          <a:solidFill>
            <a:srgbClr val="386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0" rIns="54864" bIns="0" rtlCol="0" anchor="ctr"/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FFFFFF"/>
                </a:solidFill>
                <a:latin typeface="Segoe UI Semibold"/>
              </a:rPr>
              <a:t>DISTRIBUTE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8627C31-1639-3E54-C62F-8803F093953D}"/>
              </a:ext>
            </a:extLst>
          </p:cNvPr>
          <p:cNvSpPr txBox="1"/>
          <p:nvPr/>
        </p:nvSpPr>
        <p:spPr>
          <a:xfrm>
            <a:off x="4690872" y="4873752"/>
            <a:ext cx="1965960" cy="4206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05156" indent="-105156"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rgbClr val="38618B"/>
              </a:buClr>
              <a:buSzPct val="90000"/>
              <a:buFont typeface="Arial"/>
              <a:buChar char="▪"/>
            </a:pPr>
            <a:r>
              <a:rPr sz="800" b="0" i="0">
                <a:solidFill>
                  <a:srgbClr val="000000"/>
                </a:solidFill>
                <a:latin typeface="Segoe UI"/>
              </a:rPr>
              <a:t>Data Warehouse</a:t>
            </a:r>
          </a:p>
          <a:p>
            <a:pPr marL="105156" indent="-105156"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rgbClr val="38618B"/>
              </a:buClr>
              <a:buSzPct val="90000"/>
              <a:buFont typeface="Arial"/>
              <a:buChar char="▪"/>
            </a:pPr>
            <a:r>
              <a:rPr sz="800" b="0" i="0">
                <a:solidFill>
                  <a:srgbClr val="000000"/>
                </a:solidFill>
                <a:latin typeface="Segoe UI"/>
              </a:rPr>
              <a:t>OMNI (Snowflake Native App)</a:t>
            </a:r>
          </a:p>
          <a:p>
            <a:pPr marL="105156" indent="-105156"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rgbClr val="38618B"/>
              </a:buClr>
              <a:buSzPct val="90000"/>
              <a:buFont typeface="Arial"/>
              <a:buChar char="▪"/>
            </a:pPr>
            <a:r>
              <a:rPr sz="800" b="0" i="0">
                <a:solidFill>
                  <a:srgbClr val="000000"/>
                </a:solidFill>
                <a:latin typeface="Segoe UI"/>
              </a:rPr>
              <a:t>Real-time IBOR</a:t>
            </a:r>
          </a:p>
        </p:txBody>
      </p:sp>
      <p:sp>
        <p:nvSpPr>
          <p:cNvPr id="49" name="Chevron 48">
            <a:extLst>
              <a:ext uri="{FF2B5EF4-FFF2-40B4-BE49-F238E27FC236}">
                <a16:creationId xmlns:a16="http://schemas.microsoft.com/office/drawing/2014/main" id="{20F90F9B-AF14-4B4F-D23D-C0532214B3A3}"/>
              </a:ext>
            </a:extLst>
          </p:cNvPr>
          <p:cNvSpPr/>
          <p:nvPr/>
        </p:nvSpPr>
        <p:spPr>
          <a:xfrm>
            <a:off x="6675120" y="4498848"/>
            <a:ext cx="2240280" cy="310896"/>
          </a:xfrm>
          <a:prstGeom prst="chevron">
            <a:avLst/>
          </a:prstGeom>
          <a:solidFill>
            <a:srgbClr val="508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0" rIns="54864" bIns="0" rtlCol="0" anchor="ctr"/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FFFFFF"/>
                </a:solidFill>
                <a:latin typeface="Segoe UI Semibold"/>
              </a:rPr>
              <a:t>CONSUME AND REASON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93302DE-4F9B-E35D-5E99-716330749094}"/>
              </a:ext>
            </a:extLst>
          </p:cNvPr>
          <p:cNvSpPr txBox="1"/>
          <p:nvPr/>
        </p:nvSpPr>
        <p:spPr>
          <a:xfrm>
            <a:off x="6839712" y="4873752"/>
            <a:ext cx="1965960" cy="2718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05156" indent="-105156"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rgbClr val="508BC9"/>
              </a:buClr>
              <a:buSzPct val="90000"/>
              <a:buFont typeface="Arial"/>
              <a:buChar char="▪"/>
            </a:pPr>
            <a:r>
              <a:rPr sz="800" b="0" i="0" dirty="0">
                <a:solidFill>
                  <a:srgbClr val="000000"/>
                </a:solidFill>
                <a:latin typeface="Segoe UI"/>
              </a:rPr>
              <a:t>Scout on Amazon Bedrock</a:t>
            </a:r>
          </a:p>
          <a:p>
            <a:pPr marL="105156" indent="-105156"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>
                <a:srgbClr val="508BC9"/>
              </a:buClr>
              <a:buSzPct val="90000"/>
              <a:buFont typeface="Arial"/>
              <a:buChar char="▪"/>
            </a:pPr>
            <a:r>
              <a:rPr sz="800" b="0" i="0" dirty="0">
                <a:solidFill>
                  <a:srgbClr val="000000"/>
                </a:solidFill>
                <a:latin typeface="Segoe UI"/>
              </a:rPr>
              <a:t>Chat plus MCP agent builder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F5EA4DF-06B9-FE36-4D8A-CC009264022F}"/>
              </a:ext>
            </a:extLst>
          </p:cNvPr>
          <p:cNvSpPr/>
          <p:nvPr/>
        </p:nvSpPr>
        <p:spPr>
          <a:xfrm>
            <a:off x="228600" y="5358384"/>
            <a:ext cx="5532120" cy="219456"/>
          </a:xfrm>
          <a:prstGeom prst="rect">
            <a:avLst/>
          </a:prstGeom>
          <a:solidFill>
            <a:srgbClr val="00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00919D3-F5A8-571B-53D0-D439218CCF68}"/>
              </a:ext>
            </a:extLst>
          </p:cNvPr>
          <p:cNvSpPr txBox="1"/>
          <p:nvPr/>
        </p:nvSpPr>
        <p:spPr>
          <a:xfrm>
            <a:off x="320040" y="5358384"/>
            <a:ext cx="534924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>
                <a:solidFill>
                  <a:srgbClr val="FFFFFF"/>
                </a:solidFill>
                <a:latin typeface="Segoe UI Semibold"/>
              </a:rPr>
              <a:t>SELECTED MILESTONES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67559AC-BDCC-E911-1960-038461807FDD}"/>
              </a:ext>
            </a:extLst>
          </p:cNvPr>
          <p:cNvSpPr/>
          <p:nvPr/>
        </p:nvSpPr>
        <p:spPr>
          <a:xfrm>
            <a:off x="781812" y="5852160"/>
            <a:ext cx="4425696" cy="10058"/>
          </a:xfrm>
          <a:prstGeom prst="rect">
            <a:avLst/>
          </a:prstGeom>
          <a:solidFill>
            <a:srgbClr val="00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DCA03C7-6381-4C69-A0A5-24F1DF686319}"/>
              </a:ext>
            </a:extLst>
          </p:cNvPr>
          <p:cNvSpPr/>
          <p:nvPr/>
        </p:nvSpPr>
        <p:spPr>
          <a:xfrm>
            <a:off x="736092" y="5811012"/>
            <a:ext cx="91440" cy="91440"/>
          </a:xfrm>
          <a:prstGeom prst="ellipse">
            <a:avLst/>
          </a:prstGeom>
          <a:solidFill>
            <a:srgbClr val="0028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C4BDA5C-8C78-E167-6B7F-5D35AF9D69ED}"/>
              </a:ext>
            </a:extLst>
          </p:cNvPr>
          <p:cNvSpPr txBox="1"/>
          <p:nvPr/>
        </p:nvSpPr>
        <p:spPr>
          <a:xfrm>
            <a:off x="265176" y="5650992"/>
            <a:ext cx="1033271" cy="16459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002855"/>
                </a:solidFill>
                <a:latin typeface="Segoe UI Semibold"/>
              </a:rPr>
              <a:t>1984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1CF5557-FEA3-975E-61F0-A0F61AE1E408}"/>
              </a:ext>
            </a:extLst>
          </p:cNvPr>
          <p:cNvSpPr txBox="1"/>
          <p:nvPr/>
        </p:nvSpPr>
        <p:spPr>
          <a:xfrm>
            <a:off x="265176" y="5971032"/>
            <a:ext cx="1033271" cy="228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buNone/>
            </a:pPr>
            <a:r>
              <a:rPr sz="700" b="0" i="0">
                <a:solidFill>
                  <a:srgbClr val="000000"/>
                </a:solidFill>
                <a:latin typeface="Segoe UI"/>
              </a:rPr>
              <a:t>Founded in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buNone/>
            </a:pPr>
            <a:r>
              <a:rPr sz="700" b="0" i="0">
                <a:solidFill>
                  <a:srgbClr val="000000"/>
                </a:solidFill>
                <a:latin typeface="Segoe UI"/>
              </a:rPr>
              <a:t>New York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057BA39-CCBB-BCA4-C757-612D8E7715C2}"/>
              </a:ext>
            </a:extLst>
          </p:cNvPr>
          <p:cNvSpPr/>
          <p:nvPr/>
        </p:nvSpPr>
        <p:spPr>
          <a:xfrm>
            <a:off x="1842516" y="5811012"/>
            <a:ext cx="91440" cy="91440"/>
          </a:xfrm>
          <a:prstGeom prst="ellipse">
            <a:avLst/>
          </a:prstGeom>
          <a:solidFill>
            <a:srgbClr val="24B1B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72E3D01-906F-E9A0-ABA7-BB1B40D84BA1}"/>
              </a:ext>
            </a:extLst>
          </p:cNvPr>
          <p:cNvSpPr txBox="1"/>
          <p:nvPr/>
        </p:nvSpPr>
        <p:spPr>
          <a:xfrm>
            <a:off x="1371600" y="5650992"/>
            <a:ext cx="1033271" cy="16459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24B1B1"/>
                </a:solidFill>
                <a:latin typeface="Segoe UI Semibold"/>
              </a:rPr>
              <a:t>2022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D1787AC-DF4C-7CF4-D0B2-974004BF1B25}"/>
              </a:ext>
            </a:extLst>
          </p:cNvPr>
          <p:cNvSpPr txBox="1"/>
          <p:nvPr/>
        </p:nvSpPr>
        <p:spPr>
          <a:xfrm>
            <a:off x="1371600" y="5971032"/>
            <a:ext cx="1033271" cy="228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buNone/>
            </a:pPr>
            <a:r>
              <a:rPr sz="700" b="0" i="0">
                <a:solidFill>
                  <a:srgbClr val="000000"/>
                </a:solidFill>
                <a:latin typeface="Segoe UI"/>
              </a:rPr>
              <a:t>Gemspring buys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buNone/>
            </a:pPr>
            <a:r>
              <a:rPr sz="700" b="0" i="0">
                <a:solidFill>
                  <a:srgbClr val="000000"/>
                </a:solidFill>
                <a:latin typeface="Segoe UI"/>
              </a:rPr>
              <a:t>from Invus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BCDB1D37-2CA0-9884-1086-64594F7653B2}"/>
              </a:ext>
            </a:extLst>
          </p:cNvPr>
          <p:cNvSpPr/>
          <p:nvPr/>
        </p:nvSpPr>
        <p:spPr>
          <a:xfrm>
            <a:off x="2948940" y="5811012"/>
            <a:ext cx="91440" cy="91440"/>
          </a:xfrm>
          <a:prstGeom prst="ellipse">
            <a:avLst/>
          </a:prstGeom>
          <a:solidFill>
            <a:srgbClr val="0028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99F0F20-B178-7BD0-D8E0-8E8DED76FA79}"/>
              </a:ext>
            </a:extLst>
          </p:cNvPr>
          <p:cNvSpPr txBox="1"/>
          <p:nvPr/>
        </p:nvSpPr>
        <p:spPr>
          <a:xfrm>
            <a:off x="2478024" y="5650992"/>
            <a:ext cx="1033271" cy="16459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002855"/>
                </a:solidFill>
                <a:latin typeface="Segoe UI Semibold"/>
              </a:rPr>
              <a:t>2023–24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8CE1A59-1B2D-E6F7-1376-B0680C44BD50}"/>
              </a:ext>
            </a:extLst>
          </p:cNvPr>
          <p:cNvSpPr txBox="1"/>
          <p:nvPr/>
        </p:nvSpPr>
        <p:spPr>
          <a:xfrm>
            <a:off x="2478024" y="5971032"/>
            <a:ext cx="1033271" cy="228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buNone/>
            </a:pPr>
            <a:r>
              <a:rPr sz="700" b="0" i="0">
                <a:solidFill>
                  <a:srgbClr val="000000"/>
                </a:solidFill>
                <a:latin typeface="Segoe UI"/>
              </a:rPr>
              <a:t>IBOR, OMNI and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buNone/>
            </a:pPr>
            <a:r>
              <a:rPr sz="700" b="0" i="0">
                <a:solidFill>
                  <a:srgbClr val="000000"/>
                </a:solidFill>
                <a:latin typeface="Segoe UI"/>
              </a:rPr>
              <a:t>V10; new CEO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DDEA33D4-C27A-997B-2BB2-269F7487E193}"/>
              </a:ext>
            </a:extLst>
          </p:cNvPr>
          <p:cNvSpPr/>
          <p:nvPr/>
        </p:nvSpPr>
        <p:spPr>
          <a:xfrm>
            <a:off x="4055363" y="5811012"/>
            <a:ext cx="91440" cy="91440"/>
          </a:xfrm>
          <a:prstGeom prst="ellipse">
            <a:avLst/>
          </a:prstGeom>
          <a:solidFill>
            <a:srgbClr val="0028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657D77B-6396-0F37-22D7-8FC743B9D29F}"/>
              </a:ext>
            </a:extLst>
          </p:cNvPr>
          <p:cNvSpPr txBox="1"/>
          <p:nvPr/>
        </p:nvSpPr>
        <p:spPr>
          <a:xfrm>
            <a:off x="3584448" y="5650992"/>
            <a:ext cx="1033271" cy="16459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002855"/>
                </a:solidFill>
                <a:latin typeface="Segoe UI Semibold"/>
              </a:rPr>
              <a:t>2025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CE8BC3B-375F-5853-A6D8-2FDC40D9F09A}"/>
              </a:ext>
            </a:extLst>
          </p:cNvPr>
          <p:cNvSpPr txBox="1"/>
          <p:nvPr/>
        </p:nvSpPr>
        <p:spPr>
          <a:xfrm>
            <a:off x="3584448" y="5971032"/>
            <a:ext cx="1033271" cy="228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buNone/>
            </a:pPr>
            <a:r>
              <a:rPr sz="700" b="0" i="0">
                <a:solidFill>
                  <a:srgbClr val="000000"/>
                </a:solidFill>
                <a:latin typeface="Segoe UI"/>
              </a:rPr>
              <a:t>Record year;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buNone/>
            </a:pPr>
            <a:r>
              <a:rPr sz="700" b="0" i="0">
                <a:solidFill>
                  <a:srgbClr val="000000"/>
                </a:solidFill>
                <a:latin typeface="Segoe UI"/>
              </a:rPr>
              <a:t>flagship wins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90DE6FA-7C9F-8565-93AF-52560FA93E6D}"/>
              </a:ext>
            </a:extLst>
          </p:cNvPr>
          <p:cNvSpPr/>
          <p:nvPr/>
        </p:nvSpPr>
        <p:spPr>
          <a:xfrm>
            <a:off x="5161788" y="5811012"/>
            <a:ext cx="91440" cy="91440"/>
          </a:xfrm>
          <a:prstGeom prst="ellipse">
            <a:avLst/>
          </a:prstGeom>
          <a:solidFill>
            <a:srgbClr val="0028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DA1CD43-C447-876B-46CE-D4B57E0E8B6C}"/>
              </a:ext>
            </a:extLst>
          </p:cNvPr>
          <p:cNvSpPr txBox="1"/>
          <p:nvPr/>
        </p:nvSpPr>
        <p:spPr>
          <a:xfrm>
            <a:off x="4690872" y="5650992"/>
            <a:ext cx="1033271" cy="16459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002855"/>
                </a:solidFill>
                <a:latin typeface="Segoe UI Semibold"/>
              </a:rPr>
              <a:t>2026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1DDCBE9-06AF-DA7A-E571-29687E7E1EEB}"/>
              </a:ext>
            </a:extLst>
          </p:cNvPr>
          <p:cNvSpPr txBox="1"/>
          <p:nvPr/>
        </p:nvSpPr>
        <p:spPr>
          <a:xfrm>
            <a:off x="4690872" y="5971032"/>
            <a:ext cx="1033271" cy="228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buNone/>
            </a:pPr>
            <a:r>
              <a:rPr sz="700" b="0" i="0">
                <a:solidFill>
                  <a:srgbClr val="000000"/>
                </a:solidFill>
                <a:latin typeface="Segoe UI"/>
              </a:rPr>
              <a:t>Scout AI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buNone/>
            </a:pPr>
            <a:r>
              <a:rPr sz="700" b="0" i="0">
                <a:solidFill>
                  <a:srgbClr val="000000"/>
                </a:solidFill>
                <a:latin typeface="Segoe UI"/>
              </a:rPr>
              <a:t>launches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5DD52CA-C281-9976-EE15-DAE2992926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9295441"/>
              </p:ext>
            </p:extLst>
          </p:nvPr>
        </p:nvGraphicFramePr>
        <p:xfrm>
          <a:off x="5303520" y="2346960"/>
          <a:ext cx="3611880" cy="1840994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1046480">
                  <a:extLst>
                    <a:ext uri="{9D8B030D-6E8A-4147-A177-3AD203B41FA5}">
                      <a16:colId xmlns:a16="http://schemas.microsoft.com/office/drawing/2014/main" val="2491221410"/>
                    </a:ext>
                  </a:extLst>
                </a:gridCol>
                <a:gridCol w="2565400">
                  <a:extLst>
                    <a:ext uri="{9D8B030D-6E8A-4147-A177-3AD203B41FA5}">
                      <a16:colId xmlns:a16="http://schemas.microsoft.com/office/drawing/2014/main" val="3135772198"/>
                    </a:ext>
                  </a:extLst>
                </a:gridCol>
              </a:tblGrid>
              <a:tr h="284555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000" b="0" dirty="0">
                          <a:solidFill>
                            <a:schemeClr val="tx2"/>
                          </a:solidFill>
                          <a:latin typeface="+mn-lt"/>
                        </a:rPr>
                        <a:t>Founded</a:t>
                      </a:r>
                    </a:p>
                  </a:txBody>
                  <a:tcPr marL="45720" marR="45720" anchor="ctr">
                    <a:lnT w="6350" cap="flat" cmpd="sng" algn="ctr">
                      <a:solidFill>
                        <a:srgbClr val="F2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000" dirty="0">
                          <a:latin typeface="Segoe UI" panose="020B0502040204020203" pitchFamily="34" charset="0"/>
                        </a:rPr>
                        <a:t>1984 in New York, NY</a:t>
                      </a:r>
                    </a:p>
                  </a:txBody>
                  <a:tcPr marL="45720" marR="45720" anchor="ctr">
                    <a:lnT w="6350" cap="flat" cmpd="sng" algn="ctr">
                      <a:solidFill>
                        <a:srgbClr val="F2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214315"/>
                  </a:ext>
                </a:extLst>
              </a:tr>
              <a:tr h="259759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000" b="0" dirty="0">
                          <a:solidFill>
                            <a:schemeClr val="tx2"/>
                          </a:solidFill>
                          <a:latin typeface="+mn-lt"/>
                        </a:rPr>
                        <a:t>Ownership</a:t>
                      </a:r>
                    </a:p>
                  </a:txBody>
                  <a:tcPr marL="45720" marR="45720" anchor="ctr">
                    <a:lnT w="6350" cap="flat" cmpd="sng" algn="ctr">
                      <a:solidFill>
                        <a:srgbClr val="F2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000" dirty="0" err="1">
                          <a:latin typeface="Segoe UI" panose="020B0502040204020203" pitchFamily="34" charset="0"/>
                        </a:rPr>
                        <a:t>Gemspring</a:t>
                      </a:r>
                      <a:r>
                        <a:rPr lang="en-US" sz="1000" dirty="0">
                          <a:latin typeface="Segoe UI" panose="020B0502040204020203" pitchFamily="34" charset="0"/>
                        </a:rPr>
                        <a:t> Capital (2022)</a:t>
                      </a:r>
                    </a:p>
                  </a:txBody>
                  <a:tcPr marL="45720" marR="45720" anchor="ctr">
                    <a:lnT w="6350" cap="flat" cmpd="sng" algn="ctr">
                      <a:solidFill>
                        <a:srgbClr val="F2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4774923"/>
                  </a:ext>
                </a:extLst>
              </a:tr>
              <a:tr h="259759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000" b="0" dirty="0">
                          <a:solidFill>
                            <a:schemeClr val="tx2"/>
                          </a:solidFill>
                          <a:latin typeface="+mn-lt"/>
                        </a:rPr>
                        <a:t>CEO</a:t>
                      </a:r>
                    </a:p>
                  </a:txBody>
                  <a:tcPr marL="45720" marR="45720" anchor="ctr">
                    <a:lnT w="6350" cap="flat" cmpd="sng" algn="ctr">
                      <a:solidFill>
                        <a:srgbClr val="F2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000" dirty="0">
                          <a:latin typeface="Segoe UI" panose="020B0502040204020203" pitchFamily="34" charset="0"/>
                        </a:rPr>
                        <a:t>James Corrigan</a:t>
                      </a:r>
                    </a:p>
                  </a:txBody>
                  <a:tcPr marL="45720" marR="45720" anchor="ctr">
                    <a:lnT w="6350" cap="flat" cmpd="sng" algn="ctr">
                      <a:solidFill>
                        <a:srgbClr val="F2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272020"/>
                  </a:ext>
                </a:extLst>
              </a:tr>
              <a:tr h="259759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000" b="0" dirty="0">
                          <a:solidFill>
                            <a:schemeClr val="tx2"/>
                          </a:solidFill>
                          <a:latin typeface="+mn-lt"/>
                        </a:rPr>
                        <a:t>Employees</a:t>
                      </a:r>
                    </a:p>
                  </a:txBody>
                  <a:tcPr marL="45720" marR="45720" anchor="ctr">
                    <a:lnT w="6350" cap="flat" cmpd="sng" algn="ctr">
                      <a:solidFill>
                        <a:srgbClr val="F2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000" dirty="0">
                          <a:latin typeface="Segoe UI" panose="020B0502040204020203" pitchFamily="34" charset="0"/>
                        </a:rPr>
                        <a:t>620</a:t>
                      </a:r>
                    </a:p>
                  </a:txBody>
                  <a:tcPr marL="45720" marR="45720" anchor="ctr">
                    <a:lnT w="6350" cap="flat" cmpd="sng" algn="ctr">
                      <a:solidFill>
                        <a:srgbClr val="F2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5356952"/>
                  </a:ext>
                </a:extLst>
              </a:tr>
              <a:tr h="259759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000" b="0" dirty="0">
                          <a:solidFill>
                            <a:schemeClr val="tx2"/>
                          </a:solidFill>
                          <a:latin typeface="+mn-lt"/>
                        </a:rPr>
                        <a:t>Revenue</a:t>
                      </a:r>
                    </a:p>
                  </a:txBody>
                  <a:tcPr marL="45720" marR="45720" anchor="ctr">
                    <a:lnT w="6350" cap="flat" cmpd="sng" algn="ctr">
                      <a:solidFill>
                        <a:srgbClr val="F2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endParaRPr lang="en-US" sz="1000" dirty="0">
                        <a:latin typeface="Segoe UI" panose="020B0502040204020203" pitchFamily="34" charset="0"/>
                      </a:endParaRPr>
                    </a:p>
                  </a:txBody>
                  <a:tcPr marL="45720" marR="45720" anchor="ctr">
                    <a:lnT w="6350" cap="flat" cmpd="sng" algn="ctr">
                      <a:solidFill>
                        <a:srgbClr val="F2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357036"/>
                  </a:ext>
                </a:extLst>
              </a:tr>
              <a:tr h="517403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000" b="0" dirty="0">
                          <a:solidFill>
                            <a:schemeClr val="tx2"/>
                          </a:solidFill>
                          <a:latin typeface="+mn-lt"/>
                        </a:rPr>
                        <a:t>Offices</a:t>
                      </a:r>
                    </a:p>
                  </a:txBody>
                  <a:tcPr marL="45720" marR="45720" anchor="ctr">
                    <a:lnT w="6350" cap="flat" cmpd="sng" algn="ctr">
                      <a:solidFill>
                        <a:srgbClr val="F2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>
                          <a:solidFill>
                            <a:srgbClr val="525766"/>
                          </a:solidFill>
                          <a:latin typeface="+mn-lt"/>
                        </a:rPr>
                        <a:t>New York, London, Milan, Mumbai, Melbourne, Hong Kong</a:t>
                      </a:r>
                    </a:p>
                  </a:txBody>
                  <a:tcPr marL="45720" marR="45720" anchor="ctr">
                    <a:lnT w="6350" cap="flat" cmpd="sng" algn="ctr">
                      <a:solidFill>
                        <a:srgbClr val="F2F2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7852556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64320DB1-AA32-A136-48CB-BFA2B2216F14}"/>
              </a:ext>
            </a:extLst>
          </p:cNvPr>
          <p:cNvSpPr/>
          <p:nvPr/>
        </p:nvSpPr>
        <p:spPr>
          <a:xfrm>
            <a:off x="7086600" y="25400"/>
            <a:ext cx="2032000" cy="1836528"/>
          </a:xfrm>
          <a:prstGeom prst="rect">
            <a:avLst/>
          </a:prstGeom>
          <a:solidFill>
            <a:srgbClr val="FFFF00"/>
          </a:solidFill>
          <a:ln w="63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indent="0" defTabSz="914400" eaLnBrk="1" fontAlgn="base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Company snapshot top left</a:t>
            </a:r>
          </a:p>
          <a:p>
            <a:pPr marL="0" marR="0" indent="0" defTabSz="914400" eaLnBrk="1" fontAlgn="base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b="1" kern="0" dirty="0">
                <a:solidFill>
                  <a:srgbClr val="000000"/>
                </a:solidFill>
              </a:rPr>
              <a:t>No blue boxes</a:t>
            </a:r>
          </a:p>
          <a:p>
            <a:pPr marL="0" marR="0" indent="0" defTabSz="914400" eaLnBrk="1" fontAlgn="base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Callout box at bottom, rounded</a:t>
            </a:r>
          </a:p>
          <a:p>
            <a:pPr marL="0" marR="0" indent="0" defTabSz="914400" eaLnBrk="1" fontAlgn="base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1200" b="1" kern="0" dirty="0">
              <a:solidFill>
                <a:srgbClr val="000000"/>
              </a:solidFill>
            </a:endParaRPr>
          </a:p>
          <a:p>
            <a:pPr marL="0" marR="0" indent="0" defTabSz="914400" eaLnBrk="1" fontAlgn="base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Product suite logos and what the products do</a:t>
            </a:r>
          </a:p>
        </p:txBody>
      </p:sp>
    </p:spTree>
    <p:extLst>
      <p:ext uri="{BB962C8B-B14F-4D97-AF65-F5344CB8AC3E}">
        <p14:creationId xmlns:p14="http://schemas.microsoft.com/office/powerpoint/2010/main" val="32466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FF031-F6D6-1A4E-8400-B04D710F6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1CF30CD-BF7C-EB54-2820-77FBD8B003E1}"/>
              </a:ext>
            </a:extLst>
          </p:cNvPr>
          <p:cNvSpPr/>
          <p:nvPr/>
        </p:nvSpPr>
        <p:spPr>
          <a:xfrm>
            <a:off x="4100932" y="1762276"/>
            <a:ext cx="4712071" cy="2190974"/>
          </a:xfrm>
          <a:prstGeom prst="roundRect">
            <a:avLst>
              <a:gd name="adj" fmla="val 3613"/>
            </a:avLst>
          </a:prstGeom>
          <a:solidFill>
            <a:schemeClr val="bg1"/>
          </a:solidFill>
          <a:ln w="63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BCBFC6">
                  <a:lumMod val="75000"/>
                </a:srgbClr>
              </a:solidFill>
              <a:effectLst/>
              <a:uLnTx/>
              <a:uFillTx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E6763E1-782F-1764-ACCA-4225EF75E333}"/>
              </a:ext>
            </a:extLst>
          </p:cNvPr>
          <p:cNvCxnSpPr>
            <a:cxnSpLocks/>
          </p:cNvCxnSpPr>
          <p:nvPr/>
        </p:nvCxnSpPr>
        <p:spPr>
          <a:xfrm flipV="1">
            <a:off x="4459224" y="1311868"/>
            <a:ext cx="3846520" cy="13391"/>
          </a:xfrm>
          <a:prstGeom prst="line">
            <a:avLst/>
          </a:prstGeom>
          <a:ln w="6350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75A126C-A576-0266-E2BD-3808BD90B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1800" b="1">
                <a:solidFill>
                  <a:srgbClr val="002855"/>
                </a:solidFill>
                <a:latin typeface="Segoe UI Semibold"/>
              </a:rPr>
              <a:t>GoldenSource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E1AD86-4AE0-4B29-8BA2-5F7DD1B8DE45}"/>
              </a:ext>
            </a:extLst>
          </p:cNvPr>
          <p:cNvSpPr txBox="1"/>
          <p:nvPr/>
        </p:nvSpPr>
        <p:spPr>
          <a:xfrm>
            <a:off x="226695" y="789079"/>
            <a:ext cx="3429000" cy="1467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dirty="0">
                <a:solidFill>
                  <a:srgbClr val="000000"/>
                </a:solidFill>
                <a:latin typeface="Segoe UI Semibold"/>
              </a:rPr>
              <a:t>COMPANY SNAPSHOT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5DD34B1-EE00-857C-BB1A-D85DE69E2018}"/>
              </a:ext>
            </a:extLst>
          </p:cNvPr>
          <p:cNvGrpSpPr/>
          <p:nvPr/>
        </p:nvGrpSpPr>
        <p:grpSpPr>
          <a:xfrm>
            <a:off x="3912108" y="1073799"/>
            <a:ext cx="1033271" cy="548308"/>
            <a:chOff x="3835908" y="1028700"/>
            <a:chExt cx="1033271" cy="548308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6EF9C35B-A29E-2B99-E7F5-9B186BFF07A9}"/>
                </a:ext>
              </a:extLst>
            </p:cNvPr>
            <p:cNvSpPr/>
            <p:nvPr/>
          </p:nvSpPr>
          <p:spPr>
            <a:xfrm>
              <a:off x="4306824" y="1234440"/>
              <a:ext cx="91440" cy="91440"/>
            </a:xfrm>
            <a:prstGeom prst="ellipse">
              <a:avLst/>
            </a:prstGeom>
            <a:solidFill>
              <a:srgbClr val="002855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F85A1BE-DEEB-9EA5-C7D7-21256EDBD3F8}"/>
                </a:ext>
              </a:extLst>
            </p:cNvPr>
            <p:cNvSpPr txBox="1"/>
            <p:nvPr/>
          </p:nvSpPr>
          <p:spPr>
            <a:xfrm>
              <a:off x="3835908" y="1028700"/>
              <a:ext cx="1033271" cy="164592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spAutoFit/>
            </a:bodyPr>
            <a:lstStyle/>
            <a:p>
              <a:pPr marL="0" indent="0" algn="ctr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800" b="1" i="0">
                  <a:solidFill>
                    <a:srgbClr val="002855"/>
                  </a:solidFill>
                  <a:latin typeface="Segoe UI Semibold"/>
                </a:rPr>
                <a:t>1984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EF6AD8D-8A34-C02C-FD27-C2BE3908AEE4}"/>
                </a:ext>
              </a:extLst>
            </p:cNvPr>
            <p:cNvSpPr txBox="1"/>
            <p:nvPr/>
          </p:nvSpPr>
          <p:spPr>
            <a:xfrm>
              <a:off x="3835908" y="1348740"/>
              <a:ext cx="1033271" cy="2282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spcAft>
                  <a:spcPts val="50"/>
                </a:spcAft>
                <a:buNone/>
              </a:pPr>
              <a:r>
                <a:rPr sz="700" b="0" i="0" dirty="0">
                  <a:solidFill>
                    <a:srgbClr val="000000"/>
                  </a:solidFill>
                  <a:latin typeface="Segoe UI"/>
                </a:rPr>
                <a:t>Founded in</a:t>
              </a:r>
            </a:p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spcAft>
                  <a:spcPts val="50"/>
                </a:spcAft>
                <a:buNone/>
              </a:pPr>
              <a:r>
                <a:rPr sz="700" b="0" i="0" dirty="0">
                  <a:solidFill>
                    <a:srgbClr val="000000"/>
                  </a:solidFill>
                  <a:latin typeface="Segoe UI"/>
                </a:rPr>
                <a:t>New York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615170E-A75E-88C4-9FA2-D7FF97805845}"/>
              </a:ext>
            </a:extLst>
          </p:cNvPr>
          <p:cNvGrpSpPr/>
          <p:nvPr/>
        </p:nvGrpSpPr>
        <p:grpSpPr>
          <a:xfrm>
            <a:off x="4873276" y="1111899"/>
            <a:ext cx="1033271" cy="548308"/>
            <a:chOff x="4942332" y="1028700"/>
            <a:chExt cx="1033271" cy="548308"/>
          </a:xfrm>
        </p:grpSpPr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AE4BEC7E-D888-A9B1-61EE-DC7667B3508D}"/>
                </a:ext>
              </a:extLst>
            </p:cNvPr>
            <p:cNvSpPr/>
            <p:nvPr/>
          </p:nvSpPr>
          <p:spPr>
            <a:xfrm>
              <a:off x="5413248" y="1188720"/>
              <a:ext cx="91440" cy="91440"/>
            </a:xfrm>
            <a:prstGeom prst="ellipse">
              <a:avLst/>
            </a:prstGeom>
            <a:solidFill>
              <a:srgbClr val="24B1B1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EE6CBA3-35D9-90E0-C846-FE8C82E68550}"/>
                </a:ext>
              </a:extLst>
            </p:cNvPr>
            <p:cNvSpPr txBox="1"/>
            <p:nvPr/>
          </p:nvSpPr>
          <p:spPr>
            <a:xfrm>
              <a:off x="4942332" y="1028700"/>
              <a:ext cx="1033271" cy="164592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spAutoFit/>
            </a:bodyPr>
            <a:lstStyle/>
            <a:p>
              <a:pPr marL="0" indent="0" algn="ctr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800" b="1" i="0" dirty="0">
                  <a:solidFill>
                    <a:srgbClr val="24B1B1"/>
                  </a:solidFill>
                  <a:latin typeface="Segoe UI Semibold"/>
                </a:rPr>
                <a:t>2022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7F8D04D-5329-BAC4-5058-DE5CD61E4974}"/>
                </a:ext>
              </a:extLst>
            </p:cNvPr>
            <p:cNvSpPr txBox="1"/>
            <p:nvPr/>
          </p:nvSpPr>
          <p:spPr>
            <a:xfrm>
              <a:off x="4942332" y="1348740"/>
              <a:ext cx="1033271" cy="2282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spcAft>
                  <a:spcPts val="50"/>
                </a:spcAft>
                <a:buNone/>
              </a:pPr>
              <a:r>
                <a:rPr sz="700" b="0" i="0" dirty="0" err="1">
                  <a:solidFill>
                    <a:srgbClr val="000000"/>
                  </a:solidFill>
                  <a:latin typeface="Segoe UI"/>
                </a:rPr>
                <a:t>Gemspring</a:t>
              </a:r>
              <a:r>
                <a:rPr sz="700" b="0" i="0" dirty="0">
                  <a:solidFill>
                    <a:srgbClr val="000000"/>
                  </a:solidFill>
                  <a:latin typeface="Segoe UI"/>
                </a:rPr>
                <a:t> buys</a:t>
              </a:r>
            </a:p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spcAft>
                  <a:spcPts val="50"/>
                </a:spcAft>
                <a:buNone/>
              </a:pPr>
              <a:r>
                <a:rPr sz="700" b="0" i="0" dirty="0">
                  <a:solidFill>
                    <a:srgbClr val="000000"/>
                  </a:solidFill>
                  <a:latin typeface="Segoe UI"/>
                </a:rPr>
                <a:t>from </a:t>
              </a:r>
              <a:r>
                <a:rPr sz="700" b="0" i="0" dirty="0" err="1">
                  <a:solidFill>
                    <a:srgbClr val="000000"/>
                  </a:solidFill>
                  <a:latin typeface="Segoe UI"/>
                </a:rPr>
                <a:t>Invus</a:t>
              </a:r>
              <a:endParaRPr sz="700" b="0" i="0" dirty="0">
                <a:solidFill>
                  <a:srgbClr val="000000"/>
                </a:solidFill>
                <a:latin typeface="Segoe UI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6389B47-81CC-8195-FDD5-AF4D574BE99E}"/>
              </a:ext>
            </a:extLst>
          </p:cNvPr>
          <p:cNvGrpSpPr/>
          <p:nvPr/>
        </p:nvGrpSpPr>
        <p:grpSpPr>
          <a:xfrm>
            <a:off x="5815394" y="1111899"/>
            <a:ext cx="1033271" cy="427762"/>
            <a:chOff x="6048756" y="1028700"/>
            <a:chExt cx="1033271" cy="427762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550F3347-2500-9925-8489-850CA931DCD1}"/>
                </a:ext>
              </a:extLst>
            </p:cNvPr>
            <p:cNvSpPr/>
            <p:nvPr/>
          </p:nvSpPr>
          <p:spPr>
            <a:xfrm>
              <a:off x="6519672" y="1188720"/>
              <a:ext cx="91440" cy="91440"/>
            </a:xfrm>
            <a:prstGeom prst="ellipse">
              <a:avLst/>
            </a:prstGeom>
            <a:solidFill>
              <a:srgbClr val="002855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446ECE4-FFEA-A131-204B-6BED555EEF5E}"/>
                </a:ext>
              </a:extLst>
            </p:cNvPr>
            <p:cNvSpPr txBox="1"/>
            <p:nvPr/>
          </p:nvSpPr>
          <p:spPr>
            <a:xfrm>
              <a:off x="6048756" y="1028700"/>
              <a:ext cx="1033271" cy="164592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spAutoFit/>
            </a:bodyPr>
            <a:lstStyle/>
            <a:p>
              <a:pPr marL="0" indent="0" algn="ctr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800" b="1" i="0" dirty="0">
                  <a:solidFill>
                    <a:srgbClr val="002855"/>
                  </a:solidFill>
                  <a:latin typeface="Segoe UI Semibold"/>
                </a:rPr>
                <a:t>2023–24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29543D3-8440-5B54-EAF5-7B9635D3EDDD}"/>
                </a:ext>
              </a:extLst>
            </p:cNvPr>
            <p:cNvSpPr txBox="1"/>
            <p:nvPr/>
          </p:nvSpPr>
          <p:spPr>
            <a:xfrm>
              <a:off x="6235076" y="1348740"/>
              <a:ext cx="641581" cy="10772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spcAft>
                  <a:spcPts val="50"/>
                </a:spcAft>
                <a:buNone/>
              </a:pPr>
              <a:r>
                <a:rPr lang="en-US" sz="700" b="0" i="0" dirty="0">
                  <a:solidFill>
                    <a:srgbClr val="000000"/>
                  </a:solidFill>
                  <a:latin typeface="Segoe UI"/>
                </a:rPr>
                <a:t>Launched Real-Time IBOR</a:t>
              </a:r>
              <a:endParaRPr sz="700" b="0" i="0" dirty="0">
                <a:solidFill>
                  <a:srgbClr val="000000"/>
                </a:solidFill>
                <a:latin typeface="Segoe UI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AE1D454-92B3-BF0B-D335-B606C11917C8}"/>
              </a:ext>
            </a:extLst>
          </p:cNvPr>
          <p:cNvGrpSpPr/>
          <p:nvPr/>
        </p:nvGrpSpPr>
        <p:grpSpPr>
          <a:xfrm>
            <a:off x="6757512" y="1111899"/>
            <a:ext cx="1033271" cy="535484"/>
            <a:chOff x="7155180" y="1028700"/>
            <a:chExt cx="1033271" cy="535484"/>
          </a:xfrm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42C5D3BA-35F3-6AD2-6C56-4D7A07787D28}"/>
                </a:ext>
              </a:extLst>
            </p:cNvPr>
            <p:cNvSpPr/>
            <p:nvPr/>
          </p:nvSpPr>
          <p:spPr>
            <a:xfrm>
              <a:off x="7626095" y="1188720"/>
              <a:ext cx="91440" cy="91440"/>
            </a:xfrm>
            <a:prstGeom prst="ellipse">
              <a:avLst/>
            </a:prstGeom>
            <a:solidFill>
              <a:srgbClr val="002855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B3BE26E-4384-23ED-ECF7-DA41197FDBF1}"/>
                </a:ext>
              </a:extLst>
            </p:cNvPr>
            <p:cNvSpPr txBox="1"/>
            <p:nvPr/>
          </p:nvSpPr>
          <p:spPr>
            <a:xfrm>
              <a:off x="7155180" y="1028700"/>
              <a:ext cx="1033271" cy="164592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spAutoFit/>
            </a:bodyPr>
            <a:lstStyle/>
            <a:p>
              <a:pPr marL="0" indent="0" algn="ctr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800" b="1" i="0" dirty="0">
                  <a:solidFill>
                    <a:srgbClr val="002855"/>
                  </a:solidFill>
                  <a:latin typeface="Segoe UI Semibold"/>
                </a:rPr>
                <a:t>2025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0F50A6A-C98C-C30F-ABC3-55F985C6755E}"/>
                </a:ext>
              </a:extLst>
            </p:cNvPr>
            <p:cNvSpPr txBox="1"/>
            <p:nvPr/>
          </p:nvSpPr>
          <p:spPr>
            <a:xfrm>
              <a:off x="7244844" y="1348740"/>
              <a:ext cx="853943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spcAft>
                  <a:spcPts val="50"/>
                </a:spcAft>
                <a:buNone/>
              </a:pPr>
              <a:r>
                <a:rPr sz="700" b="0" i="0" dirty="0">
                  <a:solidFill>
                    <a:srgbClr val="000000"/>
                  </a:solidFill>
                  <a:latin typeface="Segoe UI"/>
                </a:rPr>
                <a:t>Record year</a:t>
              </a:r>
              <a:r>
                <a:rPr lang="en-US" sz="700" dirty="0">
                  <a:solidFill>
                    <a:srgbClr val="000000"/>
                  </a:solidFill>
                  <a:latin typeface="Segoe UI"/>
                </a:rPr>
                <a:t> with flagship wins</a:t>
              </a:r>
              <a:endParaRPr sz="700" b="0" i="0" dirty="0">
                <a:solidFill>
                  <a:srgbClr val="000000"/>
                </a:solidFill>
                <a:latin typeface="Segoe UI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4288FE8-950D-132F-FFD2-CB19A329F373}"/>
              </a:ext>
            </a:extLst>
          </p:cNvPr>
          <p:cNvGrpSpPr/>
          <p:nvPr/>
        </p:nvGrpSpPr>
        <p:grpSpPr>
          <a:xfrm>
            <a:off x="7766304" y="1092849"/>
            <a:ext cx="1033271" cy="548308"/>
            <a:chOff x="8261604" y="1028700"/>
            <a:chExt cx="1033271" cy="548308"/>
          </a:xfrm>
        </p:grpSpPr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3EA868AD-773D-6B3B-A07F-47C0DF0778CF}"/>
                </a:ext>
              </a:extLst>
            </p:cNvPr>
            <p:cNvSpPr/>
            <p:nvPr/>
          </p:nvSpPr>
          <p:spPr>
            <a:xfrm>
              <a:off x="8732520" y="1188720"/>
              <a:ext cx="91440" cy="91440"/>
            </a:xfrm>
            <a:prstGeom prst="ellipse">
              <a:avLst/>
            </a:prstGeom>
            <a:solidFill>
              <a:srgbClr val="002855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B3FC783-367A-1C39-4093-70C3B4ED644B}"/>
                </a:ext>
              </a:extLst>
            </p:cNvPr>
            <p:cNvSpPr txBox="1"/>
            <p:nvPr/>
          </p:nvSpPr>
          <p:spPr>
            <a:xfrm>
              <a:off x="8261604" y="1028700"/>
              <a:ext cx="1033271" cy="164592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spAutoFit/>
            </a:bodyPr>
            <a:lstStyle/>
            <a:p>
              <a:pPr marL="0" indent="0" algn="ctr">
                <a:lnSpc>
                  <a:spcPct val="10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800" b="1" i="0" dirty="0">
                  <a:solidFill>
                    <a:srgbClr val="002855"/>
                  </a:solidFill>
                  <a:latin typeface="Segoe UI Semibold"/>
                </a:rPr>
                <a:t>2026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607768B-91A5-EE97-FC78-B32572B50008}"/>
                </a:ext>
              </a:extLst>
            </p:cNvPr>
            <p:cNvSpPr txBox="1"/>
            <p:nvPr/>
          </p:nvSpPr>
          <p:spPr>
            <a:xfrm>
              <a:off x="8261604" y="1348740"/>
              <a:ext cx="1033271" cy="2282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spcAft>
                  <a:spcPts val="50"/>
                </a:spcAft>
                <a:buNone/>
              </a:pPr>
              <a:r>
                <a:rPr sz="700" b="0" i="0" dirty="0">
                  <a:solidFill>
                    <a:srgbClr val="000000"/>
                  </a:solidFill>
                  <a:latin typeface="Segoe UI"/>
                </a:rPr>
                <a:t>Scout AI</a:t>
              </a:r>
            </a:p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spcAft>
                  <a:spcPts val="50"/>
                </a:spcAft>
                <a:buNone/>
              </a:pPr>
              <a:r>
                <a:rPr sz="700" b="0" i="0" dirty="0">
                  <a:solidFill>
                    <a:srgbClr val="000000"/>
                  </a:solidFill>
                  <a:latin typeface="Segoe UI"/>
                </a:rPr>
                <a:t>launches</a:t>
              </a:r>
            </a:p>
          </p:txBody>
        </p: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7DD6317-81A5-8B12-778C-C1A43F98E8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5253928"/>
              </p:ext>
            </p:extLst>
          </p:nvPr>
        </p:nvGraphicFramePr>
        <p:xfrm>
          <a:off x="226695" y="1103691"/>
          <a:ext cx="3611880" cy="2861376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1046480">
                  <a:extLst>
                    <a:ext uri="{9D8B030D-6E8A-4147-A177-3AD203B41FA5}">
                      <a16:colId xmlns:a16="http://schemas.microsoft.com/office/drawing/2014/main" val="2491221410"/>
                    </a:ext>
                  </a:extLst>
                </a:gridCol>
                <a:gridCol w="2565400">
                  <a:extLst>
                    <a:ext uri="{9D8B030D-6E8A-4147-A177-3AD203B41FA5}">
                      <a16:colId xmlns:a16="http://schemas.microsoft.com/office/drawing/2014/main" val="3135772198"/>
                    </a:ext>
                  </a:extLst>
                </a:gridCol>
              </a:tblGrid>
              <a:tr h="357672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800" b="1" dirty="0">
                          <a:solidFill>
                            <a:schemeClr val="tx2"/>
                          </a:solidFill>
                          <a:latin typeface="+mn-lt"/>
                        </a:rPr>
                        <a:t>Founded</a:t>
                      </a: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850" b="0" i="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1984</a:t>
                      </a:r>
                    </a:p>
                  </a:txBody>
                  <a:tcPr marL="45720" marR="45720" anchor="ctr">
                    <a:lnL>
                      <a:noFill/>
                    </a:lnL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214315"/>
                  </a:ext>
                </a:extLst>
              </a:tr>
              <a:tr h="357672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endParaRPr lang="en-US" sz="800" b="1" dirty="0">
                        <a:solidFill>
                          <a:schemeClr val="tx2"/>
                        </a:solidFill>
                        <a:latin typeface="+mn-lt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850" b="0" i="0" kern="1200" dirty="0" err="1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Gemspring</a:t>
                      </a:r>
                      <a:r>
                        <a:rPr lang="en-US" sz="850" b="0" i="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 Capital (2022)</a:t>
                      </a:r>
                    </a:p>
                  </a:txBody>
                  <a:tcPr marL="45720" marR="45720" anchor="ctr">
                    <a:lnL>
                      <a:noFill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774923"/>
                  </a:ext>
                </a:extLst>
              </a:tr>
              <a:tr h="357672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endParaRPr lang="en-US" sz="800" b="1" dirty="0">
                        <a:solidFill>
                          <a:schemeClr val="tx2"/>
                        </a:solidFill>
                        <a:latin typeface="+mn-lt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850" b="0" i="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James Corrigan</a:t>
                      </a:r>
                    </a:p>
                  </a:txBody>
                  <a:tcPr marL="45720" marR="45720" anchor="ctr">
                    <a:lnL>
                      <a:noFill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7272020"/>
                  </a:ext>
                </a:extLst>
              </a:tr>
              <a:tr h="357672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endParaRPr lang="en-US" sz="800" b="1" dirty="0">
                        <a:solidFill>
                          <a:schemeClr val="tx2"/>
                        </a:solidFill>
                        <a:latin typeface="+mn-lt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850" b="0" i="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620</a:t>
                      </a:r>
                    </a:p>
                  </a:txBody>
                  <a:tcPr marL="45720" marR="45720" anchor="ctr">
                    <a:lnL>
                      <a:noFill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5356952"/>
                  </a:ext>
                </a:extLst>
              </a:tr>
              <a:tr h="357672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endParaRPr lang="en-US" sz="800" b="1" dirty="0">
                        <a:solidFill>
                          <a:schemeClr val="tx2"/>
                        </a:solidFill>
                        <a:latin typeface="+mn-lt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endParaRPr lang="en-US" sz="850" b="0" i="0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9357036"/>
                  </a:ext>
                </a:extLst>
              </a:tr>
              <a:tr h="357672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endParaRPr lang="en-US" sz="800" b="1" dirty="0">
                        <a:solidFill>
                          <a:schemeClr val="tx2"/>
                        </a:solidFill>
                        <a:latin typeface="+mn-lt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50" b="0" i="0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852556"/>
                  </a:ext>
                </a:extLst>
              </a:tr>
              <a:tr h="357672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endParaRPr lang="en-US" sz="800" b="1" dirty="0">
                        <a:solidFill>
                          <a:schemeClr val="tx2"/>
                        </a:solidFill>
                        <a:latin typeface="+mn-lt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b="0" i="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New York, London, Milan, Mumbai, Melbourne, Hong Kong</a:t>
                      </a:r>
                    </a:p>
                  </a:txBody>
                  <a:tcPr marL="45720" marR="45720" anchor="ctr">
                    <a:lnL>
                      <a:noFill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5034837"/>
                  </a:ext>
                </a:extLst>
              </a:tr>
              <a:tr h="357672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endParaRPr lang="en-US" sz="800" b="1" dirty="0">
                        <a:solidFill>
                          <a:schemeClr val="tx2"/>
                        </a:solidFill>
                        <a:latin typeface="+mn-lt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b="0" i="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Delivery Footprint</a:t>
                      </a:r>
                    </a:p>
                  </a:txBody>
                  <a:tcPr marL="45720" marR="45720" anchor="ctr">
                    <a:lnL>
                      <a:noFill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4592909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020D9DB7-4CA0-FB29-3A01-F56A2381FB94}"/>
              </a:ext>
            </a:extLst>
          </p:cNvPr>
          <p:cNvSpPr txBox="1"/>
          <p:nvPr/>
        </p:nvSpPr>
        <p:spPr>
          <a:xfrm>
            <a:off x="4737577" y="774396"/>
            <a:ext cx="3429000" cy="1614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lang="en-US" sz="1100" b="1" dirty="0">
                <a:solidFill>
                  <a:srgbClr val="0067A5"/>
                </a:solidFill>
              </a:rPr>
              <a:t>Timeline</a:t>
            </a:r>
            <a:endParaRPr sz="1100" b="1" dirty="0">
              <a:solidFill>
                <a:srgbClr val="0067A5"/>
              </a:solidFill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FB12E60-B4C2-1801-023A-795FD438B9D1}"/>
              </a:ext>
            </a:extLst>
          </p:cNvPr>
          <p:cNvCxnSpPr>
            <a:cxnSpLocks/>
          </p:cNvCxnSpPr>
          <p:nvPr/>
        </p:nvCxnSpPr>
        <p:spPr>
          <a:xfrm>
            <a:off x="226695" y="971625"/>
            <a:ext cx="3611880" cy="0"/>
          </a:xfrm>
          <a:prstGeom prst="line">
            <a:avLst/>
          </a:prstGeom>
          <a:ln w="6350"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8FAE4A0-BFAD-F8FF-98F3-DBA3436042E2}"/>
              </a:ext>
            </a:extLst>
          </p:cNvPr>
          <p:cNvSpPr txBox="1"/>
          <p:nvPr/>
        </p:nvSpPr>
        <p:spPr>
          <a:xfrm>
            <a:off x="5707820" y="1889294"/>
            <a:ext cx="1498295" cy="1614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0067A5"/>
                </a:solidFill>
              </a:rPr>
              <a:t>Company Overview</a:t>
            </a:r>
            <a:endParaRPr sz="1100" b="1" i="0" dirty="0">
              <a:solidFill>
                <a:srgbClr val="0067A5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44B6EB8-FA39-6159-09D5-9916CD1B64DB}"/>
              </a:ext>
            </a:extLst>
          </p:cNvPr>
          <p:cNvSpPr txBox="1"/>
          <p:nvPr/>
        </p:nvSpPr>
        <p:spPr>
          <a:xfrm>
            <a:off x="4175539" y="2029892"/>
            <a:ext cx="4562856" cy="1751462"/>
          </a:xfrm>
          <a:prstGeom prst="roundRect">
            <a:avLst>
              <a:gd name="adj" fmla="val 4472"/>
            </a:avLst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105156" indent="-105156" algn="l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508BC9"/>
              </a:buClr>
              <a:buSzPct val="90000"/>
              <a:buFont typeface="Arial"/>
              <a:buChar char="▪"/>
            </a:pPr>
            <a:r>
              <a:rPr lang="en-US" sz="850" b="0" i="0" dirty="0" err="1">
                <a:solidFill>
                  <a:srgbClr val="000000"/>
                </a:solidFill>
              </a:rPr>
              <a:t>GoldenSource</a:t>
            </a:r>
            <a:r>
              <a:rPr lang="en-US" sz="850" b="0" i="0" dirty="0">
                <a:solidFill>
                  <a:srgbClr val="000000"/>
                </a:solidFill>
              </a:rPr>
              <a:t> is one of the </a:t>
            </a:r>
            <a:r>
              <a:rPr lang="en-US" sz="850" b="1" i="0" dirty="0">
                <a:solidFill>
                  <a:srgbClr val="000000"/>
                </a:solidFill>
              </a:rPr>
              <a:t>original enterprise data management</a:t>
            </a:r>
            <a:r>
              <a:rPr lang="en-US" sz="850" b="0" i="0" dirty="0">
                <a:solidFill>
                  <a:srgbClr val="000000"/>
                </a:solidFill>
              </a:rPr>
              <a:t> vendors</a:t>
            </a:r>
          </a:p>
          <a:p>
            <a:pPr marL="105156" indent="-105156" algn="l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508BC9"/>
              </a:buClr>
              <a:buSzPct val="90000"/>
              <a:buFont typeface="Arial"/>
              <a:buChar char="▪"/>
            </a:pPr>
            <a:r>
              <a:rPr lang="en-US" sz="850" b="0" i="0" dirty="0">
                <a:solidFill>
                  <a:srgbClr val="000000"/>
                </a:solidFill>
              </a:rPr>
              <a:t>Simplifies and streamlines data that quickly becomes disjointed across many sources</a:t>
            </a:r>
          </a:p>
          <a:p>
            <a:pPr marL="105156" indent="-105156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508BC9"/>
              </a:buClr>
              <a:buSzPct val="90000"/>
              <a:buFont typeface="Arial"/>
              <a:buChar char="▪"/>
            </a:pPr>
            <a:r>
              <a:rPr lang="en-US" sz="850" dirty="0">
                <a:solidFill>
                  <a:srgbClr val="000000"/>
                </a:solidFill>
              </a:rPr>
              <a:t>Two go-to-market lenses: the </a:t>
            </a:r>
            <a:r>
              <a:rPr lang="en-US" sz="850" b="1" dirty="0">
                <a:solidFill>
                  <a:srgbClr val="000000"/>
                </a:solidFill>
              </a:rPr>
              <a:t>Investment Data Platform</a:t>
            </a:r>
            <a:r>
              <a:rPr lang="en-US" sz="850" dirty="0">
                <a:solidFill>
                  <a:srgbClr val="000000"/>
                </a:solidFill>
              </a:rPr>
              <a:t> for the buy side and a </a:t>
            </a:r>
            <a:r>
              <a:rPr lang="en-US" sz="850" b="1" dirty="0">
                <a:solidFill>
                  <a:srgbClr val="000000"/>
                </a:solidFill>
              </a:rPr>
              <a:t>Trading, Risk and Regulatory Data Platform</a:t>
            </a:r>
            <a:r>
              <a:rPr lang="en-US" sz="850" dirty="0">
                <a:solidFill>
                  <a:srgbClr val="000000"/>
                </a:solidFill>
              </a:rPr>
              <a:t> for the sell side</a:t>
            </a:r>
          </a:p>
          <a:p>
            <a:pPr marL="105156" indent="-105156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508BC9"/>
              </a:buClr>
              <a:buSzPct val="90000"/>
              <a:buFont typeface="Arial"/>
              <a:buChar char="▪"/>
            </a:pPr>
            <a:r>
              <a:rPr lang="en-US" sz="850" dirty="0">
                <a:solidFill>
                  <a:srgbClr val="000000"/>
                </a:solidFill>
              </a:rPr>
              <a:t>Operates with a recurring subscription license with broad flexible offerings</a:t>
            </a:r>
          </a:p>
          <a:p>
            <a:pPr marL="562356" lvl="1" indent="-105156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508BC9"/>
              </a:buClr>
              <a:buSzPct val="90000"/>
              <a:buFont typeface="Arial"/>
              <a:buChar char="▪"/>
            </a:pPr>
            <a:r>
              <a:rPr lang="en-US" sz="850" dirty="0">
                <a:solidFill>
                  <a:srgbClr val="000000"/>
                </a:solidFill>
              </a:rPr>
              <a:t>Lets customers host </a:t>
            </a:r>
            <a:r>
              <a:rPr lang="en-US" sz="850" b="1" dirty="0">
                <a:solidFill>
                  <a:srgbClr val="000000"/>
                </a:solidFill>
              </a:rPr>
              <a:t>on-premise</a:t>
            </a:r>
            <a:r>
              <a:rPr lang="en-US" sz="850" dirty="0">
                <a:solidFill>
                  <a:srgbClr val="000000"/>
                </a:solidFill>
              </a:rPr>
              <a:t> or </a:t>
            </a:r>
            <a:r>
              <a:rPr lang="en-US" sz="850" b="1" dirty="0">
                <a:solidFill>
                  <a:srgbClr val="000000"/>
                </a:solidFill>
              </a:rPr>
              <a:t>outsource</a:t>
            </a:r>
            <a:r>
              <a:rPr lang="en-US" sz="850" dirty="0">
                <a:solidFill>
                  <a:srgbClr val="000000"/>
                </a:solidFill>
              </a:rPr>
              <a:t> to </a:t>
            </a:r>
            <a:r>
              <a:rPr lang="en-US" sz="850" dirty="0" err="1">
                <a:solidFill>
                  <a:srgbClr val="000000"/>
                </a:solidFill>
              </a:rPr>
              <a:t>GoldenSource</a:t>
            </a:r>
            <a:r>
              <a:rPr lang="en-US" sz="850" dirty="0">
                <a:solidFill>
                  <a:srgbClr val="000000"/>
                </a:solidFill>
              </a:rPr>
              <a:t> for hosting</a:t>
            </a:r>
          </a:p>
          <a:p>
            <a:pPr marL="562356" lvl="1" indent="-105156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508BC9"/>
              </a:buClr>
              <a:buSzPct val="90000"/>
              <a:buFont typeface="Arial"/>
              <a:buChar char="▪"/>
            </a:pPr>
            <a:r>
              <a:rPr lang="en-US" sz="850" dirty="0">
                <a:solidFill>
                  <a:srgbClr val="000000"/>
                </a:solidFill>
              </a:rPr>
              <a:t>Offers </a:t>
            </a:r>
            <a:r>
              <a:rPr lang="en-US" sz="850" b="1" dirty="0">
                <a:solidFill>
                  <a:srgbClr val="000000"/>
                </a:solidFill>
              </a:rPr>
              <a:t>implementation services </a:t>
            </a:r>
            <a:r>
              <a:rPr lang="en-US" sz="850" dirty="0">
                <a:solidFill>
                  <a:srgbClr val="000000"/>
                </a:solidFill>
              </a:rPr>
              <a:t>and </a:t>
            </a:r>
            <a:r>
              <a:rPr lang="en-US" sz="850" b="1" dirty="0">
                <a:solidFill>
                  <a:srgbClr val="000000"/>
                </a:solidFill>
              </a:rPr>
              <a:t>managed services </a:t>
            </a:r>
            <a:r>
              <a:rPr lang="en-US" sz="850" dirty="0">
                <a:solidFill>
                  <a:srgbClr val="000000"/>
                </a:solidFill>
              </a:rPr>
              <a:t>for customers that want more touch-points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D803519-A6C2-C693-725D-8CF6D66F9167}"/>
              </a:ext>
            </a:extLst>
          </p:cNvPr>
          <p:cNvSpPr/>
          <p:nvPr/>
        </p:nvSpPr>
        <p:spPr>
          <a:xfrm>
            <a:off x="242509" y="1144442"/>
            <a:ext cx="911018" cy="297531"/>
          </a:xfrm>
          <a:prstGeom prst="roundRect">
            <a:avLst>
              <a:gd name="adj" fmla="val 16123"/>
            </a:avLst>
          </a:prstGeom>
          <a:solidFill>
            <a:schemeClr val="bg2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900" b="1" kern="0" dirty="0">
                <a:solidFill>
                  <a:schemeClr val="bg1"/>
                </a:solidFill>
              </a:rPr>
              <a:t>Year</a:t>
            </a: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Founded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3AD90C8-9C84-B57C-C0BA-1CD9B174F0D2}"/>
              </a:ext>
            </a:extLst>
          </p:cNvPr>
          <p:cNvSpPr/>
          <p:nvPr/>
        </p:nvSpPr>
        <p:spPr>
          <a:xfrm>
            <a:off x="251047" y="1503196"/>
            <a:ext cx="911018" cy="297531"/>
          </a:xfrm>
          <a:prstGeom prst="roundRect">
            <a:avLst>
              <a:gd name="adj" fmla="val 16123"/>
            </a:avLst>
          </a:prstGeom>
          <a:solidFill>
            <a:schemeClr val="bg2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900" b="1" kern="0" dirty="0">
                <a:solidFill>
                  <a:schemeClr val="bg1"/>
                </a:solidFill>
              </a:rPr>
              <a:t>Ownership</a:t>
            </a:r>
            <a:endParaRPr kumimoji="0" lang="en-US" sz="9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D387D8D-4CAA-1E2D-34D0-07D747937ABB}"/>
              </a:ext>
            </a:extLst>
          </p:cNvPr>
          <p:cNvSpPr/>
          <p:nvPr/>
        </p:nvSpPr>
        <p:spPr>
          <a:xfrm>
            <a:off x="251047" y="1861950"/>
            <a:ext cx="911018" cy="297531"/>
          </a:xfrm>
          <a:prstGeom prst="roundRect">
            <a:avLst>
              <a:gd name="adj" fmla="val 16123"/>
            </a:avLst>
          </a:prstGeom>
          <a:solidFill>
            <a:schemeClr val="bg2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900" b="1" kern="0" dirty="0">
                <a:solidFill>
                  <a:schemeClr val="bg1"/>
                </a:solidFill>
              </a:rPr>
              <a:t>CEO</a:t>
            </a:r>
            <a:endParaRPr kumimoji="0" lang="en-US" sz="9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8BA358A-B3B8-E14F-E7A9-C07B4CD5E830}"/>
              </a:ext>
            </a:extLst>
          </p:cNvPr>
          <p:cNvSpPr/>
          <p:nvPr/>
        </p:nvSpPr>
        <p:spPr>
          <a:xfrm>
            <a:off x="251047" y="2220704"/>
            <a:ext cx="911018" cy="297531"/>
          </a:xfrm>
          <a:prstGeom prst="roundRect">
            <a:avLst>
              <a:gd name="adj" fmla="val 16123"/>
            </a:avLst>
          </a:prstGeom>
          <a:solidFill>
            <a:schemeClr val="bg2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900" b="1" kern="0" dirty="0">
                <a:solidFill>
                  <a:schemeClr val="bg1"/>
                </a:solidFill>
              </a:rPr>
              <a:t>Employees</a:t>
            </a:r>
            <a:endParaRPr kumimoji="0" lang="en-US" sz="9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EC25389-7E6E-F735-8CDE-84D8DB6CA8D4}"/>
              </a:ext>
            </a:extLst>
          </p:cNvPr>
          <p:cNvSpPr/>
          <p:nvPr/>
        </p:nvSpPr>
        <p:spPr>
          <a:xfrm>
            <a:off x="251047" y="2579458"/>
            <a:ext cx="911018" cy="297531"/>
          </a:xfrm>
          <a:prstGeom prst="roundRect">
            <a:avLst>
              <a:gd name="adj" fmla="val 16123"/>
            </a:avLst>
          </a:prstGeom>
          <a:solidFill>
            <a:schemeClr val="bg2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900" b="1" kern="0" dirty="0">
                <a:solidFill>
                  <a:schemeClr val="bg1"/>
                </a:solidFill>
              </a:rPr>
              <a:t>Revenue</a:t>
            </a:r>
            <a:endParaRPr kumimoji="0" lang="en-US" sz="9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D249F1E-C820-F70B-AC3A-33BF6A40DD7D}"/>
              </a:ext>
            </a:extLst>
          </p:cNvPr>
          <p:cNvSpPr/>
          <p:nvPr/>
        </p:nvSpPr>
        <p:spPr>
          <a:xfrm>
            <a:off x="251047" y="2938212"/>
            <a:ext cx="911018" cy="297531"/>
          </a:xfrm>
          <a:prstGeom prst="roundRect">
            <a:avLst>
              <a:gd name="adj" fmla="val 16123"/>
            </a:avLst>
          </a:prstGeom>
          <a:solidFill>
            <a:schemeClr val="bg2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900" b="1" kern="0" dirty="0">
                <a:solidFill>
                  <a:schemeClr val="bg1"/>
                </a:solidFill>
              </a:rPr>
              <a:t>EBITDA</a:t>
            </a:r>
            <a:endParaRPr kumimoji="0" lang="en-US" sz="9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70301B-236F-949B-3DD3-070A204596CD}"/>
              </a:ext>
            </a:extLst>
          </p:cNvPr>
          <p:cNvSpPr txBox="1"/>
          <p:nvPr/>
        </p:nvSpPr>
        <p:spPr>
          <a:xfrm>
            <a:off x="5425739" y="4195607"/>
            <a:ext cx="1759620" cy="1614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lang="en-US" sz="1100" b="1" dirty="0">
                <a:solidFill>
                  <a:srgbClr val="0067A5"/>
                </a:solidFill>
              </a:rPr>
              <a:t>Platform Architecture</a:t>
            </a:r>
            <a:endParaRPr sz="1100" b="1" dirty="0">
              <a:solidFill>
                <a:srgbClr val="0067A5"/>
              </a:solidFill>
            </a:endParaRPr>
          </a:p>
        </p:txBody>
      </p:sp>
      <p:sp>
        <p:nvSpPr>
          <p:cNvPr id="15" name="Rounded Rectangle 4">
            <a:extLst>
              <a:ext uri="{FF2B5EF4-FFF2-40B4-BE49-F238E27FC236}">
                <a16:creationId xmlns:a16="http://schemas.microsoft.com/office/drawing/2014/main" id="{8B0958AF-560E-B2F7-FCE8-11AF0CC5DA80}"/>
              </a:ext>
            </a:extLst>
          </p:cNvPr>
          <p:cNvSpPr/>
          <p:nvPr/>
        </p:nvSpPr>
        <p:spPr>
          <a:xfrm>
            <a:off x="859155" y="4478638"/>
            <a:ext cx="2559558" cy="34401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8" name="Rounded Rectangle 9">
            <a:extLst>
              <a:ext uri="{FF2B5EF4-FFF2-40B4-BE49-F238E27FC236}">
                <a16:creationId xmlns:a16="http://schemas.microsoft.com/office/drawing/2014/main" id="{5F509806-5EDD-956D-3EB4-4A336F45C583}"/>
              </a:ext>
            </a:extLst>
          </p:cNvPr>
          <p:cNvSpPr/>
          <p:nvPr/>
        </p:nvSpPr>
        <p:spPr>
          <a:xfrm>
            <a:off x="859155" y="4880974"/>
            <a:ext cx="2559558" cy="334789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3" name="Rounded Rectangle 14">
            <a:extLst>
              <a:ext uri="{FF2B5EF4-FFF2-40B4-BE49-F238E27FC236}">
                <a16:creationId xmlns:a16="http://schemas.microsoft.com/office/drawing/2014/main" id="{7DE44216-2E27-70C3-A021-E03D8E265FF7}"/>
              </a:ext>
            </a:extLst>
          </p:cNvPr>
          <p:cNvSpPr/>
          <p:nvPr/>
        </p:nvSpPr>
        <p:spPr>
          <a:xfrm>
            <a:off x="859155" y="5283310"/>
            <a:ext cx="2559558" cy="334789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5" name="Rounded Rectangle 19">
            <a:extLst>
              <a:ext uri="{FF2B5EF4-FFF2-40B4-BE49-F238E27FC236}">
                <a16:creationId xmlns:a16="http://schemas.microsoft.com/office/drawing/2014/main" id="{FC5958E5-0630-7B4A-3FA9-DF7BB18C6B1C}"/>
              </a:ext>
            </a:extLst>
          </p:cNvPr>
          <p:cNvSpPr/>
          <p:nvPr/>
        </p:nvSpPr>
        <p:spPr>
          <a:xfrm>
            <a:off x="859155" y="5685646"/>
            <a:ext cx="2559558" cy="334789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3" name="Rounded Rectangle 24">
            <a:extLst>
              <a:ext uri="{FF2B5EF4-FFF2-40B4-BE49-F238E27FC236}">
                <a16:creationId xmlns:a16="http://schemas.microsoft.com/office/drawing/2014/main" id="{928A17F7-DF27-36BB-177A-E3A912A61AF8}"/>
              </a:ext>
            </a:extLst>
          </p:cNvPr>
          <p:cNvSpPr/>
          <p:nvPr/>
        </p:nvSpPr>
        <p:spPr>
          <a:xfrm>
            <a:off x="859155" y="6087982"/>
            <a:ext cx="2559558" cy="334789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7" name="TextBox 5">
            <a:extLst>
              <a:ext uri="{FF2B5EF4-FFF2-40B4-BE49-F238E27FC236}">
                <a16:creationId xmlns:a16="http://schemas.microsoft.com/office/drawing/2014/main" id="{19D5F2AA-8158-920E-699C-6ACB572ECCC8}"/>
              </a:ext>
            </a:extLst>
          </p:cNvPr>
          <p:cNvSpPr txBox="1"/>
          <p:nvPr/>
        </p:nvSpPr>
        <p:spPr>
          <a:xfrm>
            <a:off x="1205102" y="4596315"/>
            <a:ext cx="2213611" cy="119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dirty="0">
                <a:solidFill>
                  <a:srgbClr val="000000"/>
                </a:solidFill>
                <a:latin typeface="Segoe UI"/>
              </a:rPr>
              <a:t>Cross-asset instrument mastering</a:t>
            </a:r>
          </a:p>
        </p:txBody>
      </p:sp>
      <p:sp>
        <p:nvSpPr>
          <p:cNvPr id="40" name="TextBox 10">
            <a:extLst>
              <a:ext uri="{FF2B5EF4-FFF2-40B4-BE49-F238E27FC236}">
                <a16:creationId xmlns:a16="http://schemas.microsoft.com/office/drawing/2014/main" id="{39E366E2-6DE7-A086-8D6E-4BEBA9657472}"/>
              </a:ext>
            </a:extLst>
          </p:cNvPr>
          <p:cNvSpPr txBox="1"/>
          <p:nvPr/>
        </p:nvSpPr>
        <p:spPr>
          <a:xfrm>
            <a:off x="1205102" y="4998651"/>
            <a:ext cx="2213611" cy="119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dirty="0">
                <a:solidFill>
                  <a:srgbClr val="000000"/>
                </a:solidFill>
                <a:latin typeface="Segoe UI"/>
              </a:rPr>
              <a:t>Multi-vendor pricing and valuation</a:t>
            </a:r>
          </a:p>
        </p:txBody>
      </p:sp>
      <p:sp>
        <p:nvSpPr>
          <p:cNvPr id="42" name="TextBox 15">
            <a:extLst>
              <a:ext uri="{FF2B5EF4-FFF2-40B4-BE49-F238E27FC236}">
                <a16:creationId xmlns:a16="http://schemas.microsoft.com/office/drawing/2014/main" id="{24B17A4C-0D9A-6211-110B-3A29E88F5A5C}"/>
              </a:ext>
            </a:extLst>
          </p:cNvPr>
          <p:cNvSpPr txBox="1"/>
          <p:nvPr/>
        </p:nvSpPr>
        <p:spPr>
          <a:xfrm>
            <a:off x="1205102" y="5400987"/>
            <a:ext cx="2213611" cy="119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dirty="0">
                <a:solidFill>
                  <a:srgbClr val="000000"/>
                </a:solidFill>
                <a:latin typeface="Segoe UI"/>
              </a:rPr>
              <a:t>Snowflake Native App, runs in-account</a:t>
            </a:r>
          </a:p>
        </p:txBody>
      </p:sp>
      <p:sp>
        <p:nvSpPr>
          <p:cNvPr id="44" name="TextBox 20">
            <a:extLst>
              <a:ext uri="{FF2B5EF4-FFF2-40B4-BE49-F238E27FC236}">
                <a16:creationId xmlns:a16="http://schemas.microsoft.com/office/drawing/2014/main" id="{08D831A6-FA64-F3DE-A830-0BC384449764}"/>
              </a:ext>
            </a:extLst>
          </p:cNvPr>
          <p:cNvSpPr txBox="1"/>
          <p:nvPr/>
        </p:nvSpPr>
        <p:spPr>
          <a:xfrm>
            <a:off x="1205102" y="5803323"/>
            <a:ext cx="2213611" cy="119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000000"/>
                </a:solidFill>
                <a:latin typeface="Segoe UI"/>
              </a:rPr>
              <a:t>Real-time investment book of record</a:t>
            </a:r>
          </a:p>
        </p:txBody>
      </p:sp>
      <p:sp>
        <p:nvSpPr>
          <p:cNvPr id="46" name="TextBox 25">
            <a:extLst>
              <a:ext uri="{FF2B5EF4-FFF2-40B4-BE49-F238E27FC236}">
                <a16:creationId xmlns:a16="http://schemas.microsoft.com/office/drawing/2014/main" id="{B7BC359F-8060-CE60-BD4A-6469B5EBEDDE}"/>
              </a:ext>
            </a:extLst>
          </p:cNvPr>
          <p:cNvSpPr txBox="1"/>
          <p:nvPr/>
        </p:nvSpPr>
        <p:spPr>
          <a:xfrm>
            <a:off x="1205102" y="6205659"/>
            <a:ext cx="2213611" cy="119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>
                <a:solidFill>
                  <a:srgbClr val="000000"/>
                </a:solidFill>
                <a:latin typeface="Segoe UI"/>
              </a:rPr>
              <a:t>AI layer on Amazon Bedrock, 2026</a:t>
            </a:r>
          </a:p>
        </p:txBody>
      </p:sp>
      <p:sp>
        <p:nvSpPr>
          <p:cNvPr id="48" name="Rounded Rectangle 1">
            <a:extLst>
              <a:ext uri="{FF2B5EF4-FFF2-40B4-BE49-F238E27FC236}">
                <a16:creationId xmlns:a16="http://schemas.microsoft.com/office/drawing/2014/main" id="{FF207A74-B33D-0793-84C9-6417F992DDFB}"/>
              </a:ext>
            </a:extLst>
          </p:cNvPr>
          <p:cNvSpPr/>
          <p:nvPr/>
        </p:nvSpPr>
        <p:spPr>
          <a:xfrm>
            <a:off x="226695" y="4475360"/>
            <a:ext cx="873748" cy="356997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50" name="Icon Securities Master">
            <a:extLst>
              <a:ext uri="{FF2B5EF4-FFF2-40B4-BE49-F238E27FC236}">
                <a16:creationId xmlns:a16="http://schemas.microsoft.com/office/drawing/2014/main" id="{4A877E14-9525-D71C-633C-0C473EDCC1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2243" y="4585088"/>
            <a:ext cx="128016" cy="128016"/>
          </a:xfrm>
          <a:prstGeom prst="rect">
            <a:avLst/>
          </a:prstGeom>
        </p:spPr>
      </p:pic>
      <p:sp>
        <p:nvSpPr>
          <p:cNvPr id="52" name="TextBox 3">
            <a:extLst>
              <a:ext uri="{FF2B5EF4-FFF2-40B4-BE49-F238E27FC236}">
                <a16:creationId xmlns:a16="http://schemas.microsoft.com/office/drawing/2014/main" id="{9CBAA886-E67B-7C11-A64E-F9E3C2CE4C85}"/>
              </a:ext>
            </a:extLst>
          </p:cNvPr>
          <p:cNvSpPr txBox="1"/>
          <p:nvPr/>
        </p:nvSpPr>
        <p:spPr>
          <a:xfrm>
            <a:off x="474267" y="4533680"/>
            <a:ext cx="6858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dirty="0">
                <a:solidFill>
                  <a:schemeClr val="bg1"/>
                </a:solidFill>
                <a:latin typeface="Segoe UI Semibold"/>
              </a:rPr>
              <a:t>Securities Master</a:t>
            </a:r>
          </a:p>
        </p:txBody>
      </p:sp>
      <p:sp>
        <p:nvSpPr>
          <p:cNvPr id="69" name="Rounded Rectangle 6">
            <a:extLst>
              <a:ext uri="{FF2B5EF4-FFF2-40B4-BE49-F238E27FC236}">
                <a16:creationId xmlns:a16="http://schemas.microsoft.com/office/drawing/2014/main" id="{7F8419EF-7652-58F0-C942-617975AF27B9}"/>
              </a:ext>
            </a:extLst>
          </p:cNvPr>
          <p:cNvSpPr/>
          <p:nvPr/>
        </p:nvSpPr>
        <p:spPr>
          <a:xfrm>
            <a:off x="226695" y="4877696"/>
            <a:ext cx="873748" cy="347472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73" name="Icon Price Master">
            <a:extLst>
              <a:ext uri="{FF2B5EF4-FFF2-40B4-BE49-F238E27FC236}">
                <a16:creationId xmlns:a16="http://schemas.microsoft.com/office/drawing/2014/main" id="{6E318B6E-EE52-7EA9-BA8F-637F32C8E4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2243" y="4987424"/>
            <a:ext cx="128016" cy="128016"/>
          </a:xfrm>
          <a:prstGeom prst="rect">
            <a:avLst/>
          </a:prstGeom>
        </p:spPr>
      </p:pic>
      <p:sp>
        <p:nvSpPr>
          <p:cNvPr id="75" name="TextBox 8">
            <a:extLst>
              <a:ext uri="{FF2B5EF4-FFF2-40B4-BE49-F238E27FC236}">
                <a16:creationId xmlns:a16="http://schemas.microsoft.com/office/drawing/2014/main" id="{D3E3EC14-C0A3-605B-BB94-477D6988D122}"/>
              </a:ext>
            </a:extLst>
          </p:cNvPr>
          <p:cNvSpPr txBox="1"/>
          <p:nvPr/>
        </p:nvSpPr>
        <p:spPr>
          <a:xfrm>
            <a:off x="474267" y="4993724"/>
            <a:ext cx="685800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chemeClr val="bg1"/>
                </a:solidFill>
                <a:latin typeface="Segoe UI Semibold"/>
              </a:rPr>
              <a:t>Price Master</a:t>
            </a:r>
          </a:p>
        </p:txBody>
      </p:sp>
      <p:sp>
        <p:nvSpPr>
          <p:cNvPr id="121" name="Rounded Rectangle 11">
            <a:extLst>
              <a:ext uri="{FF2B5EF4-FFF2-40B4-BE49-F238E27FC236}">
                <a16:creationId xmlns:a16="http://schemas.microsoft.com/office/drawing/2014/main" id="{DBC96391-4113-6146-182D-B94BC5656B33}"/>
              </a:ext>
            </a:extLst>
          </p:cNvPr>
          <p:cNvSpPr/>
          <p:nvPr/>
        </p:nvSpPr>
        <p:spPr>
          <a:xfrm>
            <a:off x="226695" y="5280032"/>
            <a:ext cx="873748" cy="347472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123" name="Icon OMNI">
            <a:extLst>
              <a:ext uri="{FF2B5EF4-FFF2-40B4-BE49-F238E27FC236}">
                <a16:creationId xmlns:a16="http://schemas.microsoft.com/office/drawing/2014/main" id="{5FB70AFE-D5C2-70B5-B571-97FAA1BDBF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2243" y="5389760"/>
            <a:ext cx="128016" cy="128016"/>
          </a:xfrm>
          <a:prstGeom prst="rect">
            <a:avLst/>
          </a:prstGeom>
        </p:spPr>
      </p:pic>
      <p:sp>
        <p:nvSpPr>
          <p:cNvPr id="125" name="TextBox 13">
            <a:extLst>
              <a:ext uri="{FF2B5EF4-FFF2-40B4-BE49-F238E27FC236}">
                <a16:creationId xmlns:a16="http://schemas.microsoft.com/office/drawing/2014/main" id="{F69DBC90-8822-6B74-4ED8-271BD6BD1D7D}"/>
              </a:ext>
            </a:extLst>
          </p:cNvPr>
          <p:cNvSpPr txBox="1"/>
          <p:nvPr/>
        </p:nvSpPr>
        <p:spPr>
          <a:xfrm>
            <a:off x="474267" y="5396060"/>
            <a:ext cx="685800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chemeClr val="bg1"/>
                </a:solidFill>
                <a:latin typeface="Segoe UI Semibold"/>
              </a:rPr>
              <a:t>OMNI</a:t>
            </a:r>
          </a:p>
        </p:txBody>
      </p:sp>
      <p:sp>
        <p:nvSpPr>
          <p:cNvPr id="127" name="Rounded Rectangle 16">
            <a:extLst>
              <a:ext uri="{FF2B5EF4-FFF2-40B4-BE49-F238E27FC236}">
                <a16:creationId xmlns:a16="http://schemas.microsoft.com/office/drawing/2014/main" id="{345D1889-64B6-372D-DF1F-67D1BB7BAD72}"/>
              </a:ext>
            </a:extLst>
          </p:cNvPr>
          <p:cNvSpPr/>
          <p:nvPr/>
        </p:nvSpPr>
        <p:spPr>
          <a:xfrm>
            <a:off x="226695" y="5682368"/>
            <a:ext cx="873748" cy="347472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129" name="Icon IBOR">
            <a:extLst>
              <a:ext uri="{FF2B5EF4-FFF2-40B4-BE49-F238E27FC236}">
                <a16:creationId xmlns:a16="http://schemas.microsoft.com/office/drawing/2014/main" id="{6229F12F-DBF1-648F-502E-90E74DEE31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2243" y="5792096"/>
            <a:ext cx="128016" cy="128016"/>
          </a:xfrm>
          <a:prstGeom prst="rect">
            <a:avLst/>
          </a:prstGeom>
        </p:spPr>
      </p:pic>
      <p:sp>
        <p:nvSpPr>
          <p:cNvPr id="131" name="TextBox 18">
            <a:extLst>
              <a:ext uri="{FF2B5EF4-FFF2-40B4-BE49-F238E27FC236}">
                <a16:creationId xmlns:a16="http://schemas.microsoft.com/office/drawing/2014/main" id="{9B249237-C003-7C33-C225-419C39BCDD3B}"/>
              </a:ext>
            </a:extLst>
          </p:cNvPr>
          <p:cNvSpPr txBox="1"/>
          <p:nvPr/>
        </p:nvSpPr>
        <p:spPr>
          <a:xfrm>
            <a:off x="474267" y="5798396"/>
            <a:ext cx="685800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chemeClr val="bg1"/>
                </a:solidFill>
                <a:latin typeface="Segoe UI Semibold"/>
              </a:rPr>
              <a:t>IBOR</a:t>
            </a:r>
          </a:p>
        </p:txBody>
      </p:sp>
      <p:sp>
        <p:nvSpPr>
          <p:cNvPr id="133" name="Rounded Rectangle 21">
            <a:extLst>
              <a:ext uri="{FF2B5EF4-FFF2-40B4-BE49-F238E27FC236}">
                <a16:creationId xmlns:a16="http://schemas.microsoft.com/office/drawing/2014/main" id="{94462CF0-13B1-AFD6-578E-777172FF227F}"/>
              </a:ext>
            </a:extLst>
          </p:cNvPr>
          <p:cNvSpPr/>
          <p:nvPr/>
        </p:nvSpPr>
        <p:spPr>
          <a:xfrm>
            <a:off x="226695" y="6084704"/>
            <a:ext cx="873748" cy="347472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135" name="Icon Scout">
            <a:extLst>
              <a:ext uri="{FF2B5EF4-FFF2-40B4-BE49-F238E27FC236}">
                <a16:creationId xmlns:a16="http://schemas.microsoft.com/office/drawing/2014/main" id="{2AAD9A4F-C419-F278-36F3-8A53F1F2A1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2243" y="6194432"/>
            <a:ext cx="128016" cy="128016"/>
          </a:xfrm>
          <a:prstGeom prst="rect">
            <a:avLst/>
          </a:prstGeom>
        </p:spPr>
      </p:pic>
      <p:sp>
        <p:nvSpPr>
          <p:cNvPr id="137" name="TextBox 23">
            <a:extLst>
              <a:ext uri="{FF2B5EF4-FFF2-40B4-BE49-F238E27FC236}">
                <a16:creationId xmlns:a16="http://schemas.microsoft.com/office/drawing/2014/main" id="{395BC67B-7283-4140-914B-9B04690489C2}"/>
              </a:ext>
            </a:extLst>
          </p:cNvPr>
          <p:cNvSpPr txBox="1"/>
          <p:nvPr/>
        </p:nvSpPr>
        <p:spPr>
          <a:xfrm>
            <a:off x="474267" y="6200732"/>
            <a:ext cx="685800" cy="115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chemeClr val="bg1"/>
                </a:solidFill>
                <a:latin typeface="Segoe UI Semibold"/>
              </a:rPr>
              <a:t>Scout</a:t>
            </a:r>
          </a:p>
        </p:txBody>
      </p:sp>
      <p:cxnSp>
        <p:nvCxnSpPr>
          <p:cNvPr id="138" name="Connector 17">
            <a:extLst>
              <a:ext uri="{FF2B5EF4-FFF2-40B4-BE49-F238E27FC236}">
                <a16:creationId xmlns:a16="http://schemas.microsoft.com/office/drawing/2014/main" id="{59C65065-4A80-7B32-C8E0-99275A2DF510}"/>
              </a:ext>
            </a:extLst>
          </p:cNvPr>
          <p:cNvCxnSpPr/>
          <p:nvPr/>
        </p:nvCxnSpPr>
        <p:spPr>
          <a:xfrm>
            <a:off x="4460747" y="4740548"/>
            <a:ext cx="347472" cy="666206"/>
          </a:xfrm>
          <a:prstGeom prst="line">
            <a:avLst/>
          </a:prstGeom>
          <a:ln w="952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9">
            <a:extLst>
              <a:ext uri="{FF2B5EF4-FFF2-40B4-BE49-F238E27FC236}">
                <a16:creationId xmlns:a16="http://schemas.microsoft.com/office/drawing/2014/main" id="{1B748AC2-B61F-F8CF-81C7-8FC486A8C41D}"/>
              </a:ext>
            </a:extLst>
          </p:cNvPr>
          <p:cNvCxnSpPr/>
          <p:nvPr/>
        </p:nvCxnSpPr>
        <p:spPr>
          <a:xfrm>
            <a:off x="4460747" y="4962616"/>
            <a:ext cx="347472" cy="444138"/>
          </a:xfrm>
          <a:prstGeom prst="line">
            <a:avLst/>
          </a:prstGeom>
          <a:ln w="952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21">
            <a:extLst>
              <a:ext uri="{FF2B5EF4-FFF2-40B4-BE49-F238E27FC236}">
                <a16:creationId xmlns:a16="http://schemas.microsoft.com/office/drawing/2014/main" id="{663D259B-0301-9574-C179-0AB89F280FDD}"/>
              </a:ext>
            </a:extLst>
          </p:cNvPr>
          <p:cNvCxnSpPr/>
          <p:nvPr/>
        </p:nvCxnSpPr>
        <p:spPr>
          <a:xfrm>
            <a:off x="4460747" y="5184685"/>
            <a:ext cx="347472" cy="222069"/>
          </a:xfrm>
          <a:prstGeom prst="line">
            <a:avLst/>
          </a:prstGeom>
          <a:ln w="952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23">
            <a:extLst>
              <a:ext uri="{FF2B5EF4-FFF2-40B4-BE49-F238E27FC236}">
                <a16:creationId xmlns:a16="http://schemas.microsoft.com/office/drawing/2014/main" id="{2DAD071B-11F8-B12B-16AA-ABC25CDE5733}"/>
              </a:ext>
            </a:extLst>
          </p:cNvPr>
          <p:cNvCxnSpPr/>
          <p:nvPr/>
        </p:nvCxnSpPr>
        <p:spPr>
          <a:xfrm>
            <a:off x="4460747" y="5406754"/>
            <a:ext cx="347472" cy="0"/>
          </a:xfrm>
          <a:prstGeom prst="line">
            <a:avLst/>
          </a:prstGeom>
          <a:ln w="952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25">
            <a:extLst>
              <a:ext uri="{FF2B5EF4-FFF2-40B4-BE49-F238E27FC236}">
                <a16:creationId xmlns:a16="http://schemas.microsoft.com/office/drawing/2014/main" id="{10F9F461-F106-50FC-1568-631418301716}"/>
              </a:ext>
            </a:extLst>
          </p:cNvPr>
          <p:cNvCxnSpPr/>
          <p:nvPr/>
        </p:nvCxnSpPr>
        <p:spPr>
          <a:xfrm flipV="1">
            <a:off x="4460747" y="5406754"/>
            <a:ext cx="347472" cy="222068"/>
          </a:xfrm>
          <a:prstGeom prst="line">
            <a:avLst/>
          </a:prstGeom>
          <a:ln w="952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27">
            <a:extLst>
              <a:ext uri="{FF2B5EF4-FFF2-40B4-BE49-F238E27FC236}">
                <a16:creationId xmlns:a16="http://schemas.microsoft.com/office/drawing/2014/main" id="{0281468F-8D57-46BA-4F25-2CB819A56AEF}"/>
              </a:ext>
            </a:extLst>
          </p:cNvPr>
          <p:cNvCxnSpPr/>
          <p:nvPr/>
        </p:nvCxnSpPr>
        <p:spPr>
          <a:xfrm flipV="1">
            <a:off x="4460747" y="5406754"/>
            <a:ext cx="347472" cy="444137"/>
          </a:xfrm>
          <a:prstGeom prst="line">
            <a:avLst/>
          </a:prstGeom>
          <a:ln w="952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TextBox 28">
            <a:extLst>
              <a:ext uri="{FF2B5EF4-FFF2-40B4-BE49-F238E27FC236}">
                <a16:creationId xmlns:a16="http://schemas.microsoft.com/office/drawing/2014/main" id="{32C75AEE-945D-E3A8-0B57-B50E6B99D578}"/>
              </a:ext>
            </a:extLst>
          </p:cNvPr>
          <p:cNvSpPr txBox="1"/>
          <p:nvPr/>
        </p:nvSpPr>
        <p:spPr>
          <a:xfrm>
            <a:off x="3645106" y="6315049"/>
            <a:ext cx="914400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Segoe UI"/>
              </a:rPr>
              <a:t>And 100+ more</a:t>
            </a:r>
            <a:endParaRPr sz="700" b="0" i="0" dirty="0">
              <a:solidFill>
                <a:srgbClr val="000000"/>
              </a:solidFill>
              <a:latin typeface="Segoe UI"/>
            </a:endParaRPr>
          </a:p>
        </p:txBody>
      </p:sp>
      <p:cxnSp>
        <p:nvCxnSpPr>
          <p:cNvPr id="145" name="Connector 29">
            <a:extLst>
              <a:ext uri="{FF2B5EF4-FFF2-40B4-BE49-F238E27FC236}">
                <a16:creationId xmlns:a16="http://schemas.microsoft.com/office/drawing/2014/main" id="{3952BDD4-1866-67B4-2307-3C98F03371C2}"/>
              </a:ext>
            </a:extLst>
          </p:cNvPr>
          <p:cNvCxnSpPr/>
          <p:nvPr/>
        </p:nvCxnSpPr>
        <p:spPr>
          <a:xfrm flipV="1">
            <a:off x="4460747" y="5406754"/>
            <a:ext cx="347472" cy="666205"/>
          </a:xfrm>
          <a:prstGeom prst="line">
            <a:avLst/>
          </a:prstGeom>
          <a:ln w="952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Oval 146">
            <a:extLst>
              <a:ext uri="{FF2B5EF4-FFF2-40B4-BE49-F238E27FC236}">
                <a16:creationId xmlns:a16="http://schemas.microsoft.com/office/drawing/2014/main" id="{E816B92B-E35F-3A5F-17EF-A318BBADE0C2}"/>
              </a:ext>
            </a:extLst>
          </p:cNvPr>
          <p:cNvSpPr/>
          <p:nvPr/>
        </p:nvSpPr>
        <p:spPr>
          <a:xfrm>
            <a:off x="5605293" y="5359913"/>
            <a:ext cx="93682" cy="93682"/>
          </a:xfrm>
          <a:prstGeom prst="ellipse">
            <a:avLst/>
          </a:prstGeom>
          <a:solidFill>
            <a:schemeClr val="bg2"/>
          </a:solidFill>
          <a:ln w="15875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8" name="TextBox 32">
            <a:extLst>
              <a:ext uri="{FF2B5EF4-FFF2-40B4-BE49-F238E27FC236}">
                <a16:creationId xmlns:a16="http://schemas.microsoft.com/office/drawing/2014/main" id="{88C8345D-1135-5E78-B3C4-C1E61A9157B1}"/>
              </a:ext>
            </a:extLst>
          </p:cNvPr>
          <p:cNvSpPr txBox="1"/>
          <p:nvPr/>
        </p:nvSpPr>
        <p:spPr>
          <a:xfrm>
            <a:off x="4989194" y="5553058"/>
            <a:ext cx="132588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>
                <a:solidFill>
                  <a:srgbClr val="002855"/>
                </a:solidFill>
                <a:latin typeface="Segoe UI Semibold"/>
              </a:rPr>
              <a:t>CONNECT</a:t>
            </a:r>
          </a:p>
        </p:txBody>
      </p:sp>
      <p:sp>
        <p:nvSpPr>
          <p:cNvPr id="149" name="TextBox 33">
            <a:extLst>
              <a:ext uri="{FF2B5EF4-FFF2-40B4-BE49-F238E27FC236}">
                <a16:creationId xmlns:a16="http://schemas.microsoft.com/office/drawing/2014/main" id="{B41C8F95-40BC-C2BE-BD47-3E15717C1A58}"/>
              </a:ext>
            </a:extLst>
          </p:cNvPr>
          <p:cNvSpPr txBox="1"/>
          <p:nvPr/>
        </p:nvSpPr>
        <p:spPr>
          <a:xfrm>
            <a:off x="5154058" y="5717650"/>
            <a:ext cx="996153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525766"/>
                </a:solidFill>
                <a:latin typeface="Segoe UI"/>
              </a:rPr>
              <a:t>Adaptors and 100+ pre-built vendor feeds</a:t>
            </a:r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186BEB51-993B-088C-FEE1-EF68E66393DA}"/>
              </a:ext>
            </a:extLst>
          </p:cNvPr>
          <p:cNvSpPr>
            <a:spLocks/>
          </p:cNvSpPr>
          <p:nvPr/>
        </p:nvSpPr>
        <p:spPr>
          <a:xfrm>
            <a:off x="6755913" y="5359913"/>
            <a:ext cx="93682" cy="93682"/>
          </a:xfrm>
          <a:prstGeom prst="ellipse">
            <a:avLst/>
          </a:prstGeom>
          <a:solidFill>
            <a:schemeClr val="bg2"/>
          </a:solidFill>
          <a:ln w="15875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51" name="TextBox 35">
            <a:extLst>
              <a:ext uri="{FF2B5EF4-FFF2-40B4-BE49-F238E27FC236}">
                <a16:creationId xmlns:a16="http://schemas.microsoft.com/office/drawing/2014/main" id="{D541D4EE-A0AB-E48C-A1FF-37D038BA02E0}"/>
              </a:ext>
            </a:extLst>
          </p:cNvPr>
          <p:cNvSpPr txBox="1"/>
          <p:nvPr/>
        </p:nvSpPr>
        <p:spPr>
          <a:xfrm>
            <a:off x="6139814" y="5553058"/>
            <a:ext cx="132588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 dirty="0">
                <a:solidFill>
                  <a:srgbClr val="002855"/>
                </a:solidFill>
                <a:latin typeface="Segoe UI Semibold"/>
              </a:rPr>
              <a:t>MASTER</a:t>
            </a:r>
          </a:p>
        </p:txBody>
      </p:sp>
      <p:sp>
        <p:nvSpPr>
          <p:cNvPr id="152" name="TextBox 36">
            <a:extLst>
              <a:ext uri="{FF2B5EF4-FFF2-40B4-BE49-F238E27FC236}">
                <a16:creationId xmlns:a16="http://schemas.microsoft.com/office/drawing/2014/main" id="{7B655B5B-24E1-6D46-DFF9-1AC15D34B395}"/>
              </a:ext>
            </a:extLst>
          </p:cNvPr>
          <p:cNvSpPr txBox="1"/>
          <p:nvPr/>
        </p:nvSpPr>
        <p:spPr>
          <a:xfrm>
            <a:off x="6254870" y="5717650"/>
            <a:ext cx="1095768" cy="2164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dirty="0">
                <a:solidFill>
                  <a:srgbClr val="525766"/>
                </a:solidFill>
                <a:latin typeface="Segoe UI"/>
              </a:rPr>
              <a:t>Compile conflicting datapoints</a:t>
            </a:r>
            <a:endParaRPr sz="700" b="0" i="0" dirty="0">
              <a:solidFill>
                <a:srgbClr val="525766"/>
              </a:solidFill>
              <a:latin typeface="Segoe UI"/>
            </a:endParaRPr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AB15BE01-D359-C091-DBD4-0C3D0BC050AE}"/>
              </a:ext>
            </a:extLst>
          </p:cNvPr>
          <p:cNvSpPr>
            <a:spLocks/>
          </p:cNvSpPr>
          <p:nvPr/>
        </p:nvSpPr>
        <p:spPr>
          <a:xfrm>
            <a:off x="8007497" y="5359913"/>
            <a:ext cx="93682" cy="93682"/>
          </a:xfrm>
          <a:prstGeom prst="ellipse">
            <a:avLst/>
          </a:prstGeom>
          <a:solidFill>
            <a:schemeClr val="bg2"/>
          </a:solidFill>
          <a:ln w="15875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54" name="TextBox 38">
            <a:extLst>
              <a:ext uri="{FF2B5EF4-FFF2-40B4-BE49-F238E27FC236}">
                <a16:creationId xmlns:a16="http://schemas.microsoft.com/office/drawing/2014/main" id="{08E6C233-1E4E-09C2-B867-2BB4196FAF9F}"/>
              </a:ext>
            </a:extLst>
          </p:cNvPr>
          <p:cNvSpPr txBox="1"/>
          <p:nvPr/>
        </p:nvSpPr>
        <p:spPr>
          <a:xfrm>
            <a:off x="7336535" y="5553058"/>
            <a:ext cx="1572768" cy="102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 dirty="0">
                <a:solidFill>
                  <a:srgbClr val="002855"/>
                </a:solidFill>
                <a:latin typeface="Segoe UI Semibold"/>
              </a:rPr>
              <a:t>GOLDEN COPY</a:t>
            </a:r>
          </a:p>
        </p:txBody>
      </p:sp>
      <p:sp>
        <p:nvSpPr>
          <p:cNvPr id="155" name="TextBox 39">
            <a:extLst>
              <a:ext uri="{FF2B5EF4-FFF2-40B4-BE49-F238E27FC236}">
                <a16:creationId xmlns:a16="http://schemas.microsoft.com/office/drawing/2014/main" id="{6A325C10-7F1C-3DD6-C15E-7630EFC20B23}"/>
              </a:ext>
            </a:extLst>
          </p:cNvPr>
          <p:cNvSpPr txBox="1"/>
          <p:nvPr/>
        </p:nvSpPr>
        <p:spPr>
          <a:xfrm>
            <a:off x="7634637" y="5717650"/>
            <a:ext cx="976565" cy="104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dirty="0">
                <a:solidFill>
                  <a:srgbClr val="525766"/>
                </a:solidFill>
                <a:latin typeface="Segoe UI"/>
              </a:rPr>
              <a:t>Arrive at one verified source of truth</a:t>
            </a:r>
            <a:endParaRPr sz="700" b="0" i="0" dirty="0">
              <a:solidFill>
                <a:srgbClr val="525766"/>
              </a:solidFill>
              <a:latin typeface="Segoe UI"/>
            </a:endParaRPr>
          </a:p>
        </p:txBody>
      </p:sp>
      <p:sp>
        <p:nvSpPr>
          <p:cNvPr id="156" name="Rounded Rectangle 40">
            <a:extLst>
              <a:ext uri="{FF2B5EF4-FFF2-40B4-BE49-F238E27FC236}">
                <a16:creationId xmlns:a16="http://schemas.microsoft.com/office/drawing/2014/main" id="{CDAD7325-AF20-B8E1-C9D8-5B6BED5CE352}"/>
              </a:ext>
            </a:extLst>
          </p:cNvPr>
          <p:cNvSpPr/>
          <p:nvPr/>
        </p:nvSpPr>
        <p:spPr>
          <a:xfrm>
            <a:off x="5732144" y="4565506"/>
            <a:ext cx="2103120" cy="219456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57" name="TextBox 41">
            <a:extLst>
              <a:ext uri="{FF2B5EF4-FFF2-40B4-BE49-F238E27FC236}">
                <a16:creationId xmlns:a16="http://schemas.microsoft.com/office/drawing/2014/main" id="{162221EE-63DD-F1D4-44CE-6BC6B46690F5}"/>
              </a:ext>
            </a:extLst>
          </p:cNvPr>
          <p:cNvSpPr txBox="1"/>
          <p:nvPr/>
        </p:nvSpPr>
        <p:spPr>
          <a:xfrm>
            <a:off x="5805296" y="4623841"/>
            <a:ext cx="1956815" cy="1027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 i="0" dirty="0">
                <a:solidFill>
                  <a:schemeClr val="bg2"/>
                </a:solidFill>
                <a:latin typeface="Segoe UI Semibold"/>
              </a:rPr>
              <a:t>SCOUT: AI Reasoning Layer</a:t>
            </a:r>
            <a:endParaRPr sz="700" b="1" i="0" dirty="0">
              <a:solidFill>
                <a:schemeClr val="bg2"/>
              </a:solidFill>
              <a:latin typeface="Segoe UI Semibold"/>
            </a:endParaRPr>
          </a:p>
        </p:txBody>
      </p:sp>
      <p:cxnSp>
        <p:nvCxnSpPr>
          <p:cNvPr id="158" name="Connector 42">
            <a:extLst>
              <a:ext uri="{FF2B5EF4-FFF2-40B4-BE49-F238E27FC236}">
                <a16:creationId xmlns:a16="http://schemas.microsoft.com/office/drawing/2014/main" id="{F5A6586D-8E1C-82E1-C26F-41CCA8C5DD4A}"/>
              </a:ext>
            </a:extLst>
          </p:cNvPr>
          <p:cNvCxnSpPr>
            <a:cxnSpLocks/>
          </p:cNvCxnSpPr>
          <p:nvPr/>
        </p:nvCxnSpPr>
        <p:spPr>
          <a:xfrm>
            <a:off x="6793229" y="4784962"/>
            <a:ext cx="0" cy="521208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1" name="Logo 27">
            <a:extLst>
              <a:ext uri="{FF2B5EF4-FFF2-40B4-BE49-F238E27FC236}">
                <a16:creationId xmlns:a16="http://schemas.microsoft.com/office/drawing/2014/main" id="{7ECD22AE-6648-D623-8707-C4227A7403E5}"/>
              </a:ext>
            </a:extLst>
          </p:cNvPr>
          <p:cNvPicPr>
            <a:picLocks noChangeAspect="1"/>
          </p:cNvPicPr>
          <p:nvPr/>
        </p:nvPicPr>
        <p:blipFill dpi="330">
          <a:blip r:embed="rId7"/>
          <a:stretch>
            <a:fillRect/>
          </a:stretch>
        </p:blipFill>
        <p:spPr>
          <a:xfrm>
            <a:off x="3920716" y="4685142"/>
            <a:ext cx="366149" cy="67737"/>
          </a:xfrm>
          <a:prstGeom prst="rect">
            <a:avLst/>
          </a:prstGeom>
        </p:spPr>
      </p:pic>
      <p:pic>
        <p:nvPicPr>
          <p:cNvPr id="162" name="Logo 28">
            <a:extLst>
              <a:ext uri="{FF2B5EF4-FFF2-40B4-BE49-F238E27FC236}">
                <a16:creationId xmlns:a16="http://schemas.microsoft.com/office/drawing/2014/main" id="{F52C9EBC-0A3D-CD40-7C36-C43CB2EC57D8}"/>
              </a:ext>
            </a:extLst>
          </p:cNvPr>
          <p:cNvPicPr>
            <a:picLocks noChangeAspect="1"/>
          </p:cNvPicPr>
          <p:nvPr/>
        </p:nvPicPr>
        <p:blipFill dpi="330">
          <a:blip r:embed="rId8"/>
          <a:stretch>
            <a:fillRect/>
          </a:stretch>
        </p:blipFill>
        <p:spPr>
          <a:xfrm>
            <a:off x="3944912" y="4909818"/>
            <a:ext cx="317757" cy="82616"/>
          </a:xfrm>
          <a:prstGeom prst="rect">
            <a:avLst/>
          </a:prstGeom>
        </p:spPr>
      </p:pic>
      <p:pic>
        <p:nvPicPr>
          <p:cNvPr id="163" name="Logo 29">
            <a:extLst>
              <a:ext uri="{FF2B5EF4-FFF2-40B4-BE49-F238E27FC236}">
                <a16:creationId xmlns:a16="http://schemas.microsoft.com/office/drawing/2014/main" id="{3E974B93-841A-21C6-F651-889EC003B894}"/>
              </a:ext>
            </a:extLst>
          </p:cNvPr>
          <p:cNvPicPr>
            <a:picLocks noChangeAspect="1"/>
          </p:cNvPicPr>
          <p:nvPr/>
        </p:nvPicPr>
        <p:blipFill dpi="330">
          <a:blip r:embed="rId9"/>
          <a:stretch>
            <a:fillRect/>
          </a:stretch>
        </p:blipFill>
        <p:spPr>
          <a:xfrm>
            <a:off x="4036694" y="5116314"/>
            <a:ext cx="134192" cy="133856"/>
          </a:xfrm>
          <a:prstGeom prst="rect">
            <a:avLst/>
          </a:prstGeom>
        </p:spPr>
      </p:pic>
      <p:pic>
        <p:nvPicPr>
          <p:cNvPr id="164" name="Logo 30">
            <a:extLst>
              <a:ext uri="{FF2B5EF4-FFF2-40B4-BE49-F238E27FC236}">
                <a16:creationId xmlns:a16="http://schemas.microsoft.com/office/drawing/2014/main" id="{0269B760-9184-BFCC-761C-4890F37A436F}"/>
              </a:ext>
            </a:extLst>
          </p:cNvPr>
          <p:cNvPicPr>
            <a:picLocks noChangeAspect="1"/>
          </p:cNvPicPr>
          <p:nvPr/>
        </p:nvPicPr>
        <p:blipFill dpi="330">
          <a:blip r:embed="rId10"/>
          <a:stretch>
            <a:fillRect/>
          </a:stretch>
        </p:blipFill>
        <p:spPr>
          <a:xfrm>
            <a:off x="3930785" y="5396780"/>
            <a:ext cx="346011" cy="75257"/>
          </a:xfrm>
          <a:prstGeom prst="rect">
            <a:avLst/>
          </a:prstGeom>
        </p:spPr>
      </p:pic>
      <p:pic>
        <p:nvPicPr>
          <p:cNvPr id="165" name="Logo 31">
            <a:extLst>
              <a:ext uri="{FF2B5EF4-FFF2-40B4-BE49-F238E27FC236}">
                <a16:creationId xmlns:a16="http://schemas.microsoft.com/office/drawing/2014/main" id="{205BDDEF-61C8-D3A7-2A89-F9B0EB278AF2}"/>
              </a:ext>
            </a:extLst>
          </p:cNvPr>
          <p:cNvPicPr>
            <a:picLocks noChangeAspect="1"/>
          </p:cNvPicPr>
          <p:nvPr/>
        </p:nvPicPr>
        <p:blipFill dpi="330">
          <a:blip r:embed="rId11"/>
          <a:stretch>
            <a:fillRect/>
          </a:stretch>
        </p:blipFill>
        <p:spPr>
          <a:xfrm>
            <a:off x="3947159" y="5587889"/>
            <a:ext cx="312505" cy="83595"/>
          </a:xfrm>
          <a:prstGeom prst="rect">
            <a:avLst/>
          </a:prstGeom>
        </p:spPr>
      </p:pic>
      <p:pic>
        <p:nvPicPr>
          <p:cNvPr id="166" name="Logo 32">
            <a:extLst>
              <a:ext uri="{FF2B5EF4-FFF2-40B4-BE49-F238E27FC236}">
                <a16:creationId xmlns:a16="http://schemas.microsoft.com/office/drawing/2014/main" id="{932B6A01-9F27-774E-3510-37C9D7E02176}"/>
              </a:ext>
            </a:extLst>
          </p:cNvPr>
          <p:cNvPicPr>
            <a:picLocks noChangeAspect="1"/>
          </p:cNvPicPr>
          <p:nvPr/>
        </p:nvPicPr>
        <p:blipFill dpi="330">
          <a:blip r:embed="rId12"/>
          <a:stretch>
            <a:fillRect/>
          </a:stretch>
        </p:blipFill>
        <p:spPr>
          <a:xfrm>
            <a:off x="3914786" y="5829355"/>
            <a:ext cx="378008" cy="62371"/>
          </a:xfrm>
          <a:prstGeom prst="rect">
            <a:avLst/>
          </a:prstGeom>
        </p:spPr>
      </p:pic>
      <p:pic>
        <p:nvPicPr>
          <p:cNvPr id="167" name="Logo 33">
            <a:extLst>
              <a:ext uri="{FF2B5EF4-FFF2-40B4-BE49-F238E27FC236}">
                <a16:creationId xmlns:a16="http://schemas.microsoft.com/office/drawing/2014/main" id="{F7F7E55D-8334-E491-F99E-9A25AA39A59D}"/>
              </a:ext>
            </a:extLst>
          </p:cNvPr>
          <p:cNvPicPr>
            <a:picLocks noChangeAspect="1"/>
          </p:cNvPicPr>
          <p:nvPr/>
        </p:nvPicPr>
        <p:blipFill dpi="330">
          <a:blip r:embed="rId13"/>
          <a:stretch>
            <a:fillRect/>
          </a:stretch>
        </p:blipFill>
        <p:spPr>
          <a:xfrm>
            <a:off x="3951108" y="6069338"/>
            <a:ext cx="305364" cy="84738"/>
          </a:xfrm>
          <a:prstGeom prst="rect">
            <a:avLst/>
          </a:prstGeom>
        </p:spPr>
      </p:pic>
      <p:cxnSp>
        <p:nvCxnSpPr>
          <p:cNvPr id="168" name="Connector 19">
            <a:extLst>
              <a:ext uri="{FF2B5EF4-FFF2-40B4-BE49-F238E27FC236}">
                <a16:creationId xmlns:a16="http://schemas.microsoft.com/office/drawing/2014/main" id="{C44FA037-71D0-E43E-2A6E-5F6F29724A1D}"/>
              </a:ext>
            </a:extLst>
          </p:cNvPr>
          <p:cNvCxnSpPr>
            <a:cxnSpLocks/>
          </p:cNvCxnSpPr>
          <p:nvPr/>
        </p:nvCxnSpPr>
        <p:spPr>
          <a:xfrm>
            <a:off x="4813585" y="5408810"/>
            <a:ext cx="3287594" cy="0"/>
          </a:xfrm>
          <a:prstGeom prst="line">
            <a:avLst/>
          </a:prstGeom>
          <a:ln w="1905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Rectangle: Rounded Corners 177">
            <a:extLst>
              <a:ext uri="{FF2B5EF4-FFF2-40B4-BE49-F238E27FC236}">
                <a16:creationId xmlns:a16="http://schemas.microsoft.com/office/drawing/2014/main" id="{771ACAD4-E983-9191-5CAC-E0A8EE9FDCAE}"/>
              </a:ext>
            </a:extLst>
          </p:cNvPr>
          <p:cNvSpPr/>
          <p:nvPr/>
        </p:nvSpPr>
        <p:spPr>
          <a:xfrm>
            <a:off x="257889" y="3655719"/>
            <a:ext cx="911018" cy="297531"/>
          </a:xfrm>
          <a:prstGeom prst="roundRect">
            <a:avLst>
              <a:gd name="adj" fmla="val 16123"/>
            </a:avLst>
          </a:prstGeom>
          <a:solidFill>
            <a:schemeClr val="bg2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900" b="1" kern="0" dirty="0">
                <a:solidFill>
                  <a:schemeClr val="bg1"/>
                </a:solidFill>
              </a:rPr>
              <a:t>Global</a:t>
            </a:r>
            <a:endParaRPr kumimoji="0" lang="en-US" sz="9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180" name="Rectangle: Rounded Corners 179">
            <a:extLst>
              <a:ext uri="{FF2B5EF4-FFF2-40B4-BE49-F238E27FC236}">
                <a16:creationId xmlns:a16="http://schemas.microsoft.com/office/drawing/2014/main" id="{4E9A45A0-3A79-4832-13FE-30B55F1570D3}"/>
              </a:ext>
            </a:extLst>
          </p:cNvPr>
          <p:cNvSpPr/>
          <p:nvPr/>
        </p:nvSpPr>
        <p:spPr>
          <a:xfrm>
            <a:off x="257889" y="3296966"/>
            <a:ext cx="911018" cy="297531"/>
          </a:xfrm>
          <a:prstGeom prst="roundRect">
            <a:avLst>
              <a:gd name="adj" fmla="val 16123"/>
            </a:avLst>
          </a:prstGeom>
          <a:solidFill>
            <a:schemeClr val="bg2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900" b="1" kern="0" dirty="0">
                <a:solidFill>
                  <a:schemeClr val="bg1"/>
                </a:solidFill>
              </a:rPr>
              <a:t>Offices</a:t>
            </a:r>
            <a:endParaRPr kumimoji="0" lang="en-US" sz="9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943567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ounded Rectangle 1">
            <a:extLst>
              <a:ext uri="{FF2B5EF4-FFF2-40B4-BE49-F238E27FC236}">
                <a16:creationId xmlns:a16="http://schemas.microsoft.com/office/drawing/2014/main" id="{3330D43E-78D8-FCC6-BF07-F6132508F5AE}"/>
              </a:ext>
            </a:extLst>
          </p:cNvPr>
          <p:cNvSpPr/>
          <p:nvPr/>
        </p:nvSpPr>
        <p:spPr>
          <a:xfrm>
            <a:off x="1416660" y="5570867"/>
            <a:ext cx="2652419" cy="356997"/>
          </a:xfrm>
          <a:prstGeom prst="roundRect">
            <a:avLst>
              <a:gd name="adj" fmla="val 2200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0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2" name="Rounded Rectangle 1">
            <a:extLst>
              <a:ext uri="{FF2B5EF4-FFF2-40B4-BE49-F238E27FC236}">
                <a16:creationId xmlns:a16="http://schemas.microsoft.com/office/drawing/2014/main" id="{97940607-6601-3482-5D77-7E89014ECED1}"/>
              </a:ext>
            </a:extLst>
          </p:cNvPr>
          <p:cNvSpPr/>
          <p:nvPr/>
        </p:nvSpPr>
        <p:spPr>
          <a:xfrm>
            <a:off x="1416660" y="6003189"/>
            <a:ext cx="2652419" cy="356997"/>
          </a:xfrm>
          <a:prstGeom prst="roundRect">
            <a:avLst>
              <a:gd name="adj" fmla="val 2200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0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8" name="Rounded Rectangle 1">
            <a:extLst>
              <a:ext uri="{FF2B5EF4-FFF2-40B4-BE49-F238E27FC236}">
                <a16:creationId xmlns:a16="http://schemas.microsoft.com/office/drawing/2014/main" id="{B0D7CF31-E980-1956-9535-0C6FD639DA9F}"/>
              </a:ext>
            </a:extLst>
          </p:cNvPr>
          <p:cNvSpPr/>
          <p:nvPr/>
        </p:nvSpPr>
        <p:spPr>
          <a:xfrm>
            <a:off x="1416660" y="5138545"/>
            <a:ext cx="2652419" cy="356997"/>
          </a:xfrm>
          <a:prstGeom prst="roundRect">
            <a:avLst>
              <a:gd name="adj" fmla="val 2200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0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1800" b="1">
                <a:solidFill>
                  <a:srgbClr val="002855"/>
                </a:solidFill>
                <a:latin typeface="Segoe UI Semibold"/>
              </a:rPr>
              <a:t>GoldenSource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786384"/>
            <a:ext cx="4983480" cy="155448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00000"/>
                </a:solidFill>
                <a:latin typeface="Segoe UI Semibold"/>
              </a:rPr>
              <a:t>COMPETITIVE LANDSCAPE</a:t>
            </a:r>
          </a:p>
        </p:txBody>
      </p:sp>
      <p:sp>
        <p:nvSpPr>
          <p:cNvPr id="8" name="Rectangle 7"/>
          <p:cNvSpPr/>
          <p:nvPr/>
        </p:nvSpPr>
        <p:spPr>
          <a:xfrm>
            <a:off x="2820924" y="1078992"/>
            <a:ext cx="2391156" cy="1700784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03220" y="1161288"/>
            <a:ext cx="2226564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 i="0" dirty="0">
                <a:solidFill>
                  <a:srgbClr val="002855"/>
                </a:solidFill>
                <a:latin typeface="Segoe UI Semibold"/>
              </a:rPr>
              <a:t>Modular Enterprise Platforms</a:t>
            </a:r>
            <a:endParaRPr sz="700" b="1" i="0" dirty="0">
              <a:solidFill>
                <a:srgbClr val="002855"/>
              </a:solidFill>
              <a:latin typeface="Segoe UI Semi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03220" y="2862072"/>
            <a:ext cx="2226564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 i="0" dirty="0">
                <a:solidFill>
                  <a:srgbClr val="002855"/>
                </a:solidFill>
                <a:latin typeface="Segoe UI Semibold"/>
              </a:rPr>
              <a:t>Full-Platform Commitments</a:t>
            </a:r>
            <a:endParaRPr sz="700" b="1" i="0" dirty="0">
              <a:solidFill>
                <a:srgbClr val="002855"/>
              </a:solidFill>
              <a:latin typeface="Segoe UI Semibol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2063" y="1161288"/>
            <a:ext cx="2226564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 i="0" dirty="0">
                <a:solidFill>
                  <a:srgbClr val="002855"/>
                </a:solidFill>
                <a:latin typeface="Segoe UI Semibold"/>
              </a:rPr>
              <a:t>Point Tools and Infrastructure</a:t>
            </a:r>
            <a:endParaRPr sz="700" b="1" i="0" dirty="0">
              <a:solidFill>
                <a:srgbClr val="002855"/>
              </a:solidFill>
              <a:latin typeface="Segoe UI Semibol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2063" y="2862072"/>
            <a:ext cx="2226564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 i="0" dirty="0">
                <a:solidFill>
                  <a:srgbClr val="002855"/>
                </a:solidFill>
                <a:latin typeface="Segoe UI Semibold"/>
              </a:rPr>
              <a:t>Captive Single-Source Feeds</a:t>
            </a:r>
            <a:endParaRPr sz="700" b="1" i="0" dirty="0">
              <a:solidFill>
                <a:srgbClr val="002855"/>
              </a:solidFill>
              <a:latin typeface="Segoe UI Semibold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29768" y="2779776"/>
            <a:ext cx="4782312" cy="7315"/>
          </a:xfrm>
          <a:prstGeom prst="rect">
            <a:avLst/>
          </a:prstGeom>
          <a:solidFill>
            <a:srgbClr val="BCB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820924" y="1078992"/>
            <a:ext cx="7315" cy="3401568"/>
          </a:xfrm>
          <a:prstGeom prst="rect">
            <a:avLst/>
          </a:prstGeom>
          <a:solidFill>
            <a:srgbClr val="BCB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9768" y="1078992"/>
            <a:ext cx="4782312" cy="3401568"/>
          </a:xfrm>
          <a:prstGeom prst="rect">
            <a:avLst/>
          </a:prstGeom>
          <a:noFill/>
          <a:ln w="9525">
            <a:solidFill>
              <a:srgbClr val="BCB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9768" y="4535424"/>
            <a:ext cx="4782312" cy="102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 i="0" dirty="0">
                <a:solidFill>
                  <a:srgbClr val="7E8597"/>
                </a:solidFill>
                <a:latin typeface="Segoe UI Semibold"/>
              </a:rPr>
              <a:t>Engagement Flexibility</a:t>
            </a:r>
            <a:endParaRPr sz="700" b="1" i="0" dirty="0">
              <a:solidFill>
                <a:srgbClr val="7E8597"/>
              </a:solidFill>
              <a:latin typeface="Segoe UI Semibold"/>
            </a:endParaRPr>
          </a:p>
        </p:txBody>
      </p:sp>
      <p:sp>
        <p:nvSpPr>
          <p:cNvPr id="21" name="TextBox 20"/>
          <p:cNvSpPr txBox="1"/>
          <p:nvPr/>
        </p:nvSpPr>
        <p:spPr>
          <a:xfrm rot="16200000">
            <a:off x="-521207" y="2724912"/>
            <a:ext cx="1700783" cy="1027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 i="0" dirty="0">
                <a:solidFill>
                  <a:srgbClr val="7E8597"/>
                </a:solidFill>
                <a:latin typeface="Segoe UI Semibold"/>
              </a:rPr>
              <a:t>Data Coverage	</a:t>
            </a:r>
            <a:endParaRPr sz="700" b="1" i="0" dirty="0">
              <a:solidFill>
                <a:srgbClr val="7E8597"/>
              </a:solidFill>
              <a:latin typeface="Segoe UI Semibold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303520" y="786384"/>
            <a:ext cx="3611880" cy="155448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00000"/>
                </a:solidFill>
                <a:latin typeface="Segoe UI Semibold"/>
              </a:rPr>
              <a:t>DEMAND DRIVERS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8600" y="4809744"/>
            <a:ext cx="8686800" cy="155448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000000"/>
                </a:solidFill>
                <a:latin typeface="Segoe UI Semibold"/>
              </a:rPr>
              <a:t>INDICATIVE BUYER UNIVERSE</a:t>
            </a:r>
          </a:p>
        </p:txBody>
      </p:sp>
      <p:pic>
        <p:nvPicPr>
          <p:cNvPr id="59" name="Logo 1">
            <a:extLst>
              <a:ext uri="{FF2B5EF4-FFF2-40B4-BE49-F238E27FC236}">
                <a16:creationId xmlns:a16="http://schemas.microsoft.com/office/drawing/2014/main" id="{91F25B8A-B159-E6FA-49FC-F9BD6C011585}"/>
              </a:ext>
            </a:extLst>
          </p:cNvPr>
          <p:cNvPicPr>
            <a:picLocks noChangeAspect="1"/>
          </p:cNvPicPr>
          <p:nvPr/>
        </p:nvPicPr>
        <p:blipFill dpi="330">
          <a:blip r:embed="rId2"/>
          <a:stretch>
            <a:fillRect/>
          </a:stretch>
        </p:blipFill>
        <p:spPr>
          <a:xfrm>
            <a:off x="3087623" y="1795332"/>
            <a:ext cx="517822" cy="186416"/>
          </a:xfrm>
          <a:prstGeom prst="rect">
            <a:avLst/>
          </a:prstGeom>
        </p:spPr>
      </p:pic>
      <p:pic>
        <p:nvPicPr>
          <p:cNvPr id="60" name="Logo 2">
            <a:extLst>
              <a:ext uri="{FF2B5EF4-FFF2-40B4-BE49-F238E27FC236}">
                <a16:creationId xmlns:a16="http://schemas.microsoft.com/office/drawing/2014/main" id="{C50E98E9-8A5A-63F3-A716-C340C1FE0EB9}"/>
              </a:ext>
            </a:extLst>
          </p:cNvPr>
          <p:cNvPicPr>
            <a:picLocks noChangeAspect="1"/>
          </p:cNvPicPr>
          <p:nvPr/>
        </p:nvPicPr>
        <p:blipFill dpi="330">
          <a:blip r:embed="rId3"/>
          <a:stretch>
            <a:fillRect/>
          </a:stretch>
        </p:blipFill>
        <p:spPr>
          <a:xfrm>
            <a:off x="4123527" y="1840138"/>
            <a:ext cx="823454" cy="96756"/>
          </a:xfrm>
          <a:prstGeom prst="rect">
            <a:avLst/>
          </a:prstGeom>
        </p:spPr>
      </p:pic>
      <p:pic>
        <p:nvPicPr>
          <p:cNvPr id="61" name="Logo 3">
            <a:extLst>
              <a:ext uri="{FF2B5EF4-FFF2-40B4-BE49-F238E27FC236}">
                <a16:creationId xmlns:a16="http://schemas.microsoft.com/office/drawing/2014/main" id="{0C1F3AE7-9E80-2101-0FE9-81823B9B6119}"/>
              </a:ext>
            </a:extLst>
          </p:cNvPr>
          <p:cNvPicPr>
            <a:picLocks noChangeAspect="1"/>
          </p:cNvPicPr>
          <p:nvPr/>
        </p:nvPicPr>
        <p:blipFill dpi="330">
          <a:blip r:embed="rId4"/>
          <a:stretch>
            <a:fillRect/>
          </a:stretch>
        </p:blipFill>
        <p:spPr>
          <a:xfrm>
            <a:off x="3550757" y="2123968"/>
            <a:ext cx="686126" cy="140656"/>
          </a:xfrm>
          <a:prstGeom prst="rect">
            <a:avLst/>
          </a:prstGeom>
        </p:spPr>
      </p:pic>
      <p:pic>
        <p:nvPicPr>
          <p:cNvPr id="62" name="Logo 5">
            <a:extLst>
              <a:ext uri="{FF2B5EF4-FFF2-40B4-BE49-F238E27FC236}">
                <a16:creationId xmlns:a16="http://schemas.microsoft.com/office/drawing/2014/main" id="{96FEB0F5-0CB7-1175-6057-F21433DADB81}"/>
              </a:ext>
            </a:extLst>
          </p:cNvPr>
          <p:cNvPicPr>
            <a:picLocks noChangeAspect="1"/>
          </p:cNvPicPr>
          <p:nvPr/>
        </p:nvPicPr>
        <p:blipFill dpi="330">
          <a:blip r:embed="rId5"/>
          <a:stretch>
            <a:fillRect/>
          </a:stretch>
        </p:blipFill>
        <p:spPr>
          <a:xfrm>
            <a:off x="2994811" y="3516325"/>
            <a:ext cx="523454" cy="112543"/>
          </a:xfrm>
          <a:prstGeom prst="rect">
            <a:avLst/>
          </a:prstGeom>
        </p:spPr>
      </p:pic>
      <p:pic>
        <p:nvPicPr>
          <p:cNvPr id="63" name="Logo 6">
            <a:extLst>
              <a:ext uri="{FF2B5EF4-FFF2-40B4-BE49-F238E27FC236}">
                <a16:creationId xmlns:a16="http://schemas.microsoft.com/office/drawing/2014/main" id="{748AD199-ED70-3A91-372B-62F6C90C9C16}"/>
              </a:ext>
            </a:extLst>
          </p:cNvPr>
          <p:cNvPicPr>
            <a:picLocks noChangeAspect="1"/>
          </p:cNvPicPr>
          <p:nvPr/>
        </p:nvPicPr>
        <p:blipFill dpi="330">
          <a:blip r:embed="rId6"/>
          <a:stretch>
            <a:fillRect/>
          </a:stretch>
        </p:blipFill>
        <p:spPr>
          <a:xfrm>
            <a:off x="3794955" y="3512301"/>
            <a:ext cx="508126" cy="120680"/>
          </a:xfrm>
          <a:prstGeom prst="rect">
            <a:avLst/>
          </a:prstGeom>
        </p:spPr>
      </p:pic>
      <p:pic>
        <p:nvPicPr>
          <p:cNvPr id="64" name="Logo 7">
            <a:extLst>
              <a:ext uri="{FF2B5EF4-FFF2-40B4-BE49-F238E27FC236}">
                <a16:creationId xmlns:a16="http://schemas.microsoft.com/office/drawing/2014/main" id="{54017D67-AFF9-8CE5-C026-E4C622780E91}"/>
              </a:ext>
            </a:extLst>
          </p:cNvPr>
          <p:cNvPicPr>
            <a:picLocks noChangeAspect="1"/>
          </p:cNvPicPr>
          <p:nvPr/>
        </p:nvPicPr>
        <p:blipFill dpi="330">
          <a:blip r:embed="rId7"/>
          <a:stretch>
            <a:fillRect/>
          </a:stretch>
        </p:blipFill>
        <p:spPr>
          <a:xfrm>
            <a:off x="4608162" y="3503797"/>
            <a:ext cx="466673" cy="137669"/>
          </a:xfrm>
          <a:prstGeom prst="rect">
            <a:avLst/>
          </a:prstGeom>
        </p:spPr>
      </p:pic>
      <p:pic>
        <p:nvPicPr>
          <p:cNvPr id="65" name="Logo 8">
            <a:extLst>
              <a:ext uri="{FF2B5EF4-FFF2-40B4-BE49-F238E27FC236}">
                <a16:creationId xmlns:a16="http://schemas.microsoft.com/office/drawing/2014/main" id="{66D6AEE8-1215-36EE-7BCA-75623DC4EEC9}"/>
              </a:ext>
            </a:extLst>
          </p:cNvPr>
          <p:cNvPicPr>
            <a:picLocks noChangeAspect="1"/>
          </p:cNvPicPr>
          <p:nvPr/>
        </p:nvPicPr>
        <p:blipFill dpi="330">
          <a:blip r:embed="rId8"/>
          <a:stretch>
            <a:fillRect/>
          </a:stretch>
        </p:blipFill>
        <p:spPr>
          <a:xfrm>
            <a:off x="2995652" y="3835450"/>
            <a:ext cx="521773" cy="113486"/>
          </a:xfrm>
          <a:prstGeom prst="rect">
            <a:avLst/>
          </a:prstGeom>
        </p:spPr>
      </p:pic>
      <p:pic>
        <p:nvPicPr>
          <p:cNvPr id="66" name="Logo 9">
            <a:extLst>
              <a:ext uri="{FF2B5EF4-FFF2-40B4-BE49-F238E27FC236}">
                <a16:creationId xmlns:a16="http://schemas.microsoft.com/office/drawing/2014/main" id="{030B13B1-8A6F-C079-68CC-8D0523186695}"/>
              </a:ext>
            </a:extLst>
          </p:cNvPr>
          <p:cNvPicPr>
            <a:picLocks noChangeAspect="1"/>
          </p:cNvPicPr>
          <p:nvPr/>
        </p:nvPicPr>
        <p:blipFill dpi="330">
          <a:blip r:embed="rId9"/>
          <a:stretch>
            <a:fillRect/>
          </a:stretch>
        </p:blipFill>
        <p:spPr>
          <a:xfrm>
            <a:off x="3773396" y="3844686"/>
            <a:ext cx="551244" cy="95090"/>
          </a:xfrm>
          <a:prstGeom prst="rect">
            <a:avLst/>
          </a:prstGeom>
        </p:spPr>
      </p:pic>
      <p:pic>
        <p:nvPicPr>
          <p:cNvPr id="67" name="Logo 10">
            <a:extLst>
              <a:ext uri="{FF2B5EF4-FFF2-40B4-BE49-F238E27FC236}">
                <a16:creationId xmlns:a16="http://schemas.microsoft.com/office/drawing/2014/main" id="{DBF57480-D308-07E8-846C-5BADD255C591}"/>
              </a:ext>
            </a:extLst>
          </p:cNvPr>
          <p:cNvPicPr>
            <a:picLocks noChangeAspect="1"/>
          </p:cNvPicPr>
          <p:nvPr/>
        </p:nvPicPr>
        <p:blipFill dpi="330">
          <a:blip r:embed="rId10"/>
          <a:stretch>
            <a:fillRect/>
          </a:stretch>
        </p:blipFill>
        <p:spPr>
          <a:xfrm>
            <a:off x="4598932" y="3826763"/>
            <a:ext cx="485132" cy="130986"/>
          </a:xfrm>
          <a:prstGeom prst="rect">
            <a:avLst/>
          </a:prstGeom>
        </p:spPr>
      </p:pic>
      <p:pic>
        <p:nvPicPr>
          <p:cNvPr id="68" name="Logo 11">
            <a:extLst>
              <a:ext uri="{FF2B5EF4-FFF2-40B4-BE49-F238E27FC236}">
                <a16:creationId xmlns:a16="http://schemas.microsoft.com/office/drawing/2014/main" id="{1546B20D-124A-554A-64FF-CCD502F3A5BE}"/>
              </a:ext>
            </a:extLst>
          </p:cNvPr>
          <p:cNvPicPr>
            <a:picLocks noChangeAspect="1"/>
          </p:cNvPicPr>
          <p:nvPr/>
        </p:nvPicPr>
        <p:blipFill dpi="330">
          <a:blip r:embed="rId11"/>
          <a:stretch>
            <a:fillRect/>
          </a:stretch>
        </p:blipFill>
        <p:spPr>
          <a:xfrm>
            <a:off x="582609" y="1850196"/>
            <a:ext cx="560724" cy="88314"/>
          </a:xfrm>
          <a:prstGeom prst="rect">
            <a:avLst/>
          </a:prstGeom>
        </p:spPr>
      </p:pic>
      <p:pic>
        <p:nvPicPr>
          <p:cNvPr id="69" name="Logo 12">
            <a:extLst>
              <a:ext uri="{FF2B5EF4-FFF2-40B4-BE49-F238E27FC236}">
                <a16:creationId xmlns:a16="http://schemas.microsoft.com/office/drawing/2014/main" id="{9E4A5133-FB96-E2AF-9504-3CA170366238}"/>
              </a:ext>
            </a:extLst>
          </p:cNvPr>
          <p:cNvPicPr>
            <a:picLocks noChangeAspect="1"/>
          </p:cNvPicPr>
          <p:nvPr/>
        </p:nvPicPr>
        <p:blipFill dpi="330">
          <a:blip r:embed="rId12"/>
          <a:stretch>
            <a:fillRect/>
          </a:stretch>
        </p:blipFill>
        <p:spPr>
          <a:xfrm>
            <a:off x="1543039" y="1781982"/>
            <a:ext cx="224824" cy="224824"/>
          </a:xfrm>
          <a:prstGeom prst="rect">
            <a:avLst/>
          </a:prstGeom>
        </p:spPr>
      </p:pic>
      <p:pic>
        <p:nvPicPr>
          <p:cNvPr id="70" name="Logo 13">
            <a:extLst>
              <a:ext uri="{FF2B5EF4-FFF2-40B4-BE49-F238E27FC236}">
                <a16:creationId xmlns:a16="http://schemas.microsoft.com/office/drawing/2014/main" id="{13D59121-0930-1E52-E856-4124DDF23921}"/>
              </a:ext>
            </a:extLst>
          </p:cNvPr>
          <p:cNvPicPr>
            <a:picLocks noChangeAspect="1"/>
          </p:cNvPicPr>
          <p:nvPr/>
        </p:nvPicPr>
        <p:blipFill dpi="330">
          <a:blip r:embed="rId13"/>
          <a:stretch>
            <a:fillRect/>
          </a:stretch>
        </p:blipFill>
        <p:spPr>
          <a:xfrm>
            <a:off x="2219349" y="1824136"/>
            <a:ext cx="457165" cy="140578"/>
          </a:xfrm>
          <a:prstGeom prst="rect">
            <a:avLst/>
          </a:prstGeom>
        </p:spPr>
      </p:pic>
      <p:pic>
        <p:nvPicPr>
          <p:cNvPr id="71" name="Logo 14">
            <a:extLst>
              <a:ext uri="{FF2B5EF4-FFF2-40B4-BE49-F238E27FC236}">
                <a16:creationId xmlns:a16="http://schemas.microsoft.com/office/drawing/2014/main" id="{F1423FD3-AB26-9BA4-55D9-5049CAD47645}"/>
              </a:ext>
            </a:extLst>
          </p:cNvPr>
          <p:cNvPicPr>
            <a:picLocks noChangeAspect="1"/>
          </p:cNvPicPr>
          <p:nvPr/>
        </p:nvPicPr>
        <p:blipFill dpi="330">
          <a:blip r:embed="rId14"/>
          <a:stretch>
            <a:fillRect/>
          </a:stretch>
        </p:blipFill>
        <p:spPr>
          <a:xfrm>
            <a:off x="608908" y="2153594"/>
            <a:ext cx="508126" cy="120680"/>
          </a:xfrm>
          <a:prstGeom prst="rect">
            <a:avLst/>
          </a:prstGeom>
        </p:spPr>
      </p:pic>
      <p:pic>
        <p:nvPicPr>
          <p:cNvPr id="72" name="Logo 15">
            <a:extLst>
              <a:ext uri="{FF2B5EF4-FFF2-40B4-BE49-F238E27FC236}">
                <a16:creationId xmlns:a16="http://schemas.microsoft.com/office/drawing/2014/main" id="{9B5E3FA2-ACE9-55CA-EB87-E38C809EB3C9}"/>
              </a:ext>
            </a:extLst>
          </p:cNvPr>
          <p:cNvPicPr>
            <a:picLocks noChangeAspect="1"/>
          </p:cNvPicPr>
          <p:nvPr/>
        </p:nvPicPr>
        <p:blipFill dpi="330">
          <a:blip r:embed="rId15"/>
          <a:stretch>
            <a:fillRect/>
          </a:stretch>
        </p:blipFill>
        <p:spPr>
          <a:xfrm>
            <a:off x="1402254" y="2153229"/>
            <a:ext cx="506394" cy="121535"/>
          </a:xfrm>
          <a:prstGeom prst="rect">
            <a:avLst/>
          </a:prstGeom>
        </p:spPr>
      </p:pic>
      <p:pic>
        <p:nvPicPr>
          <p:cNvPr id="73" name="Logo 16">
            <a:extLst>
              <a:ext uri="{FF2B5EF4-FFF2-40B4-BE49-F238E27FC236}">
                <a16:creationId xmlns:a16="http://schemas.microsoft.com/office/drawing/2014/main" id="{F008A0CD-F29D-F2D8-E261-7E4C63F02225}"/>
              </a:ext>
            </a:extLst>
          </p:cNvPr>
          <p:cNvPicPr>
            <a:picLocks noChangeAspect="1"/>
          </p:cNvPicPr>
          <p:nvPr/>
        </p:nvPicPr>
        <p:blipFill dpi="330">
          <a:blip r:embed="rId16"/>
          <a:stretch>
            <a:fillRect/>
          </a:stretch>
        </p:blipFill>
        <p:spPr>
          <a:xfrm>
            <a:off x="2201771" y="2149937"/>
            <a:ext cx="492321" cy="128003"/>
          </a:xfrm>
          <a:prstGeom prst="rect">
            <a:avLst/>
          </a:prstGeom>
        </p:spPr>
      </p:pic>
      <p:pic>
        <p:nvPicPr>
          <p:cNvPr id="74" name="Logo 1">
            <a:extLst>
              <a:ext uri="{FF2B5EF4-FFF2-40B4-BE49-F238E27FC236}">
                <a16:creationId xmlns:a16="http://schemas.microsoft.com/office/drawing/2014/main" id="{4D7C88CC-08FD-C969-ADBE-7E71A9112900}"/>
              </a:ext>
            </a:extLst>
          </p:cNvPr>
          <p:cNvPicPr>
            <a:picLocks noChangeAspect="1"/>
          </p:cNvPicPr>
          <p:nvPr/>
        </p:nvPicPr>
        <p:blipFill dpi="330">
          <a:blip r:embed="rId17"/>
          <a:stretch>
            <a:fillRect/>
          </a:stretch>
        </p:blipFill>
        <p:spPr>
          <a:xfrm>
            <a:off x="621269" y="3479109"/>
            <a:ext cx="719503" cy="133108"/>
          </a:xfrm>
          <a:prstGeom prst="rect">
            <a:avLst/>
          </a:prstGeom>
        </p:spPr>
      </p:pic>
      <p:pic>
        <p:nvPicPr>
          <p:cNvPr id="75" name="Logo 2">
            <a:extLst>
              <a:ext uri="{FF2B5EF4-FFF2-40B4-BE49-F238E27FC236}">
                <a16:creationId xmlns:a16="http://schemas.microsoft.com/office/drawing/2014/main" id="{33BC0FE8-54E5-3B0F-4F1B-50B4F8654A20}"/>
              </a:ext>
            </a:extLst>
          </p:cNvPr>
          <p:cNvPicPr>
            <a:picLocks noChangeAspect="1"/>
          </p:cNvPicPr>
          <p:nvPr/>
        </p:nvPicPr>
        <p:blipFill dpi="330">
          <a:blip r:embed="rId18"/>
          <a:stretch>
            <a:fillRect/>
          </a:stretch>
        </p:blipFill>
        <p:spPr>
          <a:xfrm>
            <a:off x="1818326" y="3477188"/>
            <a:ext cx="702828" cy="137051"/>
          </a:xfrm>
          <a:prstGeom prst="rect">
            <a:avLst/>
          </a:prstGeom>
        </p:spPr>
      </p:pic>
      <p:pic>
        <p:nvPicPr>
          <p:cNvPr id="76" name="Logo 3">
            <a:extLst>
              <a:ext uri="{FF2B5EF4-FFF2-40B4-BE49-F238E27FC236}">
                <a16:creationId xmlns:a16="http://schemas.microsoft.com/office/drawing/2014/main" id="{487DA073-267E-FA60-6823-39FC0F46A6C2}"/>
              </a:ext>
            </a:extLst>
          </p:cNvPr>
          <p:cNvPicPr>
            <a:picLocks noChangeAspect="1"/>
          </p:cNvPicPr>
          <p:nvPr/>
        </p:nvPicPr>
        <p:blipFill dpi="330">
          <a:blip r:embed="rId19"/>
          <a:stretch>
            <a:fillRect/>
          </a:stretch>
        </p:blipFill>
        <p:spPr>
          <a:xfrm>
            <a:off x="861652" y="3746205"/>
            <a:ext cx="238736" cy="238139"/>
          </a:xfrm>
          <a:prstGeom prst="rect">
            <a:avLst/>
          </a:prstGeom>
        </p:spPr>
      </p:pic>
      <p:pic>
        <p:nvPicPr>
          <p:cNvPr id="77" name="Logo 4">
            <a:extLst>
              <a:ext uri="{FF2B5EF4-FFF2-40B4-BE49-F238E27FC236}">
                <a16:creationId xmlns:a16="http://schemas.microsoft.com/office/drawing/2014/main" id="{A752C961-4201-BBD9-C54F-DBFDB890D263}"/>
              </a:ext>
            </a:extLst>
          </p:cNvPr>
          <p:cNvPicPr>
            <a:picLocks noChangeAspect="1"/>
          </p:cNvPicPr>
          <p:nvPr/>
        </p:nvPicPr>
        <p:blipFill dpi="330">
          <a:blip r:embed="rId20"/>
          <a:stretch>
            <a:fillRect/>
          </a:stretch>
        </p:blipFill>
        <p:spPr>
          <a:xfrm>
            <a:off x="1878277" y="3789456"/>
            <a:ext cx="582926" cy="151561"/>
          </a:xfrm>
          <a:prstGeom prst="rect">
            <a:avLst/>
          </a:prstGeom>
        </p:spPr>
      </p:pic>
      <p:sp>
        <p:nvSpPr>
          <p:cNvPr id="78" name="Rectangle 77">
            <a:extLst>
              <a:ext uri="{FF2B5EF4-FFF2-40B4-BE49-F238E27FC236}">
                <a16:creationId xmlns:a16="http://schemas.microsoft.com/office/drawing/2014/main" id="{7777729A-4316-B54E-D56A-1DE845C227A9}"/>
              </a:ext>
            </a:extLst>
          </p:cNvPr>
          <p:cNvSpPr/>
          <p:nvPr/>
        </p:nvSpPr>
        <p:spPr>
          <a:xfrm>
            <a:off x="2812590" y="1078992"/>
            <a:ext cx="2399489" cy="1700784"/>
          </a:xfrm>
          <a:prstGeom prst="rect">
            <a:avLst/>
          </a:prstGeom>
          <a:noFill/>
          <a:ln w="12700">
            <a:solidFill>
              <a:srgbClr val="E6C2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BCBFC6">
                  <a:lumMod val="75000"/>
                </a:srgbClr>
              </a:solidFill>
              <a:effectLst/>
              <a:uLnTx/>
              <a:uFillTx/>
            </a:endParaRPr>
          </a:p>
        </p:txBody>
      </p:sp>
      <p:pic>
        <p:nvPicPr>
          <p:cNvPr id="79" name="Logo 17">
            <a:extLst>
              <a:ext uri="{FF2B5EF4-FFF2-40B4-BE49-F238E27FC236}">
                <a16:creationId xmlns:a16="http://schemas.microsoft.com/office/drawing/2014/main" id="{9E3FE692-0D59-7988-D361-42600B07A8E3}"/>
              </a:ext>
            </a:extLst>
          </p:cNvPr>
          <p:cNvPicPr>
            <a:picLocks noChangeAspect="1"/>
          </p:cNvPicPr>
          <p:nvPr/>
        </p:nvPicPr>
        <p:blipFill dpi="330">
          <a:blip r:embed="rId21"/>
          <a:stretch>
            <a:fillRect/>
          </a:stretch>
        </p:blipFill>
        <p:spPr>
          <a:xfrm>
            <a:off x="1614141" y="5262746"/>
            <a:ext cx="439297" cy="85663"/>
          </a:xfrm>
          <a:prstGeom prst="rect">
            <a:avLst/>
          </a:prstGeom>
        </p:spPr>
      </p:pic>
      <p:pic>
        <p:nvPicPr>
          <p:cNvPr id="80" name="Logo 18">
            <a:extLst>
              <a:ext uri="{FF2B5EF4-FFF2-40B4-BE49-F238E27FC236}">
                <a16:creationId xmlns:a16="http://schemas.microsoft.com/office/drawing/2014/main" id="{5F1698CD-DF7A-422F-45D4-58E701570AFF}"/>
              </a:ext>
            </a:extLst>
          </p:cNvPr>
          <p:cNvPicPr>
            <a:picLocks noChangeAspect="1"/>
          </p:cNvPicPr>
          <p:nvPr/>
        </p:nvPicPr>
        <p:blipFill dpi="330">
          <a:blip r:embed="rId20"/>
          <a:stretch>
            <a:fillRect/>
          </a:stretch>
        </p:blipFill>
        <p:spPr>
          <a:xfrm>
            <a:off x="2270309" y="5252771"/>
            <a:ext cx="406205" cy="105613"/>
          </a:xfrm>
          <a:prstGeom prst="rect">
            <a:avLst/>
          </a:prstGeom>
        </p:spPr>
      </p:pic>
      <p:pic>
        <p:nvPicPr>
          <p:cNvPr id="81" name="Logo 19">
            <a:extLst>
              <a:ext uri="{FF2B5EF4-FFF2-40B4-BE49-F238E27FC236}">
                <a16:creationId xmlns:a16="http://schemas.microsoft.com/office/drawing/2014/main" id="{CE689A53-D89C-4727-08FC-484A7F87348D}"/>
              </a:ext>
            </a:extLst>
          </p:cNvPr>
          <p:cNvPicPr>
            <a:picLocks noChangeAspect="1"/>
          </p:cNvPicPr>
          <p:nvPr/>
        </p:nvPicPr>
        <p:blipFill dpi="330">
          <a:blip r:embed="rId18"/>
          <a:stretch>
            <a:fillRect/>
          </a:stretch>
        </p:blipFill>
        <p:spPr>
          <a:xfrm>
            <a:off x="2893386" y="5262746"/>
            <a:ext cx="439297" cy="85663"/>
          </a:xfrm>
          <a:prstGeom prst="rect">
            <a:avLst/>
          </a:prstGeom>
        </p:spPr>
      </p:pic>
      <p:pic>
        <p:nvPicPr>
          <p:cNvPr id="82" name="Logo 20">
            <a:extLst>
              <a:ext uri="{FF2B5EF4-FFF2-40B4-BE49-F238E27FC236}">
                <a16:creationId xmlns:a16="http://schemas.microsoft.com/office/drawing/2014/main" id="{F6615D1D-F6B5-3BB2-97FC-84ED46DFBDD2}"/>
              </a:ext>
            </a:extLst>
          </p:cNvPr>
          <p:cNvPicPr>
            <a:picLocks noChangeAspect="1"/>
          </p:cNvPicPr>
          <p:nvPr/>
        </p:nvPicPr>
        <p:blipFill dpi="330">
          <a:blip r:embed="rId17"/>
          <a:stretch>
            <a:fillRect/>
          </a:stretch>
        </p:blipFill>
        <p:spPr>
          <a:xfrm>
            <a:off x="3530572" y="5264492"/>
            <a:ext cx="444170" cy="82171"/>
          </a:xfrm>
          <a:prstGeom prst="rect">
            <a:avLst/>
          </a:prstGeom>
        </p:spPr>
      </p:pic>
      <p:pic>
        <p:nvPicPr>
          <p:cNvPr id="83" name="Logo 21">
            <a:extLst>
              <a:ext uri="{FF2B5EF4-FFF2-40B4-BE49-F238E27FC236}">
                <a16:creationId xmlns:a16="http://schemas.microsoft.com/office/drawing/2014/main" id="{27348FB1-F126-2BC9-ABCD-425A0BB00572}"/>
              </a:ext>
            </a:extLst>
          </p:cNvPr>
          <p:cNvPicPr>
            <a:picLocks noChangeAspect="1"/>
          </p:cNvPicPr>
          <p:nvPr/>
        </p:nvPicPr>
        <p:blipFill dpi="330">
          <a:blip r:embed="rId6"/>
          <a:stretch>
            <a:fillRect/>
          </a:stretch>
        </p:blipFill>
        <p:spPr>
          <a:xfrm>
            <a:off x="1616963" y="5706494"/>
            <a:ext cx="417956" cy="99265"/>
          </a:xfrm>
          <a:prstGeom prst="rect">
            <a:avLst/>
          </a:prstGeom>
        </p:spPr>
      </p:pic>
      <p:pic>
        <p:nvPicPr>
          <p:cNvPr id="84" name="Logo 22">
            <a:extLst>
              <a:ext uri="{FF2B5EF4-FFF2-40B4-BE49-F238E27FC236}">
                <a16:creationId xmlns:a16="http://schemas.microsoft.com/office/drawing/2014/main" id="{97298D59-7CE8-21F0-6721-B6BB7BCF2158}"/>
              </a:ext>
            </a:extLst>
          </p:cNvPr>
          <p:cNvPicPr>
            <a:picLocks noChangeAspect="1"/>
          </p:cNvPicPr>
          <p:nvPr/>
        </p:nvPicPr>
        <p:blipFill dpi="330">
          <a:blip r:embed="rId22"/>
          <a:stretch>
            <a:fillRect/>
          </a:stretch>
        </p:blipFill>
        <p:spPr>
          <a:xfrm>
            <a:off x="2322511" y="5678520"/>
            <a:ext cx="286105" cy="155212"/>
          </a:xfrm>
          <a:prstGeom prst="rect">
            <a:avLst/>
          </a:prstGeom>
        </p:spPr>
      </p:pic>
      <p:pic>
        <p:nvPicPr>
          <p:cNvPr id="85" name="Logo 23">
            <a:extLst>
              <a:ext uri="{FF2B5EF4-FFF2-40B4-BE49-F238E27FC236}">
                <a16:creationId xmlns:a16="http://schemas.microsoft.com/office/drawing/2014/main" id="{BFE0E811-5BFB-FFD7-E2E6-F28214921037}"/>
              </a:ext>
            </a:extLst>
          </p:cNvPr>
          <p:cNvPicPr>
            <a:picLocks noChangeAspect="1"/>
          </p:cNvPicPr>
          <p:nvPr/>
        </p:nvPicPr>
        <p:blipFill dpi="330">
          <a:blip r:embed="rId23"/>
          <a:stretch>
            <a:fillRect/>
          </a:stretch>
        </p:blipFill>
        <p:spPr>
          <a:xfrm>
            <a:off x="2890493" y="5709967"/>
            <a:ext cx="429387" cy="92318"/>
          </a:xfrm>
          <a:prstGeom prst="rect">
            <a:avLst/>
          </a:prstGeom>
        </p:spPr>
      </p:pic>
      <p:pic>
        <p:nvPicPr>
          <p:cNvPr id="86" name="Logo 24">
            <a:extLst>
              <a:ext uri="{FF2B5EF4-FFF2-40B4-BE49-F238E27FC236}">
                <a16:creationId xmlns:a16="http://schemas.microsoft.com/office/drawing/2014/main" id="{FD282015-6042-391E-1F3F-12A4E3EAB6C7}"/>
              </a:ext>
            </a:extLst>
          </p:cNvPr>
          <p:cNvPicPr>
            <a:picLocks noChangeAspect="1"/>
          </p:cNvPicPr>
          <p:nvPr/>
        </p:nvPicPr>
        <p:blipFill dpi="330">
          <a:blip r:embed="rId24"/>
          <a:stretch>
            <a:fillRect/>
          </a:stretch>
        </p:blipFill>
        <p:spPr>
          <a:xfrm>
            <a:off x="3588921" y="5691043"/>
            <a:ext cx="311777" cy="130167"/>
          </a:xfrm>
          <a:prstGeom prst="rect">
            <a:avLst/>
          </a:prstGeom>
        </p:spPr>
      </p:pic>
      <p:pic>
        <p:nvPicPr>
          <p:cNvPr id="87" name="Logo 25">
            <a:extLst>
              <a:ext uri="{FF2B5EF4-FFF2-40B4-BE49-F238E27FC236}">
                <a16:creationId xmlns:a16="http://schemas.microsoft.com/office/drawing/2014/main" id="{C3E031B1-C9E6-124B-4111-4449EF9703F9}"/>
              </a:ext>
            </a:extLst>
          </p:cNvPr>
          <p:cNvPicPr>
            <a:picLocks noChangeAspect="1"/>
          </p:cNvPicPr>
          <p:nvPr/>
        </p:nvPicPr>
        <p:blipFill dpi="330">
          <a:blip r:embed="rId25"/>
          <a:stretch>
            <a:fillRect/>
          </a:stretch>
        </p:blipFill>
        <p:spPr>
          <a:xfrm>
            <a:off x="2033241" y="6108793"/>
            <a:ext cx="355183" cy="166048"/>
          </a:xfrm>
          <a:prstGeom prst="rect">
            <a:avLst/>
          </a:prstGeom>
        </p:spPr>
      </p:pic>
      <p:pic>
        <p:nvPicPr>
          <p:cNvPr id="88" name="Logo 26">
            <a:extLst>
              <a:ext uri="{FF2B5EF4-FFF2-40B4-BE49-F238E27FC236}">
                <a16:creationId xmlns:a16="http://schemas.microsoft.com/office/drawing/2014/main" id="{957DC9FB-834F-0C5A-AC0C-5666CC694A88}"/>
              </a:ext>
            </a:extLst>
          </p:cNvPr>
          <p:cNvPicPr>
            <a:picLocks noChangeAspect="1"/>
          </p:cNvPicPr>
          <p:nvPr/>
        </p:nvPicPr>
        <p:blipFill dpi="330">
          <a:blip r:embed="rId26"/>
          <a:stretch>
            <a:fillRect/>
          </a:stretch>
        </p:blipFill>
        <p:spPr>
          <a:xfrm>
            <a:off x="2965714" y="6142308"/>
            <a:ext cx="557847" cy="99018"/>
          </a:xfrm>
          <a:prstGeom prst="rect">
            <a:avLst/>
          </a:prstGeom>
        </p:spPr>
      </p:pic>
      <p:sp>
        <p:nvSpPr>
          <p:cNvPr id="89" name="Rectangle 88">
            <a:extLst>
              <a:ext uri="{FF2B5EF4-FFF2-40B4-BE49-F238E27FC236}">
                <a16:creationId xmlns:a16="http://schemas.microsoft.com/office/drawing/2014/main" id="{331FDA95-C977-14AE-EA7E-5B4B89C1C8DB}"/>
              </a:ext>
            </a:extLst>
          </p:cNvPr>
          <p:cNvSpPr/>
          <p:nvPr/>
        </p:nvSpPr>
        <p:spPr>
          <a:xfrm>
            <a:off x="7086600" y="25400"/>
            <a:ext cx="2032000" cy="584647"/>
          </a:xfrm>
          <a:prstGeom prst="rect">
            <a:avLst/>
          </a:prstGeom>
          <a:solidFill>
            <a:srgbClr val="FFFF00"/>
          </a:solidFill>
          <a:ln w="63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indent="0" defTabSz="914400" eaLnBrk="1" fontAlgn="base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List out the transactions, make as a quadrant</a:t>
            </a:r>
          </a:p>
        </p:txBody>
      </p:sp>
      <p:sp>
        <p:nvSpPr>
          <p:cNvPr id="12" name="Rounded Rectangle 1">
            <a:extLst>
              <a:ext uri="{FF2B5EF4-FFF2-40B4-BE49-F238E27FC236}">
                <a16:creationId xmlns:a16="http://schemas.microsoft.com/office/drawing/2014/main" id="{350DB5E0-F513-694B-002F-0EEC0EE43012}"/>
              </a:ext>
            </a:extLst>
          </p:cNvPr>
          <p:cNvSpPr/>
          <p:nvPr/>
        </p:nvSpPr>
        <p:spPr>
          <a:xfrm>
            <a:off x="217115" y="5138545"/>
            <a:ext cx="1133856" cy="356997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dirty="0"/>
              <a:t>Data Strategics</a:t>
            </a:r>
            <a:endParaRPr sz="1050" dirty="0"/>
          </a:p>
        </p:txBody>
      </p:sp>
      <p:sp>
        <p:nvSpPr>
          <p:cNvPr id="16" name="Rounded Rectangle 1">
            <a:extLst>
              <a:ext uri="{FF2B5EF4-FFF2-40B4-BE49-F238E27FC236}">
                <a16:creationId xmlns:a16="http://schemas.microsoft.com/office/drawing/2014/main" id="{2652C8BB-C133-B791-8335-FA0226FAA3CF}"/>
              </a:ext>
            </a:extLst>
          </p:cNvPr>
          <p:cNvSpPr/>
          <p:nvPr/>
        </p:nvSpPr>
        <p:spPr>
          <a:xfrm>
            <a:off x="227908" y="5572015"/>
            <a:ext cx="1133856" cy="356997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dirty="0"/>
              <a:t>Platform Consolidators</a:t>
            </a:r>
            <a:endParaRPr sz="1050" dirty="0"/>
          </a:p>
        </p:txBody>
      </p:sp>
      <p:sp>
        <p:nvSpPr>
          <p:cNvPr id="26" name="Rounded Rectangle 1">
            <a:extLst>
              <a:ext uri="{FF2B5EF4-FFF2-40B4-BE49-F238E27FC236}">
                <a16:creationId xmlns:a16="http://schemas.microsoft.com/office/drawing/2014/main" id="{18747027-2837-0FDB-43CA-6ED204C044C5}"/>
              </a:ext>
            </a:extLst>
          </p:cNvPr>
          <p:cNvSpPr/>
          <p:nvPr/>
        </p:nvSpPr>
        <p:spPr>
          <a:xfrm>
            <a:off x="227908" y="6005486"/>
            <a:ext cx="1133856" cy="356997"/>
          </a:xfrm>
          <a:prstGeom prst="roundRect">
            <a:avLst>
              <a:gd name="adj" fmla="val 22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dirty="0"/>
              <a:t>Category Sponsors</a:t>
            </a:r>
            <a:endParaRPr sz="1050" dirty="0"/>
          </a:p>
        </p:txBody>
      </p:sp>
      <p:cxnSp>
        <p:nvCxnSpPr>
          <p:cNvPr id="90" name="Connector 89"/>
          <p:cNvCxnSpPr/>
          <p:nvPr/>
        </p:nvCxnSpPr>
        <p:spPr>
          <a:xfrm>
            <a:off x="228600" y="969264"/>
            <a:ext cx="4983480" cy="0"/>
          </a:xfrm>
          <a:prstGeom prst="line">
            <a:avLst/>
          </a:prstGeom>
          <a:ln w="12700">
            <a:solidFill>
              <a:srgbClr val="002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303520" y="969264"/>
            <a:ext cx="3611880" cy="0"/>
          </a:xfrm>
          <a:prstGeom prst="line">
            <a:avLst/>
          </a:prstGeom>
          <a:ln w="12700">
            <a:solidFill>
              <a:srgbClr val="002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228600" y="4992624"/>
            <a:ext cx="8686800" cy="0"/>
          </a:xfrm>
          <a:prstGeom prst="line">
            <a:avLst/>
          </a:prstGeom>
          <a:ln w="12700">
            <a:solidFill>
              <a:srgbClr val="0028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3" name="Icon Data Quality Now Gates AI" descr="dd_ai.png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303520" y="1133856"/>
            <a:ext cx="219456" cy="219456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5650992" y="1078992"/>
            <a:ext cx="3264408" cy="588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50" b="1">
                <a:solidFill>
                  <a:srgbClr val="002855"/>
                </a:solidFill>
                <a:latin typeface="Segoe UI Semibold"/>
              </a:rPr>
              <a:t>Data Quality Now Gates AI: </a:t>
            </a:r>
            <a:r>
              <a:rPr sz="850" b="0">
                <a:solidFill>
                  <a:srgbClr val="000000"/>
                </a:solidFill>
                <a:latin typeface="Segoe UI"/>
              </a:rPr>
              <a:t>As companies adopt more AI systems, input data quality is increasingly important for output trust and reliability</a:t>
            </a:r>
          </a:p>
        </p:txBody>
      </p:sp>
      <p:pic>
        <p:nvPicPr>
          <p:cNvPr id="95" name="Icon Regulatory and Cost Pressure" descr="dd_reg.png"/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5303520" y="1814169"/>
            <a:ext cx="219456" cy="219456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5650992" y="1759305"/>
            <a:ext cx="3264408" cy="588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50" b="1">
                <a:solidFill>
                  <a:srgbClr val="002855"/>
                </a:solidFill>
                <a:latin typeface="Segoe UI Semibold"/>
              </a:rPr>
              <a:t>Regulatory and Cost Pressure: </a:t>
            </a:r>
            <a:r>
              <a:rPr sz="850" b="0">
                <a:solidFill>
                  <a:srgbClr val="000000"/>
                </a:solidFill>
                <a:latin typeface="Segoe UI"/>
              </a:rPr>
              <a:t>Regulators are demanding higher visibility into where data was originated, how it was used and more</a:t>
            </a:r>
          </a:p>
        </p:txBody>
      </p:sp>
      <p:pic>
        <p:nvPicPr>
          <p:cNvPr id="97" name="Icon Data Volume" descr="dd_volume.png"/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303520" y="2494483"/>
            <a:ext cx="219456" cy="219456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5650992" y="2439619"/>
            <a:ext cx="3264408" cy="588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50" b="1">
                <a:solidFill>
                  <a:srgbClr val="002855"/>
                </a:solidFill>
                <a:latin typeface="Segoe UI Semibold"/>
              </a:rPr>
              <a:t>Data Volume: </a:t>
            </a:r>
            <a:r>
              <a:rPr sz="850" b="0">
                <a:solidFill>
                  <a:srgbClr val="000000"/>
                </a:solidFill>
                <a:latin typeface="Segoe UI"/>
              </a:rPr>
              <a:t>As the economy digitizes further there is more data and data is more complex; streamlining that data becomes more valuable</a:t>
            </a:r>
          </a:p>
        </p:txBody>
      </p:sp>
      <p:pic>
        <p:nvPicPr>
          <p:cNvPr id="99" name="Icon Banks are Modernizing" descr="dd_cloud.png"/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5303520" y="3174796"/>
            <a:ext cx="219456" cy="219456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5650992" y="3119932"/>
            <a:ext cx="3264408" cy="588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50" b="1">
                <a:solidFill>
                  <a:srgbClr val="002855"/>
                </a:solidFill>
                <a:latin typeface="Segoe UI Semibold"/>
              </a:rPr>
              <a:t>Banks are Modernizing: </a:t>
            </a:r>
            <a:r>
              <a:rPr sz="850" b="0">
                <a:solidFill>
                  <a:srgbClr val="000000"/>
                </a:solidFill>
                <a:latin typeface="Segoe UI"/>
              </a:rPr>
              <a:t>Moving from legacy on-premise software onto cloud solutions</a:t>
            </a:r>
          </a:p>
        </p:txBody>
      </p:sp>
      <p:pic>
        <p:nvPicPr>
          <p:cNvPr id="101" name="Icon Limited Visibility" descr="dd_blindspot.png"/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5303520" y="3855110"/>
            <a:ext cx="219456" cy="219456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5650992" y="3800246"/>
            <a:ext cx="3264408" cy="588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50" b="1">
                <a:solidFill>
                  <a:srgbClr val="002855"/>
                </a:solidFill>
                <a:latin typeface="Segoe UI Semibold"/>
              </a:rPr>
              <a:t>Limited Visibility: </a:t>
            </a:r>
            <a:r>
              <a:rPr sz="850" b="0">
                <a:solidFill>
                  <a:srgbClr val="000000"/>
                </a:solidFill>
                <a:latin typeface="Segoe UI"/>
              </a:rPr>
              <a:t>With little insight into data sets, companies unknowingly pay for duplicate vendors, handle data manually and read inconsistent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12258738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SERHIDDE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VER_BANNER" val="Y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HAPTER_SUBTITLE" val="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_LINE" val="Y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VER_BANNER" val="Y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VER_FORMAT" val="Letter (USA)"/>
  <p:tag name="COVER_IMAGE_TYPE" val="HL Image"/>
  <p:tag name="CATEGORY" val="Present 2015"/>
  <p:tag name="COVER_IMAGE_NAME" val="cover-2-image.jpg"/>
  <p:tag name="BANNER" val="1"/>
  <p:tag name="THEME" val="2015"/>
  <p:tag name="COVER_LOGO" val="Joint Logo"/>
  <p:tag name="COVER_BANNER_CATEGORY" val="1"/>
  <p:tag name="TOC_TYPE" val="521"/>
  <p:tag name="TOC_LENGTH" val="18"/>
  <p:tag name="FOOTNOTE" val="0"/>
  <p:tag name="PROPERTY_1" val=" "/>
  <p:tag name="PROPERTY_2" val=" "/>
  <p:tag name="PROPERTY_3" val=" "/>
  <p:tag name="PROPERTY_4" val=" "/>
  <p:tag name="PROPERTY_5" val=" "/>
  <p:tag name="VERSION" val="2015_00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_COVER" val="y"/>
</p:tagLst>
</file>

<file path=ppt/theme/theme1.xml><?xml version="1.0" encoding="utf-8"?>
<a:theme xmlns:a="http://schemas.openxmlformats.org/drawingml/2006/main" name="PowerPresent">
  <a:themeElements>
    <a:clrScheme name="HL Refresh 2023">
      <a:dk1>
        <a:srgbClr val="525766"/>
      </a:dk1>
      <a:lt1>
        <a:sysClr val="window" lastClr="FFFFFF"/>
      </a:lt1>
      <a:dk2>
        <a:srgbClr val="002855"/>
      </a:dk2>
      <a:lt2>
        <a:srgbClr val="0067A5"/>
      </a:lt2>
      <a:accent1>
        <a:srgbClr val="508BC9"/>
      </a:accent1>
      <a:accent2>
        <a:srgbClr val="BCBFC6"/>
      </a:accent2>
      <a:accent3>
        <a:srgbClr val="7E8597"/>
      </a:accent3>
      <a:accent4>
        <a:srgbClr val="24B1B1"/>
      </a:accent4>
      <a:accent5>
        <a:srgbClr val="6C1E36"/>
      </a:accent5>
      <a:accent6>
        <a:srgbClr val="9FC3DA"/>
      </a:accent6>
      <a:hlink>
        <a:srgbClr val="0067A5"/>
      </a:hlink>
      <a:folHlink>
        <a:srgbClr val="7CACC6"/>
      </a:folHlink>
    </a:clrScheme>
    <a:fontScheme name="Present 2015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20000"/>
            <a:lumOff val="80000"/>
          </a:schemeClr>
        </a:solidFill>
        <a:ln w="6350">
          <a:solidFill>
            <a:schemeClr val="accent2">
              <a:lumMod val="75000"/>
            </a:schemeClr>
          </a:solidFill>
        </a:ln>
      </a:spPr>
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14400" eaLnBrk="1" fontAlgn="base" latinLnBrk="0" hangingPunct="1">
          <a:lnSpc>
            <a:spcPct val="113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100" b="0" i="0" u="none" strike="noStrike" kern="0" cap="none" spc="0" normalizeH="0" baseline="0" noProof="0" smtClean="0">
            <a:ln>
              <a:noFill/>
            </a:ln>
            <a:solidFill>
              <a:srgbClr val="BCBFC6">
                <a:lumMod val="75000"/>
              </a:srgbClr>
            </a:solidFill>
            <a:effectLst/>
            <a:uLnTx/>
            <a:uFillTx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tx2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noAutofit/>
      </a:bodyPr>
      <a:lstStyle>
        <a:defPPr algn="l">
          <a:lnSpc>
            <a:spcPct val="114000"/>
          </a:lnSpc>
          <a:spcAft>
            <a:spcPts val="600"/>
          </a:spcAft>
          <a:buSzPct val="100000"/>
          <a:defRPr sz="1000" dirty="0" err="1" smtClean="0"/>
        </a:defPPr>
      </a:lstStyle>
    </a:txDef>
  </a:objectDefaults>
  <a:extraClrSchemeLst/>
  <a:custClrLst>
    <a:custClr name="Metalic Seaweed">
      <a:srgbClr val="1F808F"/>
    </a:custClr>
    <a:custClr name="Rust">
      <a:srgbClr val="B54E15"/>
    </a:custClr>
    <a:custClr name="English Lavender">
      <a:srgbClr val="B58D9A"/>
    </a:custClr>
    <a:custClr name="Swiss Coffee">
      <a:srgbClr val="D2C0B2"/>
    </a:custClr>
    <a:custClr name="Maize">
      <a:srgbClr val="E6C25B"/>
    </a:custClr>
    <a:custClr name="Metalic Sunburst">
      <a:srgbClr val="8C7337"/>
    </a:custClr>
    <a:custClr name="Maximum Green">
      <a:srgbClr val="508225"/>
    </a:custClr>
    <a:custClr name="Strikemaster">
      <a:srgbClr val="8E6C88"/>
    </a:custClr>
    <a:custClr name="Onyx">
      <a:srgbClr val="424142"/>
    </a:custClr>
    <a:custClr name="Oxford Blue">
      <a:srgbClr val="002855"/>
    </a:custClr>
    <a:custClr name="Custom Color 11">
      <a:srgbClr val="C7EDF3"/>
    </a:custClr>
    <a:custClr name="Custom Color 12">
      <a:srgbClr val="F8D9C7"/>
    </a:custClr>
    <a:custClr name="Custom Color 13">
      <a:srgbClr val="F0E8EA"/>
    </a:custClr>
    <a:custClr name="Custom Color 14">
      <a:srgbClr val="F6F2EF"/>
    </a:custClr>
    <a:custClr name="Custom Color 15">
      <a:srgbClr val="FAF2DE"/>
    </a:custClr>
    <a:custClr name="Custom Color 16">
      <a:srgbClr val="EDE5D1"/>
    </a:custClr>
    <a:custClr name="Custom Color 17">
      <a:srgbClr val="DBEFC9"/>
    </a:custClr>
    <a:custClr name="Custom Color 18">
      <a:srgbClr val="E8E1E7"/>
    </a:custClr>
    <a:custClr name="Custom Color 19">
      <a:srgbClr val="EAE9EA"/>
    </a:custClr>
    <a:custClr name="Custom Color 20">
      <a:srgbClr val="D4E8FF"/>
    </a:custClr>
    <a:custClr name="Custom Color 21">
      <a:srgbClr val="59C9DB"/>
    </a:custClr>
    <a:custClr name="Custom Color 22">
      <a:srgbClr val="EB8D59"/>
    </a:custClr>
    <a:custClr name="Custom Color 23">
      <a:srgbClr val="D2BAC2"/>
    </a:custClr>
    <a:custClr name="Custom Color 24">
      <a:srgbClr val="E3D9D0"/>
    </a:custClr>
    <a:custClr name="Custom Color 25">
      <a:srgbClr val="F0DA9C"/>
    </a:custClr>
    <a:custClr name="Custom Color 26">
      <a:srgbClr val="C9B177"/>
    </a:custClr>
    <a:custClr name="Custom Color 27">
      <a:srgbClr val="93D15E"/>
    </a:custClr>
    <a:custClr name="Custom Color 28">
      <a:srgbClr val="BBA6B7"/>
    </a:custClr>
    <a:custClr name="Custom Color 29">
      <a:srgbClr val="969496"/>
    </a:custClr>
    <a:custClr name="Custom Color 30">
      <a:srgbClr val="2A8EFE"/>
    </a:custClr>
    <a:custClr name="Custom Color 31">
      <a:srgbClr val="17606B"/>
    </a:custClr>
    <a:custClr name="Custom Color 32">
      <a:srgbClr val="873A0F"/>
    </a:custClr>
    <a:custClr name="Custom Color 33">
      <a:srgbClr val="925F6F"/>
    </a:custClr>
    <a:custClr name="Custom Color 34">
      <a:srgbClr val="AE8D74"/>
    </a:custClr>
    <a:custClr name="Custom Color 35">
      <a:srgbClr val="D0A31F"/>
    </a:custClr>
    <a:custClr name="Custom Color 36">
      <a:srgbClr val="614D1D"/>
    </a:custClr>
    <a:custClr name="Custom Color 37">
      <a:srgbClr val="3B611B"/>
    </a:custClr>
    <a:custClr name="Custom Color 38">
      <a:srgbClr val="6A5166"/>
    </a:custClr>
    <a:custClr name="Custom Color 39">
      <a:srgbClr val="615F61"/>
    </a:custClr>
    <a:custClr name="Custom Color 40">
      <a:srgbClr val="0059BF"/>
    </a:custClr>
    <a:custClr name="Custom Color 51">
      <a:srgbClr val="0F4047"/>
    </a:custClr>
    <a:custClr name="Custom Color 52">
      <a:srgbClr val="5A270A"/>
    </a:custClr>
    <a:custClr name="Custom Color 53">
      <a:srgbClr val="613F4A"/>
    </a:custClr>
    <a:custClr name="Custom Color 54">
      <a:srgbClr val="7A5D47"/>
    </a:custClr>
    <a:custClr name="Custom Color 55">
      <a:srgbClr val="8B6C15"/>
    </a:custClr>
    <a:custClr name="Custom Color 56">
      <a:srgbClr val="46391B"/>
    </a:custClr>
    <a:custClr name="Custom Color 57">
      <a:srgbClr val="274112"/>
    </a:custClr>
    <a:custClr name="Custom Color 58">
      <a:srgbClr val="473644"/>
    </a:custClr>
    <a:custClr name="Custom Color 59">
      <a:srgbClr val="413F41"/>
    </a:custClr>
    <a:custClr name="Custom Color 60">
      <a:srgbClr val="003C7F"/>
    </a:custClr>
  </a:custClrLst>
  <a:extLst>
    <a:ext uri="{05A4C25C-085E-4340-85A3-A5531E510DB2}">
      <thm15:themeFamily xmlns:thm15="http://schemas.microsoft.com/office/thememl/2012/main" name="Layouts.potx" id="{C2504081-24E1-415D-B095-15A927436BA8}" vid="{479493CE-5301-4313-898C-C7E8CBD7326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Layouts</Template>
  <TotalTime>1350</TotalTime>
  <Words>762</Words>
  <Application>Microsoft Office PowerPoint</Application>
  <PresentationFormat>Letter Paper (8.5x11 in)</PresentationFormat>
  <Paragraphs>144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Segoe UI</vt:lpstr>
      <vt:lpstr>Segoe UI Semibold</vt:lpstr>
      <vt:lpstr>Symbol</vt:lpstr>
      <vt:lpstr>Wingdings 2</vt:lpstr>
      <vt:lpstr>PowerPresent</vt:lpstr>
      <vt:lpstr>think-cell Slide</vt:lpstr>
      <vt:lpstr>PowerPoint Presentation</vt:lpstr>
      <vt:lpstr>GoldenSource</vt:lpstr>
      <vt:lpstr>GoldenSource</vt:lpstr>
      <vt:lpstr>GoldenSource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Carroll, Ryan</dc:creator>
  <cp:lastModifiedBy>Carroll, Ryan</cp:lastModifiedBy>
  <cp:revision>8</cp:revision>
  <dcterms:created xsi:type="dcterms:W3CDTF">2026-07-28T20:05:48Z</dcterms:created>
  <dcterms:modified xsi:type="dcterms:W3CDTF">2026-07-29T19:46:29Z</dcterms:modified>
</cp:coreProperties>
</file>